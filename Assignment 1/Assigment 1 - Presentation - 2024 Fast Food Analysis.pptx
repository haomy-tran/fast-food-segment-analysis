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0.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1.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2.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3.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4.xml" ContentType="application/vnd.openxmlformats-officedocument.drawingml.chart+xml"/>
  <Override PartName="/ppt/charts/style25.xml" ContentType="application/vnd.ms-office.chartstyle+xml"/>
  <Override PartName="/ppt/charts/colors25.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376" r:id="rId3"/>
    <p:sldId id="372" r:id="rId4"/>
    <p:sldId id="373" r:id="rId5"/>
    <p:sldId id="333" r:id="rId6"/>
    <p:sldId id="349" r:id="rId7"/>
    <p:sldId id="351" r:id="rId8"/>
    <p:sldId id="348" r:id="rId9"/>
    <p:sldId id="366" r:id="rId10"/>
    <p:sldId id="352" r:id="rId11"/>
    <p:sldId id="368" r:id="rId12"/>
    <p:sldId id="354" r:id="rId13"/>
    <p:sldId id="370" r:id="rId14"/>
    <p:sldId id="356" r:id="rId15"/>
    <p:sldId id="363" r:id="rId16"/>
    <p:sldId id="360" r:id="rId17"/>
    <p:sldId id="369" r:id="rId18"/>
    <p:sldId id="361" r:id="rId19"/>
    <p:sldId id="364" r:id="rId20"/>
    <p:sldId id="337" r:id="rId21"/>
    <p:sldId id="371" r:id="rId22"/>
    <p:sldId id="347" r:id="rId23"/>
    <p:sldId id="365"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DDAA030-EEA1-443B-A2D9-C58EF0C38B01}">
          <p14:sldIdLst>
            <p14:sldId id="256"/>
            <p14:sldId id="376"/>
          </p14:sldIdLst>
        </p14:section>
        <p14:section name="Executive summary" id="{38763FCC-1096-404A-961E-6931CB90C5A8}">
          <p14:sldIdLst>
            <p14:sldId id="372"/>
            <p14:sldId id="373"/>
          </p14:sldIdLst>
        </p14:section>
        <p14:section name="Analysis" id="{07AEA543-E8D7-4EBD-AD0C-998009DDE687}">
          <p14:sldIdLst>
            <p14:sldId id="333"/>
            <p14:sldId id="349"/>
            <p14:sldId id="351"/>
            <p14:sldId id="348"/>
            <p14:sldId id="366"/>
            <p14:sldId id="352"/>
            <p14:sldId id="368"/>
            <p14:sldId id="354"/>
            <p14:sldId id="370"/>
            <p14:sldId id="356"/>
          </p14:sldIdLst>
        </p14:section>
        <p14:section name="Promotion cutting plan" id="{017CCEF5-0873-442D-8E59-C91D5CEFE65E}">
          <p14:sldIdLst>
            <p14:sldId id="363"/>
            <p14:sldId id="360"/>
            <p14:sldId id="369"/>
            <p14:sldId id="361"/>
            <p14:sldId id="364"/>
          </p14:sldIdLst>
        </p14:section>
        <p14:section name="Recommendations" id="{0D2094A5-0E81-4CD7-A7C3-493742EC6A5E}">
          <p14:sldIdLst>
            <p14:sldId id="337"/>
            <p14:sldId id="371"/>
            <p14:sldId id="347"/>
            <p14:sldId id="365"/>
          </p14:sldIdLst>
        </p14:section>
      </p14:sectionLst>
    </p:ext>
    <p:ext uri="{EFAFB233-063F-42B5-8137-9DF3F51BA10A}">
      <p15:sldGuideLst xmlns:p15="http://schemas.microsoft.com/office/powerpoint/2012/main">
        <p15:guide id="2" pos="312" userDrawn="1">
          <p15:clr>
            <a:srgbClr val="A4A3A4"/>
          </p15:clr>
        </p15:guide>
        <p15:guide id="3" pos="7368" userDrawn="1">
          <p15:clr>
            <a:srgbClr val="A4A3A4"/>
          </p15:clr>
        </p15:guide>
        <p15:guide id="4"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E504EA-FA0C-A736-D435-924829AE1C26}" name="Hao Tran" initials="HT" userId="06d351af819b973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924"/>
    <a:srgbClr val="020820"/>
    <a:srgbClr val="030D33"/>
    <a:srgbClr val="030E37"/>
    <a:srgbClr val="04134C"/>
    <a:srgbClr val="030F3B"/>
    <a:srgbClr val="061F79"/>
    <a:srgbClr val="262626"/>
    <a:srgbClr val="2251FF"/>
    <a:srgbClr val="00A9F4"/>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01" autoAdjust="0"/>
    <p:restoredTop sz="95033" autoAdjust="0"/>
  </p:normalViewPr>
  <p:slideViewPr>
    <p:cSldViewPr snapToGrid="0">
      <p:cViewPr varScale="1">
        <p:scale>
          <a:sx n="79" d="100"/>
          <a:sy n="79" d="100"/>
        </p:scale>
        <p:origin x="715" y="72"/>
      </p:cViewPr>
      <p:guideLst>
        <p:guide pos="312"/>
        <p:guide pos="7368"/>
        <p:guide orient="horz"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305537809720889E-2"/>
          <c:y val="4.6673166589190809E-2"/>
          <c:w val="0.91928957983379711"/>
          <c:h val="0.90665366682161841"/>
        </c:manualLayout>
      </c:layout>
      <c:lineChart>
        <c:grouping val="standard"/>
        <c:varyColors val="0"/>
        <c:ser>
          <c:idx val="0"/>
          <c:order val="0"/>
          <c:tx>
            <c:strRef>
              <c:f>Sheet1!$B$1</c:f>
              <c:strCache>
                <c:ptCount val="1"/>
                <c:pt idx="0">
                  <c:v>Sum of gmv</c:v>
                </c:pt>
              </c:strCache>
            </c:strRef>
          </c:tx>
          <c:spPr>
            <a:ln w="28575" cap="rnd">
              <a:solidFill>
                <a:schemeClr val="bg1"/>
              </a:solidFill>
              <a:round/>
            </a:ln>
            <a:effectLst/>
          </c:spPr>
          <c:marker>
            <c:symbol val="none"/>
          </c:marker>
          <c:cat>
            <c:numRef>
              <c:f>Sheet1!$A$2:$A$25</c:f>
              <c:numCache>
                <c:formatCode>[$-409]mmm\-yy;@</c:formatCode>
                <c:ptCount val="24"/>
                <c:pt idx="0">
                  <c:v>44927</c:v>
                </c:pt>
                <c:pt idx="1">
                  <c:v>44958</c:v>
                </c:pt>
                <c:pt idx="2">
                  <c:v>44986</c:v>
                </c:pt>
                <c:pt idx="3">
                  <c:v>45017</c:v>
                </c:pt>
                <c:pt idx="4">
                  <c:v>45047</c:v>
                </c:pt>
                <c:pt idx="5">
                  <c:v>45078</c:v>
                </c:pt>
                <c:pt idx="6">
                  <c:v>45108</c:v>
                </c:pt>
                <c:pt idx="7">
                  <c:v>45139</c:v>
                </c:pt>
                <c:pt idx="8">
                  <c:v>45170</c:v>
                </c:pt>
                <c:pt idx="9">
                  <c:v>45200</c:v>
                </c:pt>
                <c:pt idx="10">
                  <c:v>45231</c:v>
                </c:pt>
                <c:pt idx="11">
                  <c:v>45261</c:v>
                </c:pt>
                <c:pt idx="12">
                  <c:v>45292</c:v>
                </c:pt>
                <c:pt idx="13">
                  <c:v>45323</c:v>
                </c:pt>
                <c:pt idx="14">
                  <c:v>45352</c:v>
                </c:pt>
                <c:pt idx="15">
                  <c:v>45383</c:v>
                </c:pt>
                <c:pt idx="16">
                  <c:v>45413</c:v>
                </c:pt>
                <c:pt idx="17">
                  <c:v>45444</c:v>
                </c:pt>
                <c:pt idx="18">
                  <c:v>45474</c:v>
                </c:pt>
                <c:pt idx="19">
                  <c:v>45505</c:v>
                </c:pt>
                <c:pt idx="20">
                  <c:v>45536</c:v>
                </c:pt>
                <c:pt idx="21">
                  <c:v>45566</c:v>
                </c:pt>
                <c:pt idx="22">
                  <c:v>45597</c:v>
                </c:pt>
                <c:pt idx="23">
                  <c:v>45627</c:v>
                </c:pt>
              </c:numCache>
            </c:numRef>
          </c:cat>
          <c:val>
            <c:numRef>
              <c:f>Sheet1!$B$2:$B$25</c:f>
              <c:numCache>
                <c:formatCode>General</c:formatCode>
                <c:ptCount val="24"/>
                <c:pt idx="0">
                  <c:v>4069398</c:v>
                </c:pt>
                <c:pt idx="1">
                  <c:v>3177778</c:v>
                </c:pt>
                <c:pt idx="2">
                  <c:v>3641806</c:v>
                </c:pt>
                <c:pt idx="3">
                  <c:v>3762595</c:v>
                </c:pt>
                <c:pt idx="4">
                  <c:v>4309349</c:v>
                </c:pt>
                <c:pt idx="5">
                  <c:v>4367476</c:v>
                </c:pt>
                <c:pt idx="6">
                  <c:v>4263583</c:v>
                </c:pt>
                <c:pt idx="7">
                  <c:v>4410128</c:v>
                </c:pt>
                <c:pt idx="8">
                  <c:v>4123185</c:v>
                </c:pt>
                <c:pt idx="9">
                  <c:v>4163857</c:v>
                </c:pt>
                <c:pt idx="10">
                  <c:v>3978283</c:v>
                </c:pt>
                <c:pt idx="11">
                  <c:v>4636322</c:v>
                </c:pt>
                <c:pt idx="12">
                  <c:v>4468685</c:v>
                </c:pt>
                <c:pt idx="13">
                  <c:v>4660481</c:v>
                </c:pt>
                <c:pt idx="14">
                  <c:v>4845473</c:v>
                </c:pt>
                <c:pt idx="15">
                  <c:v>4951286</c:v>
                </c:pt>
                <c:pt idx="16">
                  <c:v>5306841</c:v>
                </c:pt>
                <c:pt idx="17">
                  <c:v>5768788</c:v>
                </c:pt>
                <c:pt idx="18">
                  <c:v>5377203</c:v>
                </c:pt>
                <c:pt idx="19">
                  <c:v>5401557</c:v>
                </c:pt>
                <c:pt idx="20">
                  <c:v>4728937</c:v>
                </c:pt>
                <c:pt idx="21">
                  <c:v>4843771</c:v>
                </c:pt>
                <c:pt idx="22">
                  <c:v>4787920</c:v>
                </c:pt>
                <c:pt idx="23">
                  <c:v>5487091</c:v>
                </c:pt>
              </c:numCache>
            </c:numRef>
          </c:val>
          <c:smooth val="0"/>
          <c:extLst>
            <c:ext xmlns:c16="http://schemas.microsoft.com/office/drawing/2014/chart" uri="{C3380CC4-5D6E-409C-BE32-E72D297353CC}">
              <c16:uniqueId val="{00000000-28AB-436A-A45D-3CA6FF2A9E67}"/>
            </c:ext>
          </c:extLst>
        </c:ser>
        <c:dLbls>
          <c:showLegendKey val="0"/>
          <c:showVal val="0"/>
          <c:showCatName val="0"/>
          <c:showSerName val="0"/>
          <c:showPercent val="0"/>
          <c:showBubbleSize val="0"/>
        </c:dLbls>
        <c:smooth val="0"/>
        <c:axId val="394262208"/>
        <c:axId val="394254528"/>
      </c:lineChart>
      <c:dateAx>
        <c:axId val="394262208"/>
        <c:scaling>
          <c:orientation val="minMax"/>
        </c:scaling>
        <c:delete val="1"/>
        <c:axPos val="b"/>
        <c:numFmt formatCode="[$-409]mmm\-yy;@" sourceLinked="1"/>
        <c:majorTickMark val="out"/>
        <c:minorTickMark val="none"/>
        <c:tickLblPos val="nextTo"/>
        <c:crossAx val="394254528"/>
        <c:crosses val="autoZero"/>
        <c:auto val="1"/>
        <c:lblOffset val="100"/>
        <c:baseTimeUnit val="months"/>
      </c:dateAx>
      <c:valAx>
        <c:axId val="3942545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94262208"/>
        <c:crosses val="autoZero"/>
        <c:crossBetween val="between"/>
        <c:dispUnits>
          <c:builtInUnit val="millions"/>
        </c:dispUnits>
      </c:valAx>
      <c:spPr>
        <a:noFill/>
        <a:ln>
          <a:solidFill>
            <a:schemeClr val="bg1">
              <a:lumMod val="85000"/>
              <a:alpha val="48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noFill/>
            <a:ln>
              <a:solidFill>
                <a:schemeClr val="bg1"/>
              </a:solidFill>
            </a:ln>
            <a:effectLst>
              <a:outerShdw blurRad="50800" dist="38100" dir="2700000" algn="tl" rotWithShape="0">
                <a:prstClr val="black">
                  <a:alpha val="40000"/>
                </a:prstClr>
              </a:outerShdw>
            </a:effectLst>
          </c:spPr>
          <c:explosion val="17"/>
          <c:dPt>
            <c:idx val="0"/>
            <c:bubble3D val="0"/>
            <c:spPr>
              <a:solidFill>
                <a:schemeClr val="bg1"/>
              </a:solidFill>
              <a:ln w="19050">
                <a:solidFill>
                  <a:schemeClr val="bg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DB1E-4593-A44E-CE63D68314CB}"/>
              </c:ext>
            </c:extLst>
          </c:dPt>
          <c:dPt>
            <c:idx val="1"/>
            <c:bubble3D val="0"/>
            <c:spPr>
              <a:noFill/>
              <a:ln w="12700">
                <a:solidFill>
                  <a:schemeClr val="bg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DB1E-4593-A44E-CE63D68314CB}"/>
              </c:ext>
            </c:extLst>
          </c:dPt>
          <c:dLbls>
            <c:dLbl>
              <c:idx val="0"/>
              <c:tx>
                <c:rich>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fld id="{D9AB82CE-5E19-492D-A4B8-FA075B2581E7}" type="VALUE">
                      <a:rPr lang="en-US" sz="1600" smtClean="0">
                        <a:solidFill>
                          <a:schemeClr val="tx1"/>
                        </a:solidFill>
                        <a:latin typeface="Calibri" panose="020F0502020204030204" pitchFamily="34" charset="0"/>
                        <a:ea typeface="Calibri" panose="020F0502020204030204" pitchFamily="34" charset="0"/>
                        <a:cs typeface="Calibri" panose="020F0502020204030204" pitchFamily="34" charset="0"/>
                      </a:rPr>
                      <a:pPr>
                        <a:defRPr sz="1600">
                          <a:solidFill>
                            <a:schemeClr val="tx1"/>
                          </a:solidFill>
                          <a:latin typeface="Calibri" panose="020F0502020204030204" pitchFamily="34" charset="0"/>
                          <a:ea typeface="Calibri" panose="020F0502020204030204" pitchFamily="34" charset="0"/>
                          <a:cs typeface="Calibri" panose="020F0502020204030204" pitchFamily="34" charset="0"/>
                        </a:defRPr>
                      </a:pPr>
                      <a:t>[VALUE]</a:t>
                    </a:fld>
                    <a:r>
                      <a:rPr lang="en-US" sz="1600">
                        <a:solidFill>
                          <a:schemeClr val="tx1"/>
                        </a:solidFill>
                        <a:latin typeface="Calibri" panose="020F0502020204030204" pitchFamily="34" charset="0"/>
                        <a:ea typeface="Calibri" panose="020F0502020204030204" pitchFamily="34" charset="0"/>
                        <a:cs typeface="Calibri" panose="020F0502020204030204" pitchFamily="34" charset="0"/>
                      </a:rPr>
                      <a:t>%</a:t>
                    </a:r>
                  </a:p>
                </c:rich>
              </c:tx>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B1E-4593-A44E-CE63D68314C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Grab</c:v>
                </c:pt>
                <c:pt idx="1">
                  <c:v>Other</c:v>
                </c:pt>
              </c:strCache>
            </c:strRef>
          </c:cat>
          <c:val>
            <c:numRef>
              <c:f>Sheet1!$B$2:$B$3</c:f>
              <c:numCache>
                <c:formatCode>General</c:formatCode>
                <c:ptCount val="2"/>
                <c:pt idx="0">
                  <c:v>6</c:v>
                </c:pt>
                <c:pt idx="1">
                  <c:v>94</c:v>
                </c:pt>
              </c:numCache>
            </c:numRef>
          </c:val>
          <c:extLst>
            <c:ext xmlns:c16="http://schemas.microsoft.com/office/drawing/2014/chart" uri="{C3380CC4-5D6E-409C-BE32-E72D297353CC}">
              <c16:uniqueId val="{00000004-DB1E-4593-A44E-CE63D68314C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668088834078762E-2"/>
          <c:y val="8.1581215647709301E-2"/>
          <c:w val="0.95066382233184243"/>
          <c:h val="0.74215313675978334"/>
        </c:manualLayout>
      </c:layout>
      <c:barChart>
        <c:barDir val="col"/>
        <c:grouping val="clustered"/>
        <c:varyColors val="0"/>
        <c:ser>
          <c:idx val="0"/>
          <c:order val="0"/>
          <c:tx>
            <c:strRef>
              <c:f>Sheet1!$B$1</c:f>
              <c:strCache>
                <c:ptCount val="1"/>
                <c:pt idx="0">
                  <c:v>2024</c:v>
                </c:pt>
              </c:strCache>
            </c:strRef>
          </c:tx>
          <c:spPr>
            <a:noFill/>
            <a:ln>
              <a:solidFill>
                <a:schemeClr val="bg1"/>
              </a:solid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13364856</c:v>
                </c:pt>
                <c:pt idx="1">
                  <c:v>11865918</c:v>
                </c:pt>
                <c:pt idx="2">
                  <c:v>11652150</c:v>
                </c:pt>
                <c:pt idx="3">
                  <c:v>11192622</c:v>
                </c:pt>
                <c:pt idx="4">
                  <c:v>4910049</c:v>
                </c:pt>
                <c:pt idx="5">
                  <c:v>4204121</c:v>
                </c:pt>
                <c:pt idx="6">
                  <c:v>1865134</c:v>
                </c:pt>
                <c:pt idx="7">
                  <c:v>844722</c:v>
                </c:pt>
                <c:pt idx="8">
                  <c:v>728461</c:v>
                </c:pt>
              </c:numCache>
            </c:numRef>
          </c:val>
          <c:extLst>
            <c:ext xmlns:c16="http://schemas.microsoft.com/office/drawing/2014/chart" uri="{C3380CC4-5D6E-409C-BE32-E72D297353CC}">
              <c16:uniqueId val="{00000008-55DE-43B6-84D6-F5CAB413641F}"/>
            </c:ext>
          </c:extLst>
        </c:ser>
        <c:dLbls>
          <c:showLegendKey val="0"/>
          <c:showVal val="0"/>
          <c:showCatName val="0"/>
          <c:showSerName val="0"/>
          <c:showPercent val="0"/>
          <c:showBubbleSize val="0"/>
        </c:dLbls>
        <c:gapWidth val="55"/>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7000000"/>
          <c:min val="0"/>
        </c:scaling>
        <c:delete val="1"/>
        <c:axPos val="l"/>
        <c:numFmt formatCode="General" sourceLinked="1"/>
        <c:majorTickMark val="out"/>
        <c:minorTickMark val="none"/>
        <c:tickLblPos val="nextTo"/>
        <c:crossAx val="826714416"/>
        <c:crosses val="autoZero"/>
        <c:crossBetween val="between"/>
        <c:majorUnit val="2000000"/>
        <c:dispUnits>
          <c:builtInUnit val="millions"/>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085200282308975E-2"/>
          <c:y val="4.1497899917630483E-2"/>
          <c:w val="0.9058295994353821"/>
          <c:h val="0.84619282636369209"/>
        </c:manualLayout>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rgbClr val="061F79"/>
              </a:solidFill>
              <a:ln>
                <a:noFill/>
              </a:ln>
              <a:effectLst/>
            </c:spPr>
            <c:extLst>
              <c:ext xmlns:c16="http://schemas.microsoft.com/office/drawing/2014/chart" uri="{C3380CC4-5D6E-409C-BE32-E72D297353CC}">
                <c16:uniqueId val="{00000001-F21D-4F02-8F20-38DF9C14DC7F}"/>
              </c:ext>
            </c:extLst>
          </c:dPt>
          <c:dPt>
            <c:idx val="1"/>
            <c:invertIfNegative val="0"/>
            <c:bubble3D val="0"/>
            <c:spPr>
              <a:solidFill>
                <a:srgbClr val="061F79"/>
              </a:solidFill>
              <a:ln>
                <a:noFill/>
              </a:ln>
              <a:effectLst/>
            </c:spPr>
            <c:extLst>
              <c:ext xmlns:c16="http://schemas.microsoft.com/office/drawing/2014/chart" uri="{C3380CC4-5D6E-409C-BE32-E72D297353CC}">
                <c16:uniqueId val="{00000003-F21D-4F02-8F20-38DF9C14DC7F}"/>
              </c:ext>
            </c:extLst>
          </c:dPt>
          <c:dLbls>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48903760</c:v>
                </c:pt>
                <c:pt idx="1">
                  <c:v>60628033</c:v>
                </c:pt>
              </c:numCache>
            </c:numRef>
          </c:val>
          <c:extLst>
            <c:ext xmlns:c16="http://schemas.microsoft.com/office/drawing/2014/chart" uri="{C3380CC4-5D6E-409C-BE32-E72D297353CC}">
              <c16:uniqueId val="{00000004-F21D-4F02-8F20-38DF9C14DC7F}"/>
            </c:ext>
          </c:extLst>
        </c:ser>
        <c:dLbls>
          <c:dLblPos val="outEnd"/>
          <c:showLegendKey val="0"/>
          <c:showVal val="1"/>
          <c:showCatName val="0"/>
          <c:showSerName val="0"/>
          <c:showPercent val="0"/>
          <c:showBubbleSize val="0"/>
        </c:dLbls>
        <c:gapWidth val="88"/>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At val="0"/>
        <c:auto val="1"/>
        <c:lblAlgn val="ctr"/>
        <c:lblOffset val="100"/>
        <c:noMultiLvlLbl val="0"/>
      </c:catAx>
      <c:valAx>
        <c:axId val="826709136"/>
        <c:scaling>
          <c:orientation val="minMax"/>
          <c:max val="70000000"/>
          <c:min val="0"/>
        </c:scaling>
        <c:delete val="1"/>
        <c:axPos val="l"/>
        <c:numFmt formatCode="General" sourceLinked="1"/>
        <c:majorTickMark val="out"/>
        <c:minorTickMark val="none"/>
        <c:tickLblPos val="nextTo"/>
        <c:crossAx val="826714416"/>
        <c:crosses val="autoZero"/>
        <c:crossBetween val="between"/>
        <c:dispUnits>
          <c:builtInUnit val="millions"/>
        </c:dispUnits>
      </c:valAx>
      <c:spPr>
        <a:noFill/>
        <a:ln>
          <a:solidFill>
            <a:schemeClr val="bg1">
              <a:lumMod val="7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2BDF-4E7A-82BD-C00A2E658F40}"/>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2BDF-4E7A-82BD-C00A2E658F40}"/>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9002-4083-81EF-42079C180328}"/>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1366460</c:v>
                </c:pt>
                <c:pt idx="1">
                  <c:v>803711</c:v>
                </c:pt>
                <c:pt idx="2">
                  <c:v>1415688</c:v>
                </c:pt>
                <c:pt idx="3">
                  <c:v>822239</c:v>
                </c:pt>
                <c:pt idx="4">
                  <c:v>443630</c:v>
                </c:pt>
                <c:pt idx="5">
                  <c:v>201530</c:v>
                </c:pt>
                <c:pt idx="6">
                  <c:v>150356</c:v>
                </c:pt>
                <c:pt idx="7">
                  <c:v>57970</c:v>
                </c:pt>
                <c:pt idx="8">
                  <c:v>97441</c:v>
                </c:pt>
              </c:numCache>
            </c:numRef>
          </c:val>
          <c:extLst>
            <c:ext xmlns:c16="http://schemas.microsoft.com/office/drawing/2014/chart" uri="{C3380CC4-5D6E-409C-BE32-E72D297353CC}">
              <c16:uniqueId val="{00000008-2BDF-4E7A-82BD-C00A2E658F40}"/>
            </c:ext>
          </c:extLst>
        </c:ser>
        <c:ser>
          <c:idx val="1"/>
          <c:order val="1"/>
          <c:tx>
            <c:strRef>
              <c:f>Sheet1!$C$1</c:f>
              <c:strCache>
                <c:ptCount val="1"/>
                <c:pt idx="0">
                  <c:v>2024</c:v>
                </c:pt>
              </c:strCache>
            </c:strRef>
          </c:tx>
          <c:spPr>
            <a:solidFill>
              <a:srgbClr val="061F79"/>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1567556</c:v>
                </c:pt>
                <c:pt idx="1">
                  <c:v>1524886</c:v>
                </c:pt>
                <c:pt idx="2">
                  <c:v>1317258</c:v>
                </c:pt>
                <c:pt idx="3">
                  <c:v>1114917</c:v>
                </c:pt>
                <c:pt idx="4">
                  <c:v>461571</c:v>
                </c:pt>
                <c:pt idx="5">
                  <c:v>405914</c:v>
                </c:pt>
                <c:pt idx="6">
                  <c:v>150678</c:v>
                </c:pt>
                <c:pt idx="7">
                  <c:v>56602</c:v>
                </c:pt>
                <c:pt idx="8">
                  <c:v>80989</c:v>
                </c:pt>
              </c:numCache>
            </c:numRef>
          </c:val>
          <c:extLst>
            <c:ext xmlns:c16="http://schemas.microsoft.com/office/drawing/2014/chart" uri="{C3380CC4-5D6E-409C-BE32-E72D297353CC}">
              <c16:uniqueId val="{00000009-2BDF-4E7A-82BD-C00A2E658F40}"/>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300000"/>
        <c:minorUnit val="60000"/>
        <c:dispUnits>
          <c:builtInUnit val="thousands"/>
        </c:dispUnits>
      </c:valAx>
      <c:spPr>
        <a:noFill/>
        <a:ln>
          <a:solidFill>
            <a:schemeClr val="bg1">
              <a:lumMod val="85000"/>
            </a:schemeClr>
          </a:solidFill>
        </a:ln>
        <a:effectLst/>
      </c:spPr>
    </c:plotArea>
    <c:legend>
      <c:legendPos val="t"/>
      <c:layout>
        <c:manualLayout>
          <c:xMode val="edge"/>
          <c:yMode val="edge"/>
          <c:x val="1.0800653033703391E-3"/>
          <c:y val="8.0031130219156109E-3"/>
          <c:w val="0.1914343298745132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95CB-4159-8C59-F2857C1FE1A2}"/>
              </c:ext>
            </c:extLst>
          </c:dPt>
          <c:dPt>
            <c:idx val="1"/>
            <c:invertIfNegative val="0"/>
            <c:bubble3D val="0"/>
            <c:spPr>
              <a:solidFill>
                <a:srgbClr val="061F79"/>
              </a:solidFill>
              <a:ln>
                <a:noFill/>
              </a:ln>
              <a:effectLst/>
            </c:spPr>
            <c:extLst>
              <c:ext xmlns:c16="http://schemas.microsoft.com/office/drawing/2014/chart" uri="{C3380CC4-5D6E-409C-BE32-E72D297353CC}">
                <c16:uniqueId val="{00000003-95CB-4159-8C59-F2857C1FE1A2}"/>
              </c:ext>
            </c:extLst>
          </c:dPt>
          <c:dLbls>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5359025</c:v>
                </c:pt>
                <c:pt idx="1">
                  <c:v>6680371</c:v>
                </c:pt>
              </c:numCache>
            </c:numRef>
          </c:val>
          <c:extLst>
            <c:ext xmlns:c16="http://schemas.microsoft.com/office/drawing/2014/chart" uri="{C3380CC4-5D6E-409C-BE32-E72D297353CC}">
              <c16:uniqueId val="{00000004-95CB-4159-8C59-F2857C1FE1A2}"/>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At val="0"/>
        <c:auto val="1"/>
        <c:lblAlgn val="ctr"/>
        <c:lblOffset val="100"/>
        <c:noMultiLvlLbl val="0"/>
      </c:catAx>
      <c:valAx>
        <c:axId val="826709136"/>
        <c:scaling>
          <c:orientation val="minMax"/>
          <c:max val="8000000"/>
          <c:min val="1"/>
        </c:scaling>
        <c:delete val="1"/>
        <c:axPos val="l"/>
        <c:numFmt formatCode="General" sourceLinked="1"/>
        <c:majorTickMark val="out"/>
        <c:minorTickMark val="none"/>
        <c:tickLblPos val="nextTo"/>
        <c:crossAx val="826714416"/>
        <c:crosses val="autoZero"/>
        <c:crossBetween val="between"/>
        <c:dispUnits>
          <c:builtInUnit val="millions"/>
          <c:dispUnitsLbl>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ispUnitsLbl>
        </c:dispUnits>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rgbClr val="061F79"/>
              </a:solidFill>
              <a:ln>
                <a:noFill/>
              </a:ln>
              <a:effectLst/>
            </c:spPr>
            <c:extLst>
              <c:ext xmlns:c16="http://schemas.microsoft.com/office/drawing/2014/chart" uri="{C3380CC4-5D6E-409C-BE32-E72D297353CC}">
                <c16:uniqueId val="{00000001-91AB-4DCA-8056-C00B9A9EC924}"/>
              </c:ext>
            </c:extLst>
          </c:dPt>
          <c:dPt>
            <c:idx val="1"/>
            <c:invertIfNegative val="0"/>
            <c:bubble3D val="0"/>
            <c:spPr>
              <a:solidFill>
                <a:srgbClr val="061F79"/>
              </a:solidFill>
              <a:ln>
                <a:noFill/>
              </a:ln>
              <a:effectLst/>
            </c:spPr>
            <c:extLst>
              <c:ext xmlns:c16="http://schemas.microsoft.com/office/drawing/2014/chart" uri="{C3380CC4-5D6E-409C-BE32-E72D297353CC}">
                <c16:uniqueId val="{00000003-91AB-4DCA-8056-C00B9A9EC924}"/>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675</c:v>
                </c:pt>
                <c:pt idx="1">
                  <c:v>746</c:v>
                </c:pt>
              </c:numCache>
            </c:numRef>
          </c:val>
          <c:extLst>
            <c:ext xmlns:c16="http://schemas.microsoft.com/office/drawing/2014/chart" uri="{C3380CC4-5D6E-409C-BE32-E72D297353CC}">
              <c16:uniqueId val="{00000008-91AB-4DCA-8056-C00B9A9EC924}"/>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000"/>
          <c:min val="0"/>
        </c:scaling>
        <c:delete val="1"/>
        <c:axPos val="l"/>
        <c:numFmt formatCode="General" sourceLinked="1"/>
        <c:majorTickMark val="out"/>
        <c:minorTickMark val="none"/>
        <c:tickLblPos val="nextTo"/>
        <c:crossAx val="826714416"/>
        <c:crosses val="autoZero"/>
        <c:crossBetween val="between"/>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rgbClr val="061F79"/>
              </a:solidFill>
              <a:ln>
                <a:noFill/>
              </a:ln>
              <a:effectLst/>
            </c:spPr>
            <c:extLst>
              <c:ext xmlns:c16="http://schemas.microsoft.com/office/drawing/2014/chart" uri="{C3380CC4-5D6E-409C-BE32-E72D297353CC}">
                <c16:uniqueId val="{00000001-6064-466C-AEB3-8FC50B502385}"/>
              </c:ext>
            </c:extLst>
          </c:dPt>
          <c:dPt>
            <c:idx val="1"/>
            <c:invertIfNegative val="0"/>
            <c:bubble3D val="0"/>
            <c:spPr>
              <a:solidFill>
                <a:srgbClr val="061F79"/>
              </a:solidFill>
              <a:ln>
                <a:noFill/>
              </a:ln>
              <a:effectLst/>
            </c:spPr>
            <c:extLst>
              <c:ext xmlns:c16="http://schemas.microsoft.com/office/drawing/2014/chart" uri="{C3380CC4-5D6E-409C-BE32-E72D297353CC}">
                <c16:uniqueId val="{00000003-6064-466C-AEB3-8FC50B502385}"/>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715</c:v>
                </c:pt>
                <c:pt idx="1">
                  <c:v>787</c:v>
                </c:pt>
              </c:numCache>
            </c:numRef>
          </c:val>
          <c:extLst>
            <c:ext xmlns:c16="http://schemas.microsoft.com/office/drawing/2014/chart" uri="{C3380CC4-5D6E-409C-BE32-E72D297353CC}">
              <c16:uniqueId val="{00000004-6064-466C-AEB3-8FC50B502385}"/>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000"/>
          <c:min val="0"/>
        </c:scaling>
        <c:delete val="1"/>
        <c:axPos val="l"/>
        <c:numFmt formatCode="General" sourceLinked="1"/>
        <c:majorTickMark val="out"/>
        <c:minorTickMark val="none"/>
        <c:tickLblPos val="nextTo"/>
        <c:crossAx val="826714416"/>
        <c:crosses val="autoZero"/>
        <c:crossBetween val="between"/>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1-B63D-49FF-B861-33080713EBDB}"/>
              </c:ext>
            </c:extLst>
          </c:dPt>
          <c:dPt>
            <c:idx val="5"/>
            <c:invertIfNegative val="0"/>
            <c:bubble3D val="0"/>
            <c:spPr>
              <a:solidFill>
                <a:schemeClr val="bg1">
                  <a:lumMod val="85000"/>
                </a:schemeClr>
              </a:solidFill>
              <a:ln>
                <a:noFill/>
              </a:ln>
              <a:effectLst/>
            </c:spPr>
            <c:extLst>
              <c:ext xmlns:c16="http://schemas.microsoft.com/office/drawing/2014/chart" uri="{C3380CC4-5D6E-409C-BE32-E72D297353CC}">
                <c16:uniqueId val="{00000003-B63D-49FF-B861-33080713EBDB}"/>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B63D-49FF-B861-33080713EBDB}"/>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7-F8AE-4AC5-84CF-3CA777470821}"/>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180</c:v>
                </c:pt>
                <c:pt idx="1">
                  <c:v>140</c:v>
                </c:pt>
                <c:pt idx="2">
                  <c:v>200</c:v>
                </c:pt>
                <c:pt idx="3">
                  <c:v>30</c:v>
                </c:pt>
                <c:pt idx="4">
                  <c:v>34</c:v>
                </c:pt>
                <c:pt idx="5">
                  <c:v>50</c:v>
                </c:pt>
                <c:pt idx="6">
                  <c:v>11</c:v>
                </c:pt>
                <c:pt idx="7">
                  <c:v>10</c:v>
                </c:pt>
                <c:pt idx="8">
                  <c:v>60</c:v>
                </c:pt>
              </c:numCache>
            </c:numRef>
          </c:val>
          <c:extLst>
            <c:ext xmlns:c16="http://schemas.microsoft.com/office/drawing/2014/chart" uri="{C3380CC4-5D6E-409C-BE32-E72D297353CC}">
              <c16:uniqueId val="{00000008-B63D-49FF-B861-33080713EBDB}"/>
            </c:ext>
          </c:extLst>
        </c:ser>
        <c:ser>
          <c:idx val="1"/>
          <c:order val="1"/>
          <c:tx>
            <c:strRef>
              <c:f>Sheet1!$C$1</c:f>
              <c:strCache>
                <c:ptCount val="1"/>
                <c:pt idx="0">
                  <c:v>2024</c:v>
                </c:pt>
              </c:strCache>
            </c:strRef>
          </c:tx>
          <c:spPr>
            <a:solidFill>
              <a:srgbClr val="061F79"/>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206</c:v>
                </c:pt>
                <c:pt idx="1">
                  <c:v>160</c:v>
                </c:pt>
                <c:pt idx="2">
                  <c:v>204</c:v>
                </c:pt>
                <c:pt idx="3">
                  <c:v>37</c:v>
                </c:pt>
                <c:pt idx="4">
                  <c:v>39</c:v>
                </c:pt>
                <c:pt idx="5">
                  <c:v>60</c:v>
                </c:pt>
                <c:pt idx="6">
                  <c:v>10</c:v>
                </c:pt>
                <c:pt idx="7">
                  <c:v>19</c:v>
                </c:pt>
                <c:pt idx="8">
                  <c:v>52</c:v>
                </c:pt>
              </c:numCache>
            </c:numRef>
          </c:val>
          <c:extLst>
            <c:ext xmlns:c16="http://schemas.microsoft.com/office/drawing/2014/chart" uri="{C3380CC4-5D6E-409C-BE32-E72D297353CC}">
              <c16:uniqueId val="{00000009-B63D-49FF-B861-33080713EBDB}"/>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5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50"/>
      </c:valAx>
      <c:spPr>
        <a:noFill/>
        <a:ln>
          <a:solidFill>
            <a:schemeClr val="bg1">
              <a:lumMod val="85000"/>
            </a:schemeClr>
          </a:solidFill>
        </a:ln>
        <a:effectLst/>
      </c:spPr>
    </c:plotArea>
    <c:legend>
      <c:legendPos val="t"/>
      <c:layout>
        <c:manualLayout>
          <c:xMode val="edge"/>
          <c:yMode val="edge"/>
          <c:x val="1.0800653033703391E-3"/>
          <c:y val="8.0031130219156109E-3"/>
          <c:w val="0.3559743932102176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31F9-4CCB-B54A-57B85C7B4251}"/>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31F9-4CCB-B54A-57B85C7B4251}"/>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31F9-4CCB-B54A-57B85C7B4251}"/>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693.93330000000003</c:v>
                </c:pt>
                <c:pt idx="1">
                  <c:v>669.21429999999998</c:v>
                </c:pt>
                <c:pt idx="2">
                  <c:v>661.26</c:v>
                </c:pt>
                <c:pt idx="3">
                  <c:v>2842.6329999999998</c:v>
                </c:pt>
                <c:pt idx="4">
                  <c:v>1056.6759999999999</c:v>
                </c:pt>
                <c:pt idx="5">
                  <c:v>357.32</c:v>
                </c:pt>
                <c:pt idx="6">
                  <c:v>1116.182</c:v>
                </c:pt>
                <c:pt idx="7">
                  <c:v>426.9</c:v>
                </c:pt>
                <c:pt idx="8">
                  <c:v>101.2</c:v>
                </c:pt>
              </c:numCache>
            </c:numRef>
          </c:val>
          <c:extLst>
            <c:ext xmlns:c16="http://schemas.microsoft.com/office/drawing/2014/chart" uri="{C3380CC4-5D6E-409C-BE32-E72D297353CC}">
              <c16:uniqueId val="{00000008-31F9-4CCB-B54A-57B85C7B4251}"/>
            </c:ext>
          </c:extLst>
        </c:ser>
        <c:ser>
          <c:idx val="1"/>
          <c:order val="1"/>
          <c:tx>
            <c:strRef>
              <c:f>Sheet1!$C$1</c:f>
              <c:strCache>
                <c:ptCount val="1"/>
                <c:pt idx="0">
                  <c:v>2024</c:v>
                </c:pt>
              </c:strCache>
            </c:strRef>
          </c:tx>
          <c:spPr>
            <a:solidFill>
              <a:srgbClr val="061F79"/>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658.43200000000002</c:v>
                </c:pt>
                <c:pt idx="1">
                  <c:v>917.11879999999996</c:v>
                </c:pt>
                <c:pt idx="2">
                  <c:v>541.0539</c:v>
                </c:pt>
                <c:pt idx="3">
                  <c:v>2909.8649999999998</c:v>
                </c:pt>
                <c:pt idx="4">
                  <c:v>1100.077</c:v>
                </c:pt>
                <c:pt idx="5">
                  <c:v>832.61670000000004</c:v>
                </c:pt>
                <c:pt idx="6">
                  <c:v>1264.3</c:v>
                </c:pt>
                <c:pt idx="7">
                  <c:v>300.73680000000002</c:v>
                </c:pt>
                <c:pt idx="8">
                  <c:v>107.92310000000001</c:v>
                </c:pt>
              </c:numCache>
            </c:numRef>
          </c:val>
          <c:extLst>
            <c:ext xmlns:c16="http://schemas.microsoft.com/office/drawing/2014/chart" uri="{C3380CC4-5D6E-409C-BE32-E72D297353CC}">
              <c16:uniqueId val="{00000009-31F9-4CCB-B54A-57B85C7B4251}"/>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4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1000"/>
      </c:valAx>
      <c:spPr>
        <a:noFill/>
        <a:ln>
          <a:solidFill>
            <a:schemeClr val="bg1">
              <a:lumMod val="85000"/>
            </a:schemeClr>
          </a:solidFill>
        </a:ln>
        <a:effectLst/>
      </c:spPr>
    </c:plotArea>
    <c:legend>
      <c:legendPos val="t"/>
      <c:layout>
        <c:manualLayout>
          <c:xMode val="edge"/>
          <c:yMode val="edge"/>
          <c:x val="1.0800653033703391E-3"/>
          <c:y val="8.0031130219156109E-3"/>
          <c:w val="0.3230663362541488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rgbClr val="061F79"/>
              </a:solidFill>
              <a:ln>
                <a:noFill/>
              </a:ln>
              <a:effectLst/>
            </c:spPr>
            <c:extLst>
              <c:ext xmlns:c16="http://schemas.microsoft.com/office/drawing/2014/chart" uri="{C3380CC4-5D6E-409C-BE32-E72D297353CC}">
                <c16:uniqueId val="{00000001-77B2-40C3-96C3-5D70BD0DA219}"/>
              </c:ext>
            </c:extLst>
          </c:dPt>
          <c:dPt>
            <c:idx val="1"/>
            <c:invertIfNegative val="0"/>
            <c:bubble3D val="0"/>
            <c:spPr>
              <a:solidFill>
                <a:srgbClr val="061F79"/>
              </a:solidFill>
              <a:ln>
                <a:noFill/>
              </a:ln>
              <a:effectLst/>
            </c:spPr>
            <c:extLst>
              <c:ext xmlns:c16="http://schemas.microsoft.com/office/drawing/2014/chart" uri="{C3380CC4-5D6E-409C-BE32-E72D297353CC}">
                <c16:uniqueId val="{00000003-77B2-40C3-96C3-5D70BD0DA219}"/>
              </c:ext>
            </c:extLst>
          </c:dPt>
          <c:dLbls>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8357675</c:v>
                </c:pt>
                <c:pt idx="1">
                  <c:v>10278891</c:v>
                </c:pt>
              </c:numCache>
            </c:numRef>
          </c:val>
          <c:extLst>
            <c:ext xmlns:c16="http://schemas.microsoft.com/office/drawing/2014/chart" uri="{C3380CC4-5D6E-409C-BE32-E72D297353CC}">
              <c16:uniqueId val="{00000004-77B2-40C3-96C3-5D70BD0DA219}"/>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2000000"/>
          <c:min val="0"/>
        </c:scaling>
        <c:delete val="1"/>
        <c:axPos val="l"/>
        <c:numFmt formatCode="General" sourceLinked="1"/>
        <c:majorTickMark val="out"/>
        <c:minorTickMark val="none"/>
        <c:tickLblPos val="nextTo"/>
        <c:crossAx val="826714416"/>
        <c:crosses val="autoZero"/>
        <c:crossBetween val="between"/>
        <c:dispUnits>
          <c:builtInUnit val="millions"/>
        </c:dispUnits>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061F79"/>
            </a:solidFill>
            <a:ln>
              <a:noFill/>
            </a:ln>
            <a:effectLst/>
          </c:spPr>
          <c:invertIfNegative val="0"/>
          <c:dPt>
            <c:idx val="0"/>
            <c:invertIfNegative val="0"/>
            <c:bubble3D val="0"/>
            <c:spPr>
              <a:solidFill>
                <a:srgbClr val="061F79"/>
              </a:solidFill>
              <a:ln>
                <a:noFill/>
              </a:ln>
              <a:effectLst/>
            </c:spPr>
            <c:extLst>
              <c:ext xmlns:c16="http://schemas.microsoft.com/office/drawing/2014/chart" uri="{C3380CC4-5D6E-409C-BE32-E72D297353CC}">
                <c16:uniqueId val="{00000001-CF20-44A2-9101-20BCA770B343}"/>
              </c:ext>
            </c:extLst>
          </c:dPt>
          <c:dPt>
            <c:idx val="1"/>
            <c:invertIfNegative val="0"/>
            <c:bubble3D val="0"/>
            <c:spPr>
              <a:solidFill>
                <a:srgbClr val="061F79"/>
              </a:solidFill>
              <a:ln>
                <a:noFill/>
              </a:ln>
              <a:effectLst/>
            </c:spPr>
            <c:extLst>
              <c:ext xmlns:c16="http://schemas.microsoft.com/office/drawing/2014/chart" uri="{C3380CC4-5D6E-409C-BE32-E72D297353CC}">
                <c16:uniqueId val="{00000003-CF20-44A2-9101-20BCA770B343}"/>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1.56</c:v>
                </c:pt>
                <c:pt idx="1">
                  <c:v>1.54</c:v>
                </c:pt>
              </c:numCache>
            </c:numRef>
          </c:val>
          <c:extLst>
            <c:ext xmlns:c16="http://schemas.microsoft.com/office/drawing/2014/chart" uri="{C3380CC4-5D6E-409C-BE32-E72D297353CC}">
              <c16:uniqueId val="{00000004-CF20-44A2-9101-20BCA770B343}"/>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
          <c:min val="0"/>
        </c:scaling>
        <c:delete val="1"/>
        <c:axPos val="l"/>
        <c:numFmt formatCode="General" sourceLinked="1"/>
        <c:majorTickMark val="out"/>
        <c:minorTickMark val="none"/>
        <c:tickLblPos val="nextTo"/>
        <c:crossAx val="826714416"/>
        <c:crosses val="autoZero"/>
        <c:crossBetween val="between"/>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1-C41E-4FC7-BFE1-CC41F0C5F44A}"/>
              </c:ext>
            </c:extLst>
          </c:dPt>
          <c:dPt>
            <c:idx val="5"/>
            <c:invertIfNegative val="0"/>
            <c:bubble3D val="0"/>
            <c:spPr>
              <a:solidFill>
                <a:schemeClr val="bg1">
                  <a:lumMod val="85000"/>
                </a:schemeClr>
              </a:solidFill>
              <a:ln>
                <a:noFill/>
              </a:ln>
              <a:effectLst/>
            </c:spPr>
            <c:extLst>
              <c:ext xmlns:c16="http://schemas.microsoft.com/office/drawing/2014/chart" uri="{C3380CC4-5D6E-409C-BE32-E72D297353CC}">
                <c16:uniqueId val="{00000003-C41E-4FC7-BFE1-CC41F0C5F44A}"/>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C41E-4FC7-BFE1-CC41F0C5F44A}"/>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7-17F0-485F-ACD9-BD621B4FC667}"/>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1614508</c:v>
                </c:pt>
                <c:pt idx="1">
                  <c:v>1077793</c:v>
                </c:pt>
                <c:pt idx="2">
                  <c:v>2939175</c:v>
                </c:pt>
                <c:pt idx="3">
                  <c:v>744055</c:v>
                </c:pt>
                <c:pt idx="4">
                  <c:v>1077701</c:v>
                </c:pt>
                <c:pt idx="5">
                  <c:v>322396</c:v>
                </c:pt>
                <c:pt idx="6">
                  <c:v>345575</c:v>
                </c:pt>
                <c:pt idx="7">
                  <c:v>82087</c:v>
                </c:pt>
                <c:pt idx="8">
                  <c:v>154385</c:v>
                </c:pt>
              </c:numCache>
            </c:numRef>
          </c:val>
          <c:extLst>
            <c:ext xmlns:c16="http://schemas.microsoft.com/office/drawing/2014/chart" uri="{C3380CC4-5D6E-409C-BE32-E72D297353CC}">
              <c16:uniqueId val="{00000008-C41E-4FC7-BFE1-CC41F0C5F44A}"/>
            </c:ext>
          </c:extLst>
        </c:ser>
        <c:ser>
          <c:idx val="1"/>
          <c:order val="1"/>
          <c:tx>
            <c:strRef>
              <c:f>Sheet1!$C$1</c:f>
              <c:strCache>
                <c:ptCount val="1"/>
                <c:pt idx="0">
                  <c:v>2024</c:v>
                </c:pt>
              </c:strCache>
            </c:strRef>
          </c:tx>
          <c:spPr>
            <a:solidFill>
              <a:srgbClr val="061F79"/>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1853298</c:v>
                </c:pt>
                <c:pt idx="1">
                  <c:v>1896574</c:v>
                </c:pt>
                <c:pt idx="2">
                  <c:v>2600668</c:v>
                </c:pt>
                <c:pt idx="3">
                  <c:v>954374</c:v>
                </c:pt>
                <c:pt idx="4">
                  <c:v>1031055</c:v>
                </c:pt>
                <c:pt idx="5">
                  <c:v>1304902</c:v>
                </c:pt>
                <c:pt idx="6">
                  <c:v>451028</c:v>
                </c:pt>
                <c:pt idx="7">
                  <c:v>84605</c:v>
                </c:pt>
                <c:pt idx="8">
                  <c:v>102387</c:v>
                </c:pt>
              </c:numCache>
            </c:numRef>
          </c:val>
          <c:extLst>
            <c:ext xmlns:c16="http://schemas.microsoft.com/office/drawing/2014/chart" uri="{C3380CC4-5D6E-409C-BE32-E72D297353CC}">
              <c16:uniqueId val="{00000009-C41E-4FC7-BFE1-CC41F0C5F44A}"/>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4000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1000000"/>
        <c:dispUnits>
          <c:builtInUnit val="millions"/>
        </c:dispUnits>
      </c:valAx>
      <c:spPr>
        <a:noFill/>
        <a:ln>
          <a:solidFill>
            <a:schemeClr val="bg1">
              <a:lumMod val="85000"/>
            </a:schemeClr>
          </a:solidFill>
        </a:ln>
        <a:effectLst/>
      </c:spPr>
    </c:plotArea>
    <c:legend>
      <c:legendPos val="t"/>
      <c:layout>
        <c:manualLayout>
          <c:xMode val="edge"/>
          <c:yMode val="edge"/>
          <c:x val="1.0800653033703391E-3"/>
          <c:y val="8.0031130219156109E-3"/>
          <c:w val="0.3559743932102176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A77D-4DEA-ADFE-4967A1D5E2EC}"/>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A77D-4DEA-ADFE-4967A1D5E2EC}"/>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A77D-4DEA-ADFE-4967A1D5E2EC}"/>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1.18152598685654</c:v>
                </c:pt>
                <c:pt idx="1">
                  <c:v>1.3410205907347199</c:v>
                </c:pt>
                <c:pt idx="2">
                  <c:v>2.0761460152236899</c:v>
                </c:pt>
                <c:pt idx="3">
                  <c:v>0.90491329163418399</c:v>
                </c:pt>
                <c:pt idx="4">
                  <c:v>2.4292789035908302</c:v>
                </c:pt>
                <c:pt idx="5">
                  <c:v>1.5997419738996601</c:v>
                </c:pt>
                <c:pt idx="6">
                  <c:v>2.29837851499108</c:v>
                </c:pt>
                <c:pt idx="7">
                  <c:v>1.4160255304467799</c:v>
                </c:pt>
                <c:pt idx="8">
                  <c:v>1.5843946593323099</c:v>
                </c:pt>
              </c:numCache>
            </c:numRef>
          </c:val>
          <c:extLst>
            <c:ext xmlns:c16="http://schemas.microsoft.com/office/drawing/2014/chart" uri="{C3380CC4-5D6E-409C-BE32-E72D297353CC}">
              <c16:uniqueId val="{00000008-A77D-4DEA-ADFE-4967A1D5E2EC}"/>
            </c:ext>
          </c:extLst>
        </c:ser>
        <c:ser>
          <c:idx val="1"/>
          <c:order val="1"/>
          <c:tx>
            <c:strRef>
              <c:f>Sheet1!$C$1</c:f>
              <c:strCache>
                <c:ptCount val="1"/>
                <c:pt idx="0">
                  <c:v>2024</c:v>
                </c:pt>
              </c:strCache>
            </c:strRef>
          </c:tx>
          <c:spPr>
            <a:solidFill>
              <a:srgbClr val="061F79"/>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1.1822850347930101</c:v>
                </c:pt>
                <c:pt idx="1">
                  <c:v>1.24374805723181</c:v>
                </c:pt>
                <c:pt idx="2">
                  <c:v>1.97430419857006</c:v>
                </c:pt>
                <c:pt idx="3">
                  <c:v>0.85600452769129898</c:v>
                </c:pt>
                <c:pt idx="4">
                  <c:v>2.2337950174512602</c:v>
                </c:pt>
                <c:pt idx="5">
                  <c:v>3.2147252866370701</c:v>
                </c:pt>
                <c:pt idx="6">
                  <c:v>2.9933235110633198</c:v>
                </c:pt>
                <c:pt idx="7">
                  <c:v>1.4947351683686001</c:v>
                </c:pt>
                <c:pt idx="8">
                  <c:v>1.2642087197026699</c:v>
                </c:pt>
              </c:numCache>
            </c:numRef>
          </c:val>
          <c:extLst>
            <c:ext xmlns:c16="http://schemas.microsoft.com/office/drawing/2014/chart" uri="{C3380CC4-5D6E-409C-BE32-E72D297353CC}">
              <c16:uniqueId val="{00000009-A77D-4DEA-ADFE-4967A1D5E2EC}"/>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4"/>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1"/>
      </c:valAx>
      <c:spPr>
        <a:noFill/>
        <a:ln>
          <a:solidFill>
            <a:schemeClr val="bg1">
              <a:lumMod val="85000"/>
            </a:schemeClr>
          </a:solidFill>
        </a:ln>
        <a:effectLst/>
      </c:spPr>
    </c:plotArea>
    <c:legend>
      <c:legendPos val="t"/>
      <c:layout>
        <c:manualLayout>
          <c:xMode val="edge"/>
          <c:yMode val="edge"/>
          <c:x val="1.0800653033703391E-3"/>
          <c:y val="8.0031130219156109E-3"/>
          <c:w val="0.3230663362541488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2251FF"/>
            </a:solidFill>
            <a:ln>
              <a:noFill/>
            </a:ln>
            <a:effectLst/>
          </c:spPr>
          <c:invertIfNegative val="0"/>
          <c:dPt>
            <c:idx val="0"/>
            <c:invertIfNegative val="0"/>
            <c:bubble3D val="0"/>
            <c:spPr>
              <a:solidFill>
                <a:srgbClr val="2251FF"/>
              </a:solidFill>
              <a:ln>
                <a:noFill/>
              </a:ln>
              <a:effectLst/>
            </c:spPr>
            <c:extLst>
              <c:ext xmlns:c16="http://schemas.microsoft.com/office/drawing/2014/chart" uri="{C3380CC4-5D6E-409C-BE32-E72D297353CC}">
                <c16:uniqueId val="{00000001-20F6-4293-9408-0FB0E7724D85}"/>
              </c:ext>
            </c:extLst>
          </c:dPt>
          <c:dPt>
            <c:idx val="1"/>
            <c:invertIfNegative val="0"/>
            <c:bubble3D val="0"/>
            <c:spPr>
              <a:solidFill>
                <a:srgbClr val="2251FF"/>
              </a:solidFill>
              <a:ln>
                <a:noFill/>
              </a:ln>
              <a:effectLst/>
            </c:spPr>
            <c:extLst>
              <c:ext xmlns:c16="http://schemas.microsoft.com/office/drawing/2014/chart" uri="{C3380CC4-5D6E-409C-BE32-E72D297353CC}">
                <c16:uniqueId val="{00000003-20F6-4293-9408-0FB0E7724D85}"/>
              </c:ext>
            </c:extLst>
          </c:dPt>
          <c:dLbls>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5975763</c:v>
                </c:pt>
                <c:pt idx="1">
                  <c:v>7558408</c:v>
                </c:pt>
              </c:numCache>
            </c:numRef>
          </c:val>
          <c:extLst>
            <c:ext xmlns:c16="http://schemas.microsoft.com/office/drawing/2014/chart" uri="{C3380CC4-5D6E-409C-BE32-E72D297353CC}">
              <c16:uniqueId val="{00000004-20F6-4293-9408-0FB0E7724D85}"/>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9000000"/>
          <c:min val="0"/>
        </c:scaling>
        <c:delete val="1"/>
        <c:axPos val="l"/>
        <c:numFmt formatCode="General" sourceLinked="1"/>
        <c:majorTickMark val="out"/>
        <c:minorTickMark val="none"/>
        <c:tickLblPos val="nextTo"/>
        <c:crossAx val="826714416"/>
        <c:crosses val="autoZero"/>
        <c:crossBetween val="between"/>
        <c:dispUnits>
          <c:builtInUnit val="millions"/>
        </c:dispUnits>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Number</c:v>
                </c:pt>
              </c:strCache>
            </c:strRef>
          </c:tx>
          <c:spPr>
            <a:solidFill>
              <a:srgbClr val="2251FF"/>
            </a:solidFill>
            <a:ln>
              <a:noFill/>
            </a:ln>
            <a:effectLst/>
          </c:spPr>
          <c:invertIfNegative val="0"/>
          <c:dPt>
            <c:idx val="0"/>
            <c:invertIfNegative val="0"/>
            <c:bubble3D val="0"/>
            <c:spPr>
              <a:solidFill>
                <a:srgbClr val="2251FF"/>
              </a:solidFill>
              <a:ln>
                <a:noFill/>
              </a:ln>
              <a:effectLst/>
            </c:spPr>
            <c:extLst>
              <c:ext xmlns:c16="http://schemas.microsoft.com/office/drawing/2014/chart" uri="{C3380CC4-5D6E-409C-BE32-E72D297353CC}">
                <c16:uniqueId val="{00000001-BA54-4F00-91FB-7825DD9DCBF3}"/>
              </c:ext>
            </c:extLst>
          </c:dPt>
          <c:dPt>
            <c:idx val="1"/>
            <c:invertIfNegative val="0"/>
            <c:bubble3D val="0"/>
            <c:spPr>
              <a:solidFill>
                <a:srgbClr val="2251FF"/>
              </a:solidFill>
              <a:ln>
                <a:noFill/>
              </a:ln>
              <a:effectLst/>
            </c:spPr>
            <c:extLst>
              <c:ext xmlns:c16="http://schemas.microsoft.com/office/drawing/2014/chart" uri="{C3380CC4-5D6E-409C-BE32-E72D297353CC}">
                <c16:uniqueId val="{00000003-BA54-4F00-91FB-7825DD9DCBF3}"/>
              </c:ext>
            </c:extLst>
          </c:dPt>
          <c:dLbls>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1.1200000000000001</c:v>
                </c:pt>
                <c:pt idx="1">
                  <c:v>1.1299999999999999</c:v>
                </c:pt>
              </c:numCache>
            </c:numRef>
          </c:val>
          <c:extLst>
            <c:ext xmlns:c16="http://schemas.microsoft.com/office/drawing/2014/chart" uri="{C3380CC4-5D6E-409C-BE32-E72D297353CC}">
              <c16:uniqueId val="{00000004-BA54-4F00-91FB-7825DD9DCBF3}"/>
            </c:ext>
          </c:extLst>
        </c:ser>
        <c:dLbls>
          <c:dLblPos val="outEnd"/>
          <c:showLegendKey val="0"/>
          <c:showVal val="1"/>
          <c:showCatName val="0"/>
          <c:showSerName val="0"/>
          <c:showPercent val="0"/>
          <c:showBubbleSize val="0"/>
        </c:dLbls>
        <c:gapWidth val="100"/>
        <c:overlap val="-27"/>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6"/>
          <c:min val="0"/>
        </c:scaling>
        <c:delete val="1"/>
        <c:axPos val="l"/>
        <c:numFmt formatCode="General" sourceLinked="1"/>
        <c:majorTickMark val="out"/>
        <c:minorTickMark val="none"/>
        <c:tickLblPos val="nextTo"/>
        <c:crossAx val="826714416"/>
        <c:crosses val="autoZero"/>
        <c:crossBetween val="between"/>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1-0579-430A-B7C2-352F52B4A3A7}"/>
              </c:ext>
            </c:extLst>
          </c:dPt>
          <c:dPt>
            <c:idx val="5"/>
            <c:invertIfNegative val="0"/>
            <c:bubble3D val="0"/>
            <c:spPr>
              <a:solidFill>
                <a:schemeClr val="bg1">
                  <a:lumMod val="85000"/>
                </a:schemeClr>
              </a:solidFill>
              <a:ln>
                <a:noFill/>
              </a:ln>
              <a:effectLst/>
            </c:spPr>
            <c:extLst>
              <c:ext xmlns:c16="http://schemas.microsoft.com/office/drawing/2014/chart" uri="{C3380CC4-5D6E-409C-BE32-E72D297353CC}">
                <c16:uniqueId val="{00000003-0579-430A-B7C2-352F52B4A3A7}"/>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0579-430A-B7C2-352F52B4A3A7}"/>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7-0579-430A-B7C2-352F52B4A3A7}"/>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1479066</c:v>
                </c:pt>
                <c:pt idx="1">
                  <c:v>917471</c:v>
                </c:pt>
                <c:pt idx="2">
                  <c:v>1508649</c:v>
                </c:pt>
                <c:pt idx="3">
                  <c:v>1069986</c:v>
                </c:pt>
                <c:pt idx="4">
                  <c:v>445909</c:v>
                </c:pt>
                <c:pt idx="5">
                  <c:v>219686</c:v>
                </c:pt>
                <c:pt idx="6">
                  <c:v>174767</c:v>
                </c:pt>
                <c:pt idx="7">
                  <c:v>65712</c:v>
                </c:pt>
                <c:pt idx="8">
                  <c:v>94517</c:v>
                </c:pt>
              </c:numCache>
            </c:numRef>
          </c:val>
          <c:extLst>
            <c:ext xmlns:c16="http://schemas.microsoft.com/office/drawing/2014/chart" uri="{C3380CC4-5D6E-409C-BE32-E72D297353CC}">
              <c16:uniqueId val="{00000008-0579-430A-B7C2-352F52B4A3A7}"/>
            </c:ext>
          </c:extLst>
        </c:ser>
        <c:ser>
          <c:idx val="1"/>
          <c:order val="1"/>
          <c:tx>
            <c:strRef>
              <c:f>Sheet1!$C$1</c:f>
              <c:strCache>
                <c:ptCount val="1"/>
                <c:pt idx="0">
                  <c:v>2024</c:v>
                </c:pt>
              </c:strCache>
            </c:strRef>
          </c:tx>
          <c:spPr>
            <a:solidFill>
              <a:srgbClr val="2251FF"/>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1758483</c:v>
                </c:pt>
                <c:pt idx="1">
                  <c:v>1649092</c:v>
                </c:pt>
                <c:pt idx="2">
                  <c:v>1384810</c:v>
                </c:pt>
                <c:pt idx="3">
                  <c:v>1520324</c:v>
                </c:pt>
                <c:pt idx="4">
                  <c:v>476256</c:v>
                </c:pt>
                <c:pt idx="5">
                  <c:v>429706</c:v>
                </c:pt>
                <c:pt idx="6">
                  <c:v>194155</c:v>
                </c:pt>
                <c:pt idx="7">
                  <c:v>65984</c:v>
                </c:pt>
                <c:pt idx="8">
                  <c:v>79598</c:v>
                </c:pt>
              </c:numCache>
            </c:numRef>
          </c:val>
          <c:extLst>
            <c:ext xmlns:c16="http://schemas.microsoft.com/office/drawing/2014/chart" uri="{C3380CC4-5D6E-409C-BE32-E72D297353CC}">
              <c16:uniqueId val="{00000009-0579-430A-B7C2-352F52B4A3A7}"/>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000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500000"/>
        <c:dispUnits>
          <c:builtInUnit val="millions"/>
        </c:dispUnits>
      </c:valAx>
      <c:spPr>
        <a:noFill/>
        <a:ln>
          <a:solidFill>
            <a:schemeClr val="bg1">
              <a:lumMod val="85000"/>
            </a:schemeClr>
          </a:solidFill>
        </a:ln>
        <a:effectLst/>
      </c:spPr>
    </c:plotArea>
    <c:legend>
      <c:legendPos val="t"/>
      <c:layout>
        <c:manualLayout>
          <c:xMode val="edge"/>
          <c:yMode val="edge"/>
          <c:x val="1.0800653033703391E-3"/>
          <c:y val="8.0031130219156109E-3"/>
          <c:w val="0.3559743932102176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EC8C-4A2D-8D7A-1E169983A943}"/>
              </c:ext>
            </c:extLst>
          </c:dPt>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EC8C-4A2D-8D7A-1E169983A943}"/>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EC8C-4A2D-8D7A-1E169983A943}"/>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1.0824070957071501</c:v>
                </c:pt>
                <c:pt idx="1">
                  <c:v>1.1415434154814299</c:v>
                </c:pt>
                <c:pt idx="2">
                  <c:v>1.0656648922643901</c:v>
                </c:pt>
                <c:pt idx="3">
                  <c:v>1.3013077706117</c:v>
                </c:pt>
                <c:pt idx="4">
                  <c:v>1.00513716385276</c:v>
                </c:pt>
                <c:pt idx="5">
                  <c:v>1.09009080533915</c:v>
                </c:pt>
                <c:pt idx="6">
                  <c:v>1.16235467823033</c:v>
                </c:pt>
                <c:pt idx="7">
                  <c:v>1.13355183715715</c:v>
                </c:pt>
                <c:pt idx="8">
                  <c:v>0.96999209778224704</c:v>
                </c:pt>
              </c:numCache>
            </c:numRef>
          </c:val>
          <c:extLst>
            <c:ext xmlns:c16="http://schemas.microsoft.com/office/drawing/2014/chart" uri="{C3380CC4-5D6E-409C-BE32-E72D297353CC}">
              <c16:uniqueId val="{00000006-EC8C-4A2D-8D7A-1E169983A943}"/>
            </c:ext>
          </c:extLst>
        </c:ser>
        <c:ser>
          <c:idx val="1"/>
          <c:order val="1"/>
          <c:tx>
            <c:strRef>
              <c:f>Sheet1!$C$1</c:f>
              <c:strCache>
                <c:ptCount val="1"/>
                <c:pt idx="0">
                  <c:v>2024</c:v>
                </c:pt>
              </c:strCache>
            </c:strRef>
          </c:tx>
          <c:spPr>
            <a:solidFill>
              <a:srgbClr val="2251FF"/>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1.1217991574144699</c:v>
                </c:pt>
                <c:pt idx="1">
                  <c:v>1.08145264629618</c:v>
                </c:pt>
                <c:pt idx="2">
                  <c:v>1.0512822848675001</c:v>
                </c:pt>
                <c:pt idx="3">
                  <c:v>1.363620789709</c:v>
                </c:pt>
                <c:pt idx="4">
                  <c:v>1.0318152570243699</c:v>
                </c:pt>
                <c:pt idx="5">
                  <c:v>1.05861340086816</c:v>
                </c:pt>
                <c:pt idx="6">
                  <c:v>1.2885424547711</c:v>
                </c:pt>
                <c:pt idx="7">
                  <c:v>1.1657538602876201</c:v>
                </c:pt>
                <c:pt idx="8">
                  <c:v>0.98282482806307003</c:v>
                </c:pt>
              </c:numCache>
            </c:numRef>
          </c:val>
          <c:extLst>
            <c:ext xmlns:c16="http://schemas.microsoft.com/office/drawing/2014/chart" uri="{C3380CC4-5D6E-409C-BE32-E72D297353CC}">
              <c16:uniqueId val="{00000007-EC8C-4A2D-8D7A-1E169983A943}"/>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0.5"/>
      </c:valAx>
      <c:spPr>
        <a:noFill/>
        <a:ln>
          <a:solidFill>
            <a:schemeClr val="bg1">
              <a:lumMod val="85000"/>
            </a:schemeClr>
          </a:solidFill>
        </a:ln>
        <a:effectLst/>
      </c:spPr>
    </c:plotArea>
    <c:legend>
      <c:legendPos val="t"/>
      <c:layout>
        <c:manualLayout>
          <c:xMode val="edge"/>
          <c:yMode val="edge"/>
          <c:x val="1.0800653033703391E-3"/>
          <c:y val="8.0031130219156109E-3"/>
          <c:w val="0.3230663362541488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137563362171023E-2"/>
          <c:y val="0.16710454472258568"/>
          <c:w val="0.89164409931808541"/>
          <c:h val="0.70442779590719251"/>
        </c:manualLayout>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1-7EDC-4E4A-BAF0-2BF8A288A35B}"/>
              </c:ext>
            </c:extLst>
          </c:dPt>
          <c:dPt>
            <c:idx val="5"/>
            <c:invertIfNegative val="0"/>
            <c:bubble3D val="0"/>
            <c:spPr>
              <a:solidFill>
                <a:schemeClr val="bg1">
                  <a:lumMod val="85000"/>
                </a:schemeClr>
              </a:solidFill>
              <a:ln>
                <a:noFill/>
              </a:ln>
              <a:effectLst/>
            </c:spPr>
            <c:extLst>
              <c:ext xmlns:c16="http://schemas.microsoft.com/office/drawing/2014/chart" uri="{C3380CC4-5D6E-409C-BE32-E72D297353CC}">
                <c16:uniqueId val="{00000003-F658-41A7-8202-9470CD21E7A5}"/>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0FAF-4D77-A238-A98976D35782}"/>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7-7EDC-4E4A-BAF0-2BF8A288A35B}"/>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11317230</c:v>
                </c:pt>
                <c:pt idx="1">
                  <c:v>6456578</c:v>
                </c:pt>
                <c:pt idx="2">
                  <c:v>12737540</c:v>
                </c:pt>
                <c:pt idx="3">
                  <c:v>8268093</c:v>
                </c:pt>
                <c:pt idx="4">
                  <c:v>4667401</c:v>
                </c:pt>
                <c:pt idx="5">
                  <c:v>1985922</c:v>
                </c:pt>
                <c:pt idx="6">
                  <c:v>1697176</c:v>
                </c:pt>
                <c:pt idx="7">
                  <c:v>871098</c:v>
                </c:pt>
                <c:pt idx="8">
                  <c:v>902722</c:v>
                </c:pt>
              </c:numCache>
            </c:numRef>
          </c:val>
          <c:extLst>
            <c:ext xmlns:c16="http://schemas.microsoft.com/office/drawing/2014/chart" uri="{C3380CC4-5D6E-409C-BE32-E72D297353CC}">
              <c16:uniqueId val="{00000008-0FAF-4D77-A238-A98976D35782}"/>
            </c:ext>
          </c:extLst>
        </c:ser>
        <c:ser>
          <c:idx val="1"/>
          <c:order val="1"/>
          <c:tx>
            <c:strRef>
              <c:f>Sheet1!$C$1</c:f>
              <c:strCache>
                <c:ptCount val="1"/>
                <c:pt idx="0">
                  <c:v>2024</c:v>
                </c:pt>
              </c:strCache>
            </c:strRef>
          </c:tx>
          <c:spPr>
            <a:solidFill>
              <a:srgbClr val="00A9F4"/>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13364856</c:v>
                </c:pt>
                <c:pt idx="1">
                  <c:v>11865918</c:v>
                </c:pt>
                <c:pt idx="2">
                  <c:v>11652150</c:v>
                </c:pt>
                <c:pt idx="3">
                  <c:v>11192622</c:v>
                </c:pt>
                <c:pt idx="4">
                  <c:v>4910049</c:v>
                </c:pt>
                <c:pt idx="5">
                  <c:v>4204121</c:v>
                </c:pt>
                <c:pt idx="6">
                  <c:v>1865134</c:v>
                </c:pt>
                <c:pt idx="7">
                  <c:v>844722</c:v>
                </c:pt>
                <c:pt idx="8">
                  <c:v>728461</c:v>
                </c:pt>
              </c:numCache>
            </c:numRef>
          </c:val>
          <c:extLst>
            <c:ext xmlns:c16="http://schemas.microsoft.com/office/drawing/2014/chart" uri="{C3380CC4-5D6E-409C-BE32-E72D297353CC}">
              <c16:uniqueId val="{00000009-0FAF-4D77-A238-A98976D35782}"/>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6000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2000000"/>
        <c:dispUnits>
          <c:builtInUnit val="millions"/>
        </c:dispUnits>
      </c:valAx>
      <c:spPr>
        <a:noFill/>
        <a:ln>
          <a:solidFill>
            <a:schemeClr val="bg1">
              <a:lumMod val="85000"/>
            </a:schemeClr>
          </a:solidFill>
        </a:ln>
        <a:effectLst/>
      </c:spPr>
    </c:plotArea>
    <c:legend>
      <c:legendPos val="t"/>
      <c:layout>
        <c:manualLayout>
          <c:xMode val="edge"/>
          <c:yMode val="edge"/>
          <c:x val="0"/>
          <c:y val="4.3604244619083465E-2"/>
          <c:w val="0.35597439321021768"/>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452311055912047E-2"/>
          <c:y val="0.14371437096047995"/>
          <c:w val="0.90226894925253764"/>
          <c:h val="0.71208606288727039"/>
        </c:manualLayout>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3-CED8-4395-B5C2-DAD36636EB13}"/>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7-CED8-4395-B5C2-DAD36636EB13}"/>
              </c:ext>
            </c:extLst>
          </c:dPt>
          <c:dPt>
            <c:idx val="8"/>
            <c:invertIfNegative val="0"/>
            <c:bubble3D val="0"/>
            <c:spPr>
              <a:solidFill>
                <a:schemeClr val="bg1">
                  <a:lumMod val="85000"/>
                </a:schemeClr>
              </a:solidFill>
              <a:ln>
                <a:noFill/>
              </a:ln>
              <a:effectLst/>
            </c:spPr>
            <c:extLst>
              <c:ext xmlns:c16="http://schemas.microsoft.com/office/drawing/2014/chart" uri="{C3380CC4-5D6E-409C-BE32-E72D297353CC}">
                <c16:uniqueId val="{00000005-FDD6-41CA-8FB9-B045217B0392}"/>
              </c:ext>
            </c:extLst>
          </c:dPt>
          <c:cat>
            <c:strRef>
              <c:f>Sheet1!$A$2:$A$10</c:f>
              <c:strCache>
                <c:ptCount val="9"/>
                <c:pt idx="0">
                  <c:v>G</c:v>
                </c:pt>
                <c:pt idx="1">
                  <c:v>B</c:v>
                </c:pt>
                <c:pt idx="2">
                  <c:v>Z</c:v>
                </c:pt>
                <c:pt idx="3">
                  <c:v>Y</c:v>
                </c:pt>
                <c:pt idx="4">
                  <c:v>X</c:v>
                </c:pt>
                <c:pt idx="5">
                  <c:v>C</c:v>
                </c:pt>
                <c:pt idx="6">
                  <c:v>F</c:v>
                </c:pt>
                <c:pt idx="7">
                  <c:v>E</c:v>
                </c:pt>
                <c:pt idx="8">
                  <c:v>D</c:v>
                </c:pt>
              </c:strCache>
            </c:strRef>
          </c:cat>
          <c:val>
            <c:numRef>
              <c:f>Sheet1!$B$2:$B$10</c:f>
              <c:numCache>
                <c:formatCode>General</c:formatCode>
                <c:ptCount val="9"/>
                <c:pt idx="0">
                  <c:v>13.89315</c:v>
                </c:pt>
                <c:pt idx="1">
                  <c:v>10.125389999999999</c:v>
                </c:pt>
                <c:pt idx="2">
                  <c:v>9.5157919999999994</c:v>
                </c:pt>
                <c:pt idx="3">
                  <c:v>8.7641390000000001</c:v>
                </c:pt>
                <c:pt idx="4">
                  <c:v>8.7542729999999995</c:v>
                </c:pt>
                <c:pt idx="5">
                  <c:v>8.2942400000000003</c:v>
                </c:pt>
                <c:pt idx="6">
                  <c:v>7.9317570000000002</c:v>
                </c:pt>
                <c:pt idx="7">
                  <c:v>7.1997479999999996</c:v>
                </c:pt>
                <c:pt idx="8">
                  <c:v>6.8919160000000002</c:v>
                </c:pt>
              </c:numCache>
            </c:numRef>
          </c:val>
          <c:extLst>
            <c:ext xmlns:c16="http://schemas.microsoft.com/office/drawing/2014/chart" uri="{C3380CC4-5D6E-409C-BE32-E72D297353CC}">
              <c16:uniqueId val="{00000008-CED8-4395-B5C2-DAD36636EB13}"/>
            </c:ext>
          </c:extLst>
        </c:ser>
        <c:ser>
          <c:idx val="1"/>
          <c:order val="1"/>
          <c:tx>
            <c:strRef>
              <c:f>Sheet1!$C$1</c:f>
              <c:strCache>
                <c:ptCount val="1"/>
                <c:pt idx="0">
                  <c:v>2024</c:v>
                </c:pt>
              </c:strCache>
            </c:strRef>
          </c:tx>
          <c:spPr>
            <a:solidFill>
              <a:srgbClr val="00A9F4"/>
            </a:solidFill>
            <a:ln>
              <a:noFill/>
            </a:ln>
            <a:effectLst/>
          </c:spPr>
          <c:invertIfNegative val="0"/>
          <c:cat>
            <c:strRef>
              <c:f>Sheet1!$A$2:$A$10</c:f>
              <c:strCache>
                <c:ptCount val="9"/>
                <c:pt idx="0">
                  <c:v>G</c:v>
                </c:pt>
                <c:pt idx="1">
                  <c:v>B</c:v>
                </c:pt>
                <c:pt idx="2">
                  <c:v>Z</c:v>
                </c:pt>
                <c:pt idx="3">
                  <c:v>Y</c:v>
                </c:pt>
                <c:pt idx="4">
                  <c:v>X</c:v>
                </c:pt>
                <c:pt idx="5">
                  <c:v>C</c:v>
                </c:pt>
                <c:pt idx="6">
                  <c:v>F</c:v>
                </c:pt>
                <c:pt idx="7">
                  <c:v>E</c:v>
                </c:pt>
                <c:pt idx="8">
                  <c:v>D</c:v>
                </c:pt>
              </c:strCache>
            </c:strRef>
          </c:cat>
          <c:val>
            <c:numRef>
              <c:f>Sheet1!$C$2:$C$10</c:f>
              <c:numCache>
                <c:formatCode>General</c:formatCode>
                <c:ptCount val="9"/>
                <c:pt idx="0">
                  <c:v>13.758100000000001</c:v>
                </c:pt>
                <c:pt idx="1">
                  <c:v>11.089729999999999</c:v>
                </c:pt>
                <c:pt idx="2">
                  <c:v>9.6058629999999994</c:v>
                </c:pt>
                <c:pt idx="3">
                  <c:v>9.2985609999999994</c:v>
                </c:pt>
                <c:pt idx="4">
                  <c:v>8.6753529999999994</c:v>
                </c:pt>
                <c:pt idx="5">
                  <c:v>8.0117049999999992</c:v>
                </c:pt>
                <c:pt idx="6">
                  <c:v>7.7944820000000004</c:v>
                </c:pt>
                <c:pt idx="7">
                  <c:v>7.4041199999999998</c:v>
                </c:pt>
                <c:pt idx="8">
                  <c:v>6.700062</c:v>
                </c:pt>
              </c:numCache>
            </c:numRef>
          </c:val>
          <c:extLst>
            <c:ext xmlns:c16="http://schemas.microsoft.com/office/drawing/2014/chart" uri="{C3380CC4-5D6E-409C-BE32-E72D297353CC}">
              <c16:uniqueId val="{00000009-CED8-4395-B5C2-DAD36636EB13}"/>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0"/>
          <c:min val="0"/>
        </c:scaling>
        <c:delete val="1"/>
        <c:axPos val="l"/>
        <c:numFmt formatCode="General" sourceLinked="1"/>
        <c:majorTickMark val="out"/>
        <c:minorTickMark val="none"/>
        <c:tickLblPos val="nextTo"/>
        <c:crossAx val="826714416"/>
        <c:crosses val="autoZero"/>
        <c:crossBetween val="between"/>
        <c:majorUnit val="5"/>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6716158428734"/>
          <c:y val="8.727752423257866E-2"/>
          <c:w val="0.7389306191475874"/>
          <c:h val="0.76207469558795282"/>
        </c:manualLayout>
      </c:layout>
      <c:barChart>
        <c:barDir val="col"/>
        <c:grouping val="clustered"/>
        <c:varyColors val="0"/>
        <c:ser>
          <c:idx val="0"/>
          <c:order val="0"/>
          <c:tx>
            <c:strRef>
              <c:f>Sheet1!$B$1</c:f>
              <c:strCache>
                <c:ptCount val="1"/>
                <c:pt idx="0">
                  <c:v>Number</c:v>
                </c:pt>
              </c:strCache>
            </c:strRef>
          </c:tx>
          <c:spPr>
            <a:solidFill>
              <a:srgbClr val="2251FF"/>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1-40FC-4AC3-9BDD-2CF76E9B3A72}"/>
              </c:ext>
            </c:extLst>
          </c:dPt>
          <c:dPt>
            <c:idx val="1"/>
            <c:invertIfNegative val="0"/>
            <c:bubble3D val="0"/>
            <c:spPr>
              <a:solidFill>
                <a:srgbClr val="00A9F4"/>
              </a:solidFill>
              <a:ln>
                <a:noFill/>
              </a:ln>
              <a:effectLst/>
            </c:spPr>
            <c:extLst>
              <c:ext xmlns:c16="http://schemas.microsoft.com/office/drawing/2014/chart" uri="{C3380CC4-5D6E-409C-BE32-E72D297353CC}">
                <c16:uniqueId val="{00000003-40FC-4AC3-9BDD-2CF76E9B3A72}"/>
              </c:ext>
            </c:extLst>
          </c:dPt>
          <c:dLbls>
            <c:numFmt formatCode="#,##0.00" sourceLinked="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2023</c:v>
                </c:pt>
                <c:pt idx="1">
                  <c:v>2024</c:v>
                </c:pt>
              </c:numCache>
            </c:numRef>
          </c:cat>
          <c:val>
            <c:numRef>
              <c:f>Sheet1!$B$2:$B$3</c:f>
              <c:numCache>
                <c:formatCode>General</c:formatCode>
                <c:ptCount val="2"/>
                <c:pt idx="0">
                  <c:v>8.01</c:v>
                </c:pt>
                <c:pt idx="1">
                  <c:v>7.94</c:v>
                </c:pt>
              </c:numCache>
            </c:numRef>
          </c:val>
          <c:extLst>
            <c:ext xmlns:c16="http://schemas.microsoft.com/office/drawing/2014/chart" uri="{C3380CC4-5D6E-409C-BE32-E72D297353CC}">
              <c16:uniqueId val="{00000004-40FC-4AC3-9BDD-2CF76E9B3A72}"/>
            </c:ext>
          </c:extLst>
        </c:ser>
        <c:dLbls>
          <c:dLblPos val="outEnd"/>
          <c:showLegendKey val="0"/>
          <c:showVal val="1"/>
          <c:showCatName val="0"/>
          <c:showSerName val="0"/>
          <c:showPercent val="0"/>
          <c:showBubbleSize val="0"/>
        </c:dLbls>
        <c:gapWidth val="77"/>
        <c:overlap val="-27"/>
        <c:axId val="826714416"/>
        <c:axId val="826709136"/>
      </c:barChart>
      <c:catAx>
        <c:axId val="826714416"/>
        <c:scaling>
          <c:orientation val="minMax"/>
        </c:scaling>
        <c:delete val="1"/>
        <c:axPos val="b"/>
        <c:numFmt formatCode="General" sourceLinked="1"/>
        <c:majorTickMark val="none"/>
        <c:minorTickMark val="none"/>
        <c:tickLblPos val="nextTo"/>
        <c:crossAx val="826709136"/>
        <c:crosses val="autoZero"/>
        <c:auto val="1"/>
        <c:lblAlgn val="ctr"/>
        <c:lblOffset val="100"/>
        <c:noMultiLvlLbl val="0"/>
      </c:catAx>
      <c:valAx>
        <c:axId val="826709136"/>
        <c:scaling>
          <c:orientation val="minMax"/>
          <c:max val="2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5"/>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452311055912047E-2"/>
          <c:y val="0.17213196965055855"/>
          <c:w val="0.90226894925253764"/>
          <c:h val="0.35490765865281654"/>
        </c:manualLayout>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1"/>
            <c:invertIfNegative val="0"/>
            <c:bubble3D val="0"/>
            <c:spPr>
              <a:solidFill>
                <a:schemeClr val="bg1">
                  <a:lumMod val="85000"/>
                </a:schemeClr>
              </a:solidFill>
              <a:ln>
                <a:noFill/>
              </a:ln>
              <a:effectLst/>
            </c:spPr>
            <c:extLst>
              <c:ext xmlns:c16="http://schemas.microsoft.com/office/drawing/2014/chart" uri="{C3380CC4-5D6E-409C-BE32-E72D297353CC}">
                <c16:uniqueId val="{00000001-F7E1-488E-9B2F-8359F8485218}"/>
              </c:ext>
            </c:extLst>
          </c:dPt>
          <c:dPt>
            <c:idx val="7"/>
            <c:invertIfNegative val="0"/>
            <c:bubble3D val="0"/>
            <c:spPr>
              <a:solidFill>
                <a:schemeClr val="bg1">
                  <a:lumMod val="85000"/>
                </a:schemeClr>
              </a:solidFill>
              <a:ln>
                <a:noFill/>
              </a:ln>
              <a:effectLst/>
            </c:spPr>
            <c:extLst>
              <c:ext xmlns:c16="http://schemas.microsoft.com/office/drawing/2014/chart" uri="{C3380CC4-5D6E-409C-BE32-E72D297353CC}">
                <c16:uniqueId val="{00000003-F7E1-488E-9B2F-8359F8485218}"/>
              </c:ext>
            </c:extLst>
          </c:dPt>
          <c:dPt>
            <c:idx val="8"/>
            <c:invertIfNegative val="0"/>
            <c:bubble3D val="0"/>
            <c:spPr>
              <a:solidFill>
                <a:schemeClr val="bg1">
                  <a:lumMod val="85000"/>
                </a:schemeClr>
              </a:solidFill>
              <a:ln>
                <a:noFill/>
              </a:ln>
              <a:effectLst/>
            </c:spPr>
            <c:extLst>
              <c:ext xmlns:c16="http://schemas.microsoft.com/office/drawing/2014/chart" uri="{C3380CC4-5D6E-409C-BE32-E72D297353CC}">
                <c16:uniqueId val="{00000005-F7E1-488E-9B2F-8359F8485218}"/>
              </c:ext>
            </c:extLst>
          </c:dPt>
          <c:cat>
            <c:strRef>
              <c:f>Sheet1!$A$2:$A$10</c:f>
              <c:strCache>
                <c:ptCount val="9"/>
                <c:pt idx="0">
                  <c:v>G</c:v>
                </c:pt>
                <c:pt idx="1">
                  <c:v>B</c:v>
                </c:pt>
                <c:pt idx="2">
                  <c:v>Z</c:v>
                </c:pt>
                <c:pt idx="3">
                  <c:v>Y</c:v>
                </c:pt>
                <c:pt idx="4">
                  <c:v>X</c:v>
                </c:pt>
                <c:pt idx="5">
                  <c:v>C</c:v>
                </c:pt>
                <c:pt idx="6">
                  <c:v>F</c:v>
                </c:pt>
                <c:pt idx="7">
                  <c:v>E</c:v>
                </c:pt>
                <c:pt idx="8">
                  <c:v>D</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extLst>
            <c:ext xmlns:c16="http://schemas.microsoft.com/office/drawing/2014/chart" uri="{C3380CC4-5D6E-409C-BE32-E72D297353CC}">
              <c16:uniqueId val="{00000006-F7E1-488E-9B2F-8359F8485218}"/>
            </c:ext>
          </c:extLst>
        </c:ser>
        <c:ser>
          <c:idx val="1"/>
          <c:order val="1"/>
          <c:tx>
            <c:strRef>
              <c:f>Sheet1!$C$1</c:f>
              <c:strCache>
                <c:ptCount val="1"/>
                <c:pt idx="0">
                  <c:v>2024</c:v>
                </c:pt>
              </c:strCache>
            </c:strRef>
          </c:tx>
          <c:spPr>
            <a:solidFill>
              <a:srgbClr val="00A9F4"/>
            </a:solidFill>
            <a:ln>
              <a:noFill/>
            </a:ln>
            <a:effectLst/>
          </c:spPr>
          <c:invertIfNegative val="0"/>
          <c:cat>
            <c:strRef>
              <c:f>Sheet1!$A$2:$A$10</c:f>
              <c:strCache>
                <c:ptCount val="9"/>
                <c:pt idx="0">
                  <c:v>G</c:v>
                </c:pt>
                <c:pt idx="1">
                  <c:v>B</c:v>
                </c:pt>
                <c:pt idx="2">
                  <c:v>Z</c:v>
                </c:pt>
                <c:pt idx="3">
                  <c:v>Y</c:v>
                </c:pt>
                <c:pt idx="4">
                  <c:v>X</c:v>
                </c:pt>
                <c:pt idx="5">
                  <c:v>C</c:v>
                </c:pt>
                <c:pt idx="6">
                  <c:v>F</c:v>
                </c:pt>
                <c:pt idx="7">
                  <c:v>E</c:v>
                </c:pt>
                <c:pt idx="8">
                  <c:v>D</c:v>
                </c:pt>
              </c:strCache>
            </c:strRef>
          </c:cat>
          <c:val>
            <c:numRef>
              <c:f>Sheet1!$C$2:$C$10</c:f>
              <c:numCache>
                <c:formatCode>General</c:formatCode>
                <c:ptCount val="9"/>
                <c:pt idx="0">
                  <c:v>0</c:v>
                </c:pt>
                <c:pt idx="1">
                  <c:v>0</c:v>
                </c:pt>
                <c:pt idx="2">
                  <c:v>0</c:v>
                </c:pt>
                <c:pt idx="3">
                  <c:v>0</c:v>
                </c:pt>
                <c:pt idx="4">
                  <c:v>0</c:v>
                </c:pt>
                <c:pt idx="5">
                  <c:v>0</c:v>
                </c:pt>
                <c:pt idx="6">
                  <c:v>0</c:v>
                </c:pt>
                <c:pt idx="7">
                  <c:v>0</c:v>
                </c:pt>
                <c:pt idx="8">
                  <c:v>0</c:v>
                </c:pt>
              </c:numCache>
            </c:numRef>
          </c:val>
          <c:extLst>
            <c:ext xmlns:c16="http://schemas.microsoft.com/office/drawing/2014/chart" uri="{C3380CC4-5D6E-409C-BE32-E72D297353CC}">
              <c16:uniqueId val="{00000007-F7E1-488E-9B2F-8359F8485218}"/>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20"/>
          <c:min val="0"/>
        </c:scaling>
        <c:delete val="1"/>
        <c:axPos val="l"/>
        <c:numFmt formatCode="General" sourceLinked="1"/>
        <c:majorTickMark val="out"/>
        <c:minorTickMark val="none"/>
        <c:tickLblPos val="nextTo"/>
        <c:crossAx val="826714416"/>
        <c:crosses val="autoZero"/>
        <c:crossBetween val="between"/>
        <c:majorUnit val="5"/>
      </c:valAx>
      <c:spPr>
        <a:noFill/>
        <a:ln>
          <a:solidFill>
            <a:schemeClr val="bg1">
              <a:lumMod val="85000"/>
            </a:schemeClr>
          </a:solidFill>
        </a:ln>
        <a:effectLst/>
      </c:spPr>
    </c:plotArea>
    <c:legend>
      <c:legendPos val="t"/>
      <c:layout>
        <c:manualLayout>
          <c:xMode val="edge"/>
          <c:yMode val="edge"/>
          <c:x val="3.602255311145703E-2"/>
          <c:y val="6.934478711205927E-2"/>
          <c:w val="0.94402983249677319"/>
          <c:h val="0.93065447622280084"/>
        </c:manualLayout>
      </c:layout>
      <c:overlay val="0"/>
      <c:spPr>
        <a:solidFill>
          <a:schemeClr val="bg1"/>
        </a:solid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Ranking score</c:v>
                </c:pt>
              </c:strCache>
            </c:strRef>
          </c:tx>
          <c:spPr>
            <a:solidFill>
              <a:srgbClr val="14B8AB"/>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B</c:v>
                </c:pt>
                <c:pt idx="1">
                  <c:v>E</c:v>
                </c:pt>
                <c:pt idx="2">
                  <c:v>Y</c:v>
                </c:pt>
                <c:pt idx="3">
                  <c:v>X</c:v>
                </c:pt>
                <c:pt idx="4">
                  <c:v>G</c:v>
                </c:pt>
                <c:pt idx="5">
                  <c:v>Z</c:v>
                </c:pt>
                <c:pt idx="6">
                  <c:v>F</c:v>
                </c:pt>
                <c:pt idx="7">
                  <c:v>D</c:v>
                </c:pt>
                <c:pt idx="8">
                  <c:v>C</c:v>
                </c:pt>
              </c:strCache>
            </c:strRef>
          </c:cat>
          <c:val>
            <c:numRef>
              <c:f>Sheet1!$B$2:$B$10</c:f>
              <c:numCache>
                <c:formatCode>0.00</c:formatCode>
                <c:ptCount val="9"/>
                <c:pt idx="0">
                  <c:v>0.7479694729506785</c:v>
                </c:pt>
                <c:pt idx="1">
                  <c:v>0.5880787736108164</c:v>
                </c:pt>
                <c:pt idx="2">
                  <c:v>0.48855238733834289</c:v>
                </c:pt>
                <c:pt idx="3">
                  <c:v>0.47634601114210173</c:v>
                </c:pt>
                <c:pt idx="4">
                  <c:v>0.40949781963703902</c:v>
                </c:pt>
                <c:pt idx="5">
                  <c:v>0.33878480867562311</c:v>
                </c:pt>
                <c:pt idx="6">
                  <c:v>0.26851264782454293</c:v>
                </c:pt>
                <c:pt idx="7">
                  <c:v>0.26259831993372579</c:v>
                </c:pt>
                <c:pt idx="8">
                  <c:v>7.5488899260882661E-2</c:v>
                </c:pt>
              </c:numCache>
            </c:numRef>
          </c:val>
          <c:extLst>
            <c:ext xmlns:c16="http://schemas.microsoft.com/office/drawing/2014/chart" uri="{C3380CC4-5D6E-409C-BE32-E72D297353CC}">
              <c16:uniqueId val="{00000000-6509-45E3-8903-4C8ECA56B319}"/>
            </c:ext>
          </c:extLst>
        </c:ser>
        <c:dLbls>
          <c:showLegendKey val="0"/>
          <c:showVal val="0"/>
          <c:showCatName val="0"/>
          <c:showSerName val="0"/>
          <c:showPercent val="0"/>
          <c:showBubbleSize val="0"/>
        </c:dLbls>
        <c:gapWidth val="68"/>
        <c:overlap val="-27"/>
        <c:axId val="831954112"/>
        <c:axId val="831950752"/>
      </c:barChart>
      <c:catAx>
        <c:axId val="83195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31950752"/>
        <c:crosses val="autoZero"/>
        <c:auto val="1"/>
        <c:lblAlgn val="ctr"/>
        <c:lblOffset val="100"/>
        <c:noMultiLvlLbl val="0"/>
      </c:catAx>
      <c:valAx>
        <c:axId val="831950752"/>
        <c:scaling>
          <c:orientation val="minMax"/>
          <c:max val="1"/>
        </c:scaling>
        <c:delete val="1"/>
        <c:axPos val="l"/>
        <c:numFmt formatCode="0.00" sourceLinked="1"/>
        <c:majorTickMark val="out"/>
        <c:minorTickMark val="none"/>
        <c:tickLblPos val="nextTo"/>
        <c:crossAx val="831954112"/>
        <c:crosses val="autoZero"/>
        <c:crossBetween val="between"/>
      </c:valAx>
      <c:spPr>
        <a:noFill/>
        <a:ln>
          <a:solidFill>
            <a:schemeClr val="bg1">
              <a:lumMod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bg1">
                <a:lumMod val="85000"/>
              </a:schemeClr>
            </a:solidFill>
            <a:ln>
              <a:noFill/>
            </a:ln>
            <a:effectLst/>
          </c:spPr>
          <c:invertIfNegative val="0"/>
          <c:dPt>
            <c:idx val="3"/>
            <c:invertIfNegative val="0"/>
            <c:bubble3D val="0"/>
            <c:spPr>
              <a:solidFill>
                <a:schemeClr val="bg1">
                  <a:lumMod val="85000"/>
                </a:schemeClr>
              </a:solidFill>
              <a:ln>
                <a:noFill/>
              </a:ln>
              <a:effectLst/>
            </c:spPr>
            <c:extLst>
              <c:ext xmlns:c16="http://schemas.microsoft.com/office/drawing/2014/chart" uri="{C3380CC4-5D6E-409C-BE32-E72D297353CC}">
                <c16:uniqueId val="{00000001-8D61-4F03-9A12-BC23DD169C64}"/>
              </c:ext>
            </c:extLst>
          </c:dPt>
          <c:dPt>
            <c:idx val="5"/>
            <c:invertIfNegative val="0"/>
            <c:bubble3D val="0"/>
            <c:spPr>
              <a:solidFill>
                <a:schemeClr val="bg1">
                  <a:lumMod val="85000"/>
                </a:schemeClr>
              </a:solidFill>
              <a:ln>
                <a:noFill/>
              </a:ln>
              <a:effectLst/>
            </c:spPr>
            <c:extLst>
              <c:ext xmlns:c16="http://schemas.microsoft.com/office/drawing/2014/chart" uri="{C3380CC4-5D6E-409C-BE32-E72D297353CC}">
                <c16:uniqueId val="{00000003-8D61-4F03-9A12-BC23DD169C64}"/>
              </c:ext>
            </c:extLst>
          </c:dPt>
          <c:dPt>
            <c:idx val="6"/>
            <c:invertIfNegative val="0"/>
            <c:bubble3D val="0"/>
            <c:spPr>
              <a:solidFill>
                <a:schemeClr val="bg1">
                  <a:lumMod val="85000"/>
                </a:schemeClr>
              </a:solidFill>
              <a:ln>
                <a:noFill/>
              </a:ln>
              <a:effectLst/>
            </c:spPr>
            <c:extLst>
              <c:ext xmlns:c16="http://schemas.microsoft.com/office/drawing/2014/chart" uri="{C3380CC4-5D6E-409C-BE32-E72D297353CC}">
                <c16:uniqueId val="{00000005-8D61-4F03-9A12-BC23DD169C64}"/>
              </c:ext>
            </c:extLst>
          </c:dPt>
          <c:dPt>
            <c:idx val="8"/>
            <c:invertIfNegative val="0"/>
            <c:bubble3D val="0"/>
            <c:spPr>
              <a:solidFill>
                <a:schemeClr val="bg1">
                  <a:lumMod val="85000"/>
                </a:schemeClr>
              </a:solidFill>
              <a:ln>
                <a:noFill/>
              </a:ln>
              <a:effectLst/>
            </c:spPr>
            <c:extLst>
              <c:ext xmlns:c16="http://schemas.microsoft.com/office/drawing/2014/chart" uri="{C3380CC4-5D6E-409C-BE32-E72D297353CC}">
                <c16:uniqueId val="{00000007-8D61-4F03-9A12-BC23DD169C64}"/>
              </c:ext>
            </c:extLst>
          </c:dPt>
          <c:cat>
            <c:strRef>
              <c:f>Sheet1!$A$2:$A$10</c:f>
              <c:strCache>
                <c:ptCount val="9"/>
                <c:pt idx="0">
                  <c:v>E</c:v>
                </c:pt>
                <c:pt idx="1">
                  <c:v>D</c:v>
                </c:pt>
                <c:pt idx="2">
                  <c:v>F</c:v>
                </c:pt>
                <c:pt idx="3">
                  <c:v>X</c:v>
                </c:pt>
                <c:pt idx="4">
                  <c:v>Z</c:v>
                </c:pt>
                <c:pt idx="5">
                  <c:v>Y</c:v>
                </c:pt>
                <c:pt idx="6">
                  <c:v>B</c:v>
                </c:pt>
                <c:pt idx="7">
                  <c:v>G</c:v>
                </c:pt>
                <c:pt idx="8">
                  <c:v>C</c:v>
                </c:pt>
              </c:strCache>
            </c:strRef>
          </c:cat>
          <c:val>
            <c:numRef>
              <c:f>Sheet1!$B$2:$B$10</c:f>
              <c:numCache>
                <c:formatCode>General</c:formatCode>
                <c:ptCount val="9"/>
                <c:pt idx="0">
                  <c:v>11317230</c:v>
                </c:pt>
                <c:pt idx="1">
                  <c:v>6456578</c:v>
                </c:pt>
                <c:pt idx="2">
                  <c:v>12737540</c:v>
                </c:pt>
                <c:pt idx="3">
                  <c:v>8268093</c:v>
                </c:pt>
                <c:pt idx="4">
                  <c:v>4667401</c:v>
                </c:pt>
                <c:pt idx="5">
                  <c:v>1985922</c:v>
                </c:pt>
                <c:pt idx="6">
                  <c:v>1697176</c:v>
                </c:pt>
                <c:pt idx="7">
                  <c:v>871098</c:v>
                </c:pt>
                <c:pt idx="8">
                  <c:v>902722</c:v>
                </c:pt>
              </c:numCache>
            </c:numRef>
          </c:val>
          <c:extLst>
            <c:ext xmlns:c16="http://schemas.microsoft.com/office/drawing/2014/chart" uri="{C3380CC4-5D6E-409C-BE32-E72D297353CC}">
              <c16:uniqueId val="{00000008-8D61-4F03-9A12-BC23DD169C64}"/>
            </c:ext>
          </c:extLst>
        </c:ser>
        <c:ser>
          <c:idx val="1"/>
          <c:order val="1"/>
          <c:tx>
            <c:strRef>
              <c:f>Sheet1!$C$1</c:f>
              <c:strCache>
                <c:ptCount val="1"/>
                <c:pt idx="0">
                  <c:v>2024</c:v>
                </c:pt>
              </c:strCache>
            </c:strRef>
          </c:tx>
          <c:spPr>
            <a:solidFill>
              <a:srgbClr val="00A9F4"/>
            </a:solidFill>
            <a:ln>
              <a:noFill/>
            </a:ln>
            <a:effectLst/>
          </c:spPr>
          <c:invertIfNegative val="0"/>
          <c:cat>
            <c:strRef>
              <c:f>Sheet1!$A$2:$A$10</c:f>
              <c:strCache>
                <c:ptCount val="9"/>
                <c:pt idx="0">
                  <c:v>E</c:v>
                </c:pt>
                <c:pt idx="1">
                  <c:v>D</c:v>
                </c:pt>
                <c:pt idx="2">
                  <c:v>F</c:v>
                </c:pt>
                <c:pt idx="3">
                  <c:v>X</c:v>
                </c:pt>
                <c:pt idx="4">
                  <c:v>Z</c:v>
                </c:pt>
                <c:pt idx="5">
                  <c:v>Y</c:v>
                </c:pt>
                <c:pt idx="6">
                  <c:v>B</c:v>
                </c:pt>
                <c:pt idx="7">
                  <c:v>G</c:v>
                </c:pt>
                <c:pt idx="8">
                  <c:v>C</c:v>
                </c:pt>
              </c:strCache>
            </c:strRef>
          </c:cat>
          <c:val>
            <c:numRef>
              <c:f>Sheet1!$C$2:$C$10</c:f>
              <c:numCache>
                <c:formatCode>General</c:formatCode>
                <c:ptCount val="9"/>
                <c:pt idx="0">
                  <c:v>13364856</c:v>
                </c:pt>
                <c:pt idx="1">
                  <c:v>11865918</c:v>
                </c:pt>
                <c:pt idx="2">
                  <c:v>11652150</c:v>
                </c:pt>
                <c:pt idx="3">
                  <c:v>11192622</c:v>
                </c:pt>
                <c:pt idx="4">
                  <c:v>4910049</c:v>
                </c:pt>
                <c:pt idx="5">
                  <c:v>4204121</c:v>
                </c:pt>
                <c:pt idx="6">
                  <c:v>1865134</c:v>
                </c:pt>
                <c:pt idx="7">
                  <c:v>844722</c:v>
                </c:pt>
                <c:pt idx="8">
                  <c:v>728461</c:v>
                </c:pt>
              </c:numCache>
            </c:numRef>
          </c:val>
          <c:extLst>
            <c:ext xmlns:c16="http://schemas.microsoft.com/office/drawing/2014/chart" uri="{C3380CC4-5D6E-409C-BE32-E72D297353CC}">
              <c16:uniqueId val="{00000009-8D61-4F03-9A12-BC23DD169C64}"/>
            </c:ext>
          </c:extLst>
        </c:ser>
        <c:dLbls>
          <c:showLegendKey val="0"/>
          <c:showVal val="0"/>
          <c:showCatName val="0"/>
          <c:showSerName val="0"/>
          <c:showPercent val="0"/>
          <c:showBubbleSize val="0"/>
        </c:dLbls>
        <c:gapWidth val="66"/>
        <c:axId val="826714416"/>
        <c:axId val="826709136"/>
      </c:barChart>
      <c:catAx>
        <c:axId val="82671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09136"/>
        <c:crosses val="autoZero"/>
        <c:auto val="1"/>
        <c:lblAlgn val="ctr"/>
        <c:lblOffset val="100"/>
        <c:noMultiLvlLbl val="0"/>
      </c:catAx>
      <c:valAx>
        <c:axId val="826709136"/>
        <c:scaling>
          <c:orientation val="minMax"/>
          <c:max val="16000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26714416"/>
        <c:crosses val="autoZero"/>
        <c:crossBetween val="between"/>
        <c:majorUnit val="2000000"/>
        <c:dispUnits>
          <c:builtInUnit val="millions"/>
        </c:dispUnits>
      </c:valAx>
      <c:spPr>
        <a:noFill/>
        <a:ln>
          <a:solidFill>
            <a:schemeClr val="bg1">
              <a:lumMod val="85000"/>
            </a:schemeClr>
          </a:solidFill>
        </a:ln>
        <a:effectLst/>
      </c:spPr>
    </c:plotArea>
    <c:legend>
      <c:legendPos val="t"/>
      <c:layout>
        <c:manualLayout>
          <c:xMode val="edge"/>
          <c:yMode val="edge"/>
          <c:x val="1.0800653033703391E-3"/>
          <c:y val="8.0031130219156109E-3"/>
          <c:w val="0.22727764751239696"/>
          <c:h val="9.171157914968500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Orders</cx:pt>
          <cx:pt idx="1">Fees</cx:pt>
          <cx:pt idx="2">AOV</cx:pt>
          <cx:pt idx="3">Interaction**</cx:pt>
          <cx:pt idx="4">Total 
(GMV growth)</cx:pt>
        </cx:lvl>
      </cx:strDim>
      <cx:numDim type="val">
        <cx:f>Sheet1!$B$2:$B$6</cx:f>
        <cx:lvl ptCount="5" formatCode="General">
          <cx:pt idx="0">90</cx:pt>
          <cx:pt idx="1">14</cx:pt>
          <cx:pt idx="2">-3</cx:pt>
          <cx:pt idx="3">-1</cx:pt>
          <cx:pt idx="4">100</cx:pt>
        </cx:lvl>
      </cx:numDim>
    </cx:data>
  </cx:chartData>
  <cx:chart>
    <cx:plotArea>
      <cx:plotAreaRegion>
        <cx:plotSurface>
          <cx:spPr>
            <a:ln>
              <a:solidFill>
                <a:schemeClr val="bg1">
                  <a:lumMod val="75000"/>
                </a:schemeClr>
              </a:solidFill>
            </a:ln>
          </cx:spPr>
        </cx:plotSurface>
        <cx:series layoutId="waterfall" uniqueId="{0F5DBA9D-4470-4EB9-ABE6-9EB8B5765B23}">
          <cx:tx>
            <cx:txData>
              <cx:f>Sheet1!$B$1</cx:f>
              <cx:v>Series1</cx:v>
            </cx:txData>
          </cx:tx>
          <cx:dataPt idx="0">
            <cx:spPr>
              <a:solidFill>
                <a:srgbClr val="00B050"/>
              </a:solidFill>
              <a:ln>
                <a:solidFill>
                  <a:srgbClr val="00B050"/>
                </a:solidFill>
              </a:ln>
            </cx:spPr>
          </cx:dataPt>
          <cx:dataPt idx="1">
            <cx:spPr>
              <a:solidFill>
                <a:srgbClr val="00B050"/>
              </a:solidFill>
            </cx:spPr>
          </cx:dataPt>
          <cx:dataPt idx="2">
            <cx:spPr>
              <a:solidFill>
                <a:srgbClr val="C00000"/>
              </a:solidFill>
            </cx:spPr>
          </cx:dataPt>
          <cx:dataPt idx="3">
            <cx:spPr>
              <a:solidFill>
                <a:srgbClr val="C00000"/>
              </a:solidFill>
            </cx:spPr>
          </cx:dataPt>
          <cx:dataPt idx="4">
            <cx:spPr>
              <a:solidFill>
                <a:prstClr val="black">
                  <a:lumMod val="85000"/>
                  <a:lumOff val="15000"/>
                </a:prstClr>
              </a:solidFill>
              <a:ln>
                <a:solidFill>
                  <a:srgbClr val="262626"/>
                </a:solidFill>
              </a:ln>
            </cx:spPr>
          </cx:dataPt>
          <cx:dataLabels pos="outEnd">
            <cx:txPr>
              <a:bodyPr spcFirstLastPara="1" vertOverflow="ellipsis" horzOverflow="overflow" wrap="square" lIns="0" tIns="0" rIns="0" bIns="0" anchor="ctr" anchorCtr="1"/>
              <a:lstStyle/>
              <a:p>
                <a:pPr algn="ctr" rtl="0">
                  <a:defRPr sz="1400">
                    <a:latin typeface="Calibri" panose="020F0502020204030204" pitchFamily="34" charset="0"/>
                    <a:ea typeface="Calibri" panose="020F0502020204030204" pitchFamily="34" charset="0"/>
                    <a:cs typeface="Calibri" panose="020F0502020204030204" pitchFamily="34" charset="0"/>
                  </a:defRPr>
                </a:pPr>
                <a:endParaRPr lang="en-US" sz="1400" b="0" i="0" u="none" strike="noStrike" baseline="0">
                  <a:solidFill>
                    <a:prstClr val="black">
                      <a:lumMod val="65000"/>
                      <a:lumOff val="35000"/>
                    </a:prstClr>
                  </a:solidFill>
                  <a:latin typeface="Calibri" panose="020F0502020204030204" pitchFamily="34" charset="0"/>
                  <a:ea typeface="Calibri" panose="020F0502020204030204" pitchFamily="34" charset="0"/>
                  <a:cs typeface="Calibri" panose="020F0502020204030204" pitchFamily="34" charset="0"/>
                </a:endParaRPr>
              </a:p>
            </cx:txPr>
            <cx:visibility seriesName="0" categoryName="0" value="1"/>
          </cx:dataLabels>
          <cx:dataId val="0"/>
          <cx:layoutPr>
            <cx:subtotals>
              <cx:idx val="4"/>
            </cx:subtotals>
          </cx:layoutPr>
        </cx:series>
      </cx:plotAreaRegion>
      <cx:axis id="0">
        <cx:catScaling gapWidth="0.970000029"/>
        <cx:tickLabels/>
        <cx:spPr>
          <a:ln>
            <a:noFill/>
          </a:ln>
        </cx:spPr>
        <cx:txPr>
          <a:bodyPr spcFirstLastPara="1" vertOverflow="ellipsis" horzOverflow="overflow" wrap="square" lIns="0" tIns="0" rIns="0" bIns="0" anchor="ctr" anchorCtr="1"/>
          <a:lstStyle/>
          <a:p>
            <a:pPr algn="ctr" rtl="0">
              <a:defRPr sz="1400">
                <a:latin typeface="Calibri" panose="020F0502020204030204" pitchFamily="34" charset="0"/>
                <a:ea typeface="Calibri" panose="020F0502020204030204" pitchFamily="34" charset="0"/>
                <a:cs typeface="Calibri" panose="020F0502020204030204" pitchFamily="34" charset="0"/>
              </a:defRPr>
            </a:pPr>
            <a:endParaRPr lang="en-US" sz="1400" b="0" i="0" u="none" strike="noStrike" baseline="0">
              <a:solidFill>
                <a:prstClr val="black">
                  <a:lumMod val="65000"/>
                  <a:lumOff val="35000"/>
                </a:prstClr>
              </a:solidFill>
              <a:latin typeface="Calibri" panose="020F0502020204030204" pitchFamily="34" charset="0"/>
              <a:ea typeface="Calibri" panose="020F0502020204030204" pitchFamily="34" charset="0"/>
              <a:cs typeface="Calibri" panose="020F0502020204030204" pitchFamily="34" charset="0"/>
            </a:endParaRPr>
          </a:p>
        </cx:txPr>
      </cx:axis>
      <cx:axis id="1" hidden="1">
        <cx:valScaling/>
        <cx:tickLabels/>
        <cx:spPr>
          <a:ln>
            <a:noFill/>
          </a:ln>
        </cx:sp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95F70E-2283-4B6D-D27D-3F5B322B3E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8980A6-71B9-0F66-1AFC-4A943DF385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99A1C9-DD1B-4AC6-A1CF-4B389C53C67D}" type="datetimeFigureOut">
              <a:rPr lang="en-US" smtClean="0"/>
              <a:t>10/29/2026</a:t>
            </a:fld>
            <a:endParaRPr lang="en-US"/>
          </a:p>
        </p:txBody>
      </p:sp>
      <p:sp>
        <p:nvSpPr>
          <p:cNvPr id="4" name="Footer Placeholder 3">
            <a:extLst>
              <a:ext uri="{FF2B5EF4-FFF2-40B4-BE49-F238E27FC236}">
                <a16:creationId xmlns:a16="http://schemas.microsoft.com/office/drawing/2014/main" id="{1999F6D3-2918-21C8-43D5-E5B39923EA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9E8FEB-9BF2-E4D8-C15D-82990E98E5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CFECEB-146C-4BCF-BF70-FD8A5FD819C1}" type="slidenum">
              <a:rPr lang="en-US" smtClean="0"/>
              <a:t>‹#›</a:t>
            </a:fld>
            <a:endParaRPr lang="en-US"/>
          </a:p>
        </p:txBody>
      </p:sp>
    </p:spTree>
    <p:extLst>
      <p:ext uri="{BB962C8B-B14F-4D97-AF65-F5344CB8AC3E}">
        <p14:creationId xmlns:p14="http://schemas.microsoft.com/office/powerpoint/2010/main" val="41969740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53D37-A020-4D69-ADA3-0FFE1FCD8893}"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F9B8F-44D1-479C-AD48-55AC12F4EC5A}" type="slidenum">
              <a:rPr lang="en-US" smtClean="0"/>
              <a:t>‹#›</a:t>
            </a:fld>
            <a:endParaRPr lang="en-US"/>
          </a:p>
        </p:txBody>
      </p:sp>
    </p:spTree>
    <p:extLst>
      <p:ext uri="{BB962C8B-B14F-4D97-AF65-F5344CB8AC3E}">
        <p14:creationId xmlns:p14="http://schemas.microsoft.com/office/powerpoint/2010/main" val="10997303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AA441C-A753-26F0-5EFA-358562954A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1" y="-1"/>
            <a:ext cx="12192001" cy="6858001"/>
          </a:xfrm>
          <a:prstGeom prst="rect">
            <a:avLst/>
          </a:prstGeom>
        </p:spPr>
      </p:pic>
      <p:sp>
        <p:nvSpPr>
          <p:cNvPr id="5" name="Footer Placeholder 4">
            <a:extLst>
              <a:ext uri="{FF2B5EF4-FFF2-40B4-BE49-F238E27FC236}">
                <a16:creationId xmlns:a16="http://schemas.microsoft.com/office/drawing/2014/main" id="{7BD2E0F0-61F6-2CE8-368A-AF7A27BA14A4}"/>
              </a:ext>
            </a:extLst>
          </p:cNvPr>
          <p:cNvSpPr>
            <a:spLocks noGrp="1"/>
          </p:cNvSpPr>
          <p:nvPr>
            <p:ph type="ftr" sz="quarter" idx="11"/>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AF09612B-A2D5-CEB5-CE85-15B187188E6E}"/>
              </a:ext>
            </a:extLst>
          </p:cNvPr>
          <p:cNvSpPr>
            <a:spLocks noGrp="1"/>
          </p:cNvSpPr>
          <p:nvPr>
            <p:ph type="sldNum" sz="quarter" idx="12"/>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
        <p:nvSpPr>
          <p:cNvPr id="3" name="Subtitle 2">
            <a:extLst>
              <a:ext uri="{FF2B5EF4-FFF2-40B4-BE49-F238E27FC236}">
                <a16:creationId xmlns:a16="http://schemas.microsoft.com/office/drawing/2014/main" id="{604F2781-CDFF-1AB3-EF41-7FE7081A8F43}"/>
              </a:ext>
            </a:extLst>
          </p:cNvPr>
          <p:cNvSpPr>
            <a:spLocks noGrp="1"/>
          </p:cNvSpPr>
          <p:nvPr>
            <p:ph type="subTitle" idx="1"/>
          </p:nvPr>
        </p:nvSpPr>
        <p:spPr>
          <a:xfrm>
            <a:off x="596348" y="3602038"/>
            <a:ext cx="4800600" cy="1655762"/>
          </a:xfrm>
        </p:spPr>
        <p:txBody>
          <a:bodyPr>
            <a:normAutofit/>
          </a:bodyPr>
          <a:lstStyle>
            <a:lvl1pPr marL="0" indent="0" algn="ctr">
              <a:buNone/>
              <a:defRPr sz="20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AA5D06-F657-30FA-95E0-75FC6E2641AF}"/>
              </a:ext>
            </a:extLst>
          </p:cNvPr>
          <p:cNvSpPr>
            <a:spLocks noGrp="1"/>
          </p:cNvSpPr>
          <p:nvPr>
            <p:ph type="dt" sz="half"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93B42F34-5E55-446E-A737-106A2F9E70BC}" type="datetime1">
              <a:rPr lang="en-US" smtClean="0"/>
              <a:t>10/29/2026</a:t>
            </a:fld>
            <a:endParaRPr lang="en-US"/>
          </a:p>
        </p:txBody>
      </p:sp>
    </p:spTree>
    <p:extLst>
      <p:ext uri="{BB962C8B-B14F-4D97-AF65-F5344CB8AC3E}">
        <p14:creationId xmlns:p14="http://schemas.microsoft.com/office/powerpoint/2010/main" val="4244848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41C0DBB8-7B89-513C-064B-DE377D851E53}"/>
              </a:ext>
            </a:extLst>
          </p:cNvPr>
          <p:cNvSpPr>
            <a:spLocks noGrp="1"/>
          </p:cNvSpPr>
          <p:nvPr>
            <p:ph type="ftr" sz="quarter" idx="11"/>
          </p:nvPr>
        </p:nvSpPr>
        <p:spPr>
          <a:xfrm>
            <a:off x="4038600" y="6356350"/>
            <a:ext cx="4114800" cy="365125"/>
          </a:xfr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10" name="Slide Number Placeholder 5">
            <a:extLst>
              <a:ext uri="{FF2B5EF4-FFF2-40B4-BE49-F238E27FC236}">
                <a16:creationId xmlns:a16="http://schemas.microsoft.com/office/drawing/2014/main" id="{6E0508F2-1497-DAE0-5B20-B201209D91EA}"/>
              </a:ext>
            </a:extLst>
          </p:cNvPr>
          <p:cNvSpPr>
            <a:spLocks noGrp="1"/>
          </p:cNvSpPr>
          <p:nvPr>
            <p:ph type="sldNum" sz="quarter" idx="12"/>
          </p:nvPr>
        </p:nvSpPr>
        <p:spPr>
          <a:xfrm>
            <a:off x="8610600" y="6356350"/>
            <a:ext cx="2743200" cy="365125"/>
          </a:xfr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
        <p:nvSpPr>
          <p:cNvPr id="11" name="Subtitle 2">
            <a:extLst>
              <a:ext uri="{FF2B5EF4-FFF2-40B4-BE49-F238E27FC236}">
                <a16:creationId xmlns:a16="http://schemas.microsoft.com/office/drawing/2014/main" id="{1886A76D-CCA1-9820-A87A-703A2609ED09}"/>
              </a:ext>
            </a:extLst>
          </p:cNvPr>
          <p:cNvSpPr>
            <a:spLocks noGrp="1"/>
          </p:cNvSpPr>
          <p:nvPr>
            <p:ph type="subTitle" idx="1"/>
          </p:nvPr>
        </p:nvSpPr>
        <p:spPr>
          <a:xfrm>
            <a:off x="596348" y="3602038"/>
            <a:ext cx="4800600" cy="1655762"/>
          </a:xfrm>
        </p:spPr>
        <p:txBody>
          <a:bodyPr>
            <a:normAutofit/>
          </a:bodyPr>
          <a:lstStyle>
            <a:lvl1pPr marL="0" indent="0" algn="ctr">
              <a:buNone/>
              <a:defRPr sz="20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3">
            <a:extLst>
              <a:ext uri="{FF2B5EF4-FFF2-40B4-BE49-F238E27FC236}">
                <a16:creationId xmlns:a16="http://schemas.microsoft.com/office/drawing/2014/main" id="{C71125FF-A445-C912-6E6A-81F9AB26B851}"/>
              </a:ext>
            </a:extLst>
          </p:cNvPr>
          <p:cNvSpPr>
            <a:spLocks noGrp="1"/>
          </p:cNvSpPr>
          <p:nvPr>
            <p:ph type="dt" sz="half" idx="10"/>
          </p:nvPr>
        </p:nvSpPr>
        <p:spPr>
          <a:xfrm>
            <a:off x="838200" y="6356350"/>
            <a:ext cx="2743200" cy="365125"/>
          </a:xfr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93B42F34-5E55-446E-A737-106A2F9E70BC}" type="datetime1">
              <a:rPr lang="en-US" smtClean="0"/>
              <a:t>10/29/2026</a:t>
            </a:fld>
            <a:endParaRPr lang="en-US"/>
          </a:p>
        </p:txBody>
      </p:sp>
      <p:sp>
        <p:nvSpPr>
          <p:cNvPr id="13" name="Rectangle 12">
            <a:extLst>
              <a:ext uri="{FF2B5EF4-FFF2-40B4-BE49-F238E27FC236}">
                <a16:creationId xmlns:a16="http://schemas.microsoft.com/office/drawing/2014/main" id="{F7ADC94E-273F-0AFF-7487-51D5E4B4FDB7}"/>
              </a:ext>
            </a:extLst>
          </p:cNvPr>
          <p:cNvSpPr/>
          <p:nvPr userDrawn="1"/>
        </p:nvSpPr>
        <p:spPr>
          <a:xfrm flipV="1">
            <a:off x="830002" y="5289634"/>
            <a:ext cx="10531997" cy="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19208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0475C1-94D4-ED54-6D1A-8EEB84B230F3}"/>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8A2C909B-1645-4398-A9D4-CD9311AF4ECC}" type="datetime1">
              <a:rPr lang="en-US" smtClean="0"/>
              <a:t>10/29/2026</a:t>
            </a:fld>
            <a:endParaRPr lang="en-US"/>
          </a:p>
        </p:txBody>
      </p:sp>
      <p:sp>
        <p:nvSpPr>
          <p:cNvPr id="5" name="Footer Placeholder 4">
            <a:extLst>
              <a:ext uri="{FF2B5EF4-FFF2-40B4-BE49-F238E27FC236}">
                <a16:creationId xmlns:a16="http://schemas.microsoft.com/office/drawing/2014/main" id="{9AC07D1F-1E8F-6BD0-D9BF-A37C083B4556}"/>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3831A316-E590-D6DF-BBC3-71A1CB588479}"/>
              </a:ext>
            </a:extLst>
          </p:cNvPr>
          <p:cNvSpPr>
            <a:spLocks noGrp="1"/>
          </p:cNvSpPr>
          <p:nvPr>
            <p:ph type="sldNum" sz="quarter" idx="12"/>
          </p:nvPr>
        </p:nvSpPr>
        <p:spPr/>
        <p:txBody>
          <a:bodyPr/>
          <a:lstStyle>
            <a:lvl1pPr>
              <a:defRPr>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defRPr>
            </a:lvl1pPr>
          </a:lstStyle>
          <a:p>
            <a:fld id="{558ED922-7EDD-473A-8362-50B58FFACA46}" type="slidenum">
              <a:rPr lang="en-US" smtClean="0"/>
              <a:pPr/>
              <a:t>‹#›</a:t>
            </a:fld>
            <a:endParaRPr lang="en-US"/>
          </a:p>
        </p:txBody>
      </p:sp>
      <p:sp>
        <p:nvSpPr>
          <p:cNvPr id="7" name="Title 1">
            <a:extLst>
              <a:ext uri="{FF2B5EF4-FFF2-40B4-BE49-F238E27FC236}">
                <a16:creationId xmlns:a16="http://schemas.microsoft.com/office/drawing/2014/main" id="{C0E0D656-7790-9145-25EB-E16449E64DB9}"/>
              </a:ext>
            </a:extLst>
          </p:cNvPr>
          <p:cNvSpPr>
            <a:spLocks noGrp="1"/>
          </p:cNvSpPr>
          <p:nvPr>
            <p:ph type="title"/>
          </p:nvPr>
        </p:nvSpPr>
        <p:spPr>
          <a:xfrm>
            <a:off x="489857" y="365125"/>
            <a:ext cx="11212286" cy="625475"/>
          </a:xfrm>
        </p:spPr>
        <p:txBody>
          <a:bodyPr lIns="0" anchor="t" anchorCtr="0">
            <a:normAutofit/>
          </a:bodyPr>
          <a:lstStyle>
            <a:lvl1pPr>
              <a:defRPr sz="2400">
                <a:latin typeface="Calibri" panose="020F0502020204030204" pitchFamily="34" charset="0"/>
                <a:ea typeface="Calibri" panose="020F0502020204030204" pitchFamily="34" charset="0"/>
                <a:cs typeface="Calibri" panose="020F0502020204030204" pitchFamily="34" charset="0"/>
              </a:defRPr>
            </a:lvl1pPr>
          </a:lstStyle>
          <a:p>
            <a:endParaRPr lang="en-US" sz="2800" dirty="0"/>
          </a:p>
        </p:txBody>
      </p:sp>
      <p:cxnSp>
        <p:nvCxnSpPr>
          <p:cNvPr id="3" name="Straight Connector 2">
            <a:extLst>
              <a:ext uri="{FF2B5EF4-FFF2-40B4-BE49-F238E27FC236}">
                <a16:creationId xmlns:a16="http://schemas.microsoft.com/office/drawing/2014/main" id="{232FCD9F-1A71-6D1B-82CA-5080EB6669D6}"/>
              </a:ext>
            </a:extLst>
          </p:cNvPr>
          <p:cNvCxnSpPr>
            <a:cxnSpLocks/>
          </p:cNvCxnSpPr>
          <p:nvPr userDrawn="1"/>
        </p:nvCxnSpPr>
        <p:spPr>
          <a:xfrm>
            <a:off x="489857" y="6167120"/>
            <a:ext cx="11212286" cy="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025E996F-11AD-3262-57E1-093645C2D0A7}"/>
              </a:ext>
            </a:extLst>
          </p:cNvPr>
          <p:cNvSpPr/>
          <p:nvPr userDrawn="1"/>
        </p:nvSpPr>
        <p:spPr>
          <a:xfrm>
            <a:off x="489857" y="6345555"/>
            <a:ext cx="4622800" cy="29464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sz="120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Source: 2024 Fast Food analysis (.</a:t>
            </a:r>
            <a:r>
              <a:rPr lang="en-US" sz="1200"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pbix</a:t>
            </a:r>
            <a:r>
              <a:rPr lang="en-US" sz="120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1758907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0475C1-94D4-ED54-6D1A-8EEB84B230F3}"/>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8A2C909B-1645-4398-A9D4-CD9311AF4ECC}" type="datetime1">
              <a:rPr lang="en-US" smtClean="0"/>
              <a:t>10/29/2026</a:t>
            </a:fld>
            <a:endParaRPr lang="en-US"/>
          </a:p>
        </p:txBody>
      </p:sp>
      <p:sp>
        <p:nvSpPr>
          <p:cNvPr id="5" name="Footer Placeholder 4">
            <a:extLst>
              <a:ext uri="{FF2B5EF4-FFF2-40B4-BE49-F238E27FC236}">
                <a16:creationId xmlns:a16="http://schemas.microsoft.com/office/drawing/2014/main" id="{9AC07D1F-1E8F-6BD0-D9BF-A37C083B4556}"/>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3831A316-E590-D6DF-BBC3-71A1CB588479}"/>
              </a:ext>
            </a:extLst>
          </p:cNvPr>
          <p:cNvSpPr>
            <a:spLocks noGrp="1"/>
          </p:cNvSpPr>
          <p:nvPr>
            <p:ph type="sldNum" sz="quarter" idx="12"/>
          </p:nvPr>
        </p:nvSpPr>
        <p:spPr/>
        <p:txBody>
          <a:bodyPr/>
          <a:lstStyle>
            <a:lvl1pPr>
              <a:defRPr>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defRPr>
            </a:lvl1pPr>
          </a:lstStyle>
          <a:p>
            <a:fld id="{558ED922-7EDD-473A-8362-50B58FFACA46}" type="slidenum">
              <a:rPr lang="en-US" smtClean="0"/>
              <a:pPr/>
              <a:t>‹#›</a:t>
            </a:fld>
            <a:endParaRPr lang="en-US"/>
          </a:p>
        </p:txBody>
      </p:sp>
      <p:sp>
        <p:nvSpPr>
          <p:cNvPr id="7" name="Title 1">
            <a:extLst>
              <a:ext uri="{FF2B5EF4-FFF2-40B4-BE49-F238E27FC236}">
                <a16:creationId xmlns:a16="http://schemas.microsoft.com/office/drawing/2014/main" id="{C0E0D656-7790-9145-25EB-E16449E64DB9}"/>
              </a:ext>
            </a:extLst>
          </p:cNvPr>
          <p:cNvSpPr>
            <a:spLocks noGrp="1"/>
          </p:cNvSpPr>
          <p:nvPr>
            <p:ph type="title"/>
          </p:nvPr>
        </p:nvSpPr>
        <p:spPr>
          <a:xfrm>
            <a:off x="489857" y="411935"/>
            <a:ext cx="11212286" cy="625475"/>
          </a:xfrm>
        </p:spPr>
        <p:txBody>
          <a:bodyPr lIns="0" anchor="t" anchorCtr="0">
            <a:normAutofit/>
          </a:bodyPr>
          <a:lstStyle>
            <a:lvl1pPr>
              <a:defRPr sz="2400">
                <a:latin typeface="Calibri" panose="020F0502020204030204" pitchFamily="34" charset="0"/>
                <a:ea typeface="Calibri" panose="020F0502020204030204" pitchFamily="34" charset="0"/>
                <a:cs typeface="Calibri" panose="020F0502020204030204" pitchFamily="34" charset="0"/>
              </a:defRPr>
            </a:lvl1pPr>
          </a:lstStyle>
          <a:p>
            <a:endParaRPr lang="en-US" sz="2800" dirty="0"/>
          </a:p>
        </p:txBody>
      </p:sp>
      <p:sp>
        <p:nvSpPr>
          <p:cNvPr id="2" name="Rectangle 1">
            <a:extLst>
              <a:ext uri="{FF2B5EF4-FFF2-40B4-BE49-F238E27FC236}">
                <a16:creationId xmlns:a16="http://schemas.microsoft.com/office/drawing/2014/main" id="{025E996F-11AD-3262-57E1-093645C2D0A7}"/>
              </a:ext>
            </a:extLst>
          </p:cNvPr>
          <p:cNvSpPr/>
          <p:nvPr userDrawn="1"/>
        </p:nvSpPr>
        <p:spPr>
          <a:xfrm>
            <a:off x="489857" y="6345555"/>
            <a:ext cx="4622800" cy="29464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sz="120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Source: 2024 Fast Food analysis (.</a:t>
            </a:r>
            <a:r>
              <a:rPr lang="en-US" sz="1200" i="1"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pbix</a:t>
            </a:r>
            <a:r>
              <a:rPr lang="en-US" sz="120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a:t>
            </a:r>
          </a:p>
        </p:txBody>
      </p:sp>
      <p:cxnSp>
        <p:nvCxnSpPr>
          <p:cNvPr id="8" name="Straight Connector 7">
            <a:extLst>
              <a:ext uri="{FF2B5EF4-FFF2-40B4-BE49-F238E27FC236}">
                <a16:creationId xmlns:a16="http://schemas.microsoft.com/office/drawing/2014/main" id="{E958335D-DE72-25AE-E90C-DB43E714224B}"/>
              </a:ext>
            </a:extLst>
          </p:cNvPr>
          <p:cNvCxnSpPr>
            <a:cxnSpLocks/>
          </p:cNvCxnSpPr>
          <p:nvPr userDrawn="1"/>
        </p:nvCxnSpPr>
        <p:spPr>
          <a:xfrm>
            <a:off x="489857" y="6167120"/>
            <a:ext cx="11212286" cy="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5202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0475C1-94D4-ED54-6D1A-8EEB84B230F3}"/>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8A2C909B-1645-4398-A9D4-CD9311AF4ECC}" type="datetime1">
              <a:rPr lang="en-US" smtClean="0"/>
              <a:t>10/29/2026</a:t>
            </a:fld>
            <a:endParaRPr lang="en-US"/>
          </a:p>
        </p:txBody>
      </p:sp>
      <p:sp>
        <p:nvSpPr>
          <p:cNvPr id="5" name="Footer Placeholder 4">
            <a:extLst>
              <a:ext uri="{FF2B5EF4-FFF2-40B4-BE49-F238E27FC236}">
                <a16:creationId xmlns:a16="http://schemas.microsoft.com/office/drawing/2014/main" id="{9AC07D1F-1E8F-6BD0-D9BF-A37C083B4556}"/>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3831A316-E590-D6DF-BBC3-71A1CB588479}"/>
              </a:ext>
            </a:extLst>
          </p:cNvPr>
          <p:cNvSpPr>
            <a:spLocks noGrp="1"/>
          </p:cNvSpPr>
          <p:nvPr>
            <p:ph type="sldNum" sz="quarter" idx="12"/>
          </p:nvPr>
        </p:nvSpPr>
        <p:spPr/>
        <p:txBody>
          <a:bodyP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fld id="{558ED922-7EDD-473A-8362-50B58FFACA46}" type="slidenum">
              <a:rPr lang="en-US" smtClean="0"/>
              <a:pPr/>
              <a:t>‹#›</a:t>
            </a:fld>
            <a:endParaRPr lang="en-US"/>
          </a:p>
        </p:txBody>
      </p:sp>
      <p:sp>
        <p:nvSpPr>
          <p:cNvPr id="7" name="Title 1">
            <a:extLst>
              <a:ext uri="{FF2B5EF4-FFF2-40B4-BE49-F238E27FC236}">
                <a16:creationId xmlns:a16="http://schemas.microsoft.com/office/drawing/2014/main" id="{C0E0D656-7790-9145-25EB-E16449E64DB9}"/>
              </a:ext>
            </a:extLst>
          </p:cNvPr>
          <p:cNvSpPr>
            <a:spLocks noGrp="1"/>
          </p:cNvSpPr>
          <p:nvPr>
            <p:ph type="title"/>
          </p:nvPr>
        </p:nvSpPr>
        <p:spPr>
          <a:xfrm>
            <a:off x="489857" y="365125"/>
            <a:ext cx="11212286" cy="625475"/>
          </a:xfrm>
        </p:spPr>
        <p:txBody>
          <a:bodyPr lIns="0" anchor="t" anchorCtr="0">
            <a:normAutofit/>
          </a:bodyPr>
          <a:lstStyle>
            <a:lvl1pPr>
              <a:defRPr sz="2400">
                <a:latin typeface="Calibri" panose="020F0502020204030204" pitchFamily="34" charset="0"/>
                <a:ea typeface="Calibri" panose="020F0502020204030204" pitchFamily="34" charset="0"/>
                <a:cs typeface="Calibri" panose="020F0502020204030204" pitchFamily="34" charset="0"/>
              </a:defRPr>
            </a:lvl1pPr>
          </a:lstStyle>
          <a:p>
            <a:endParaRPr lang="en-US" sz="2800" dirty="0"/>
          </a:p>
        </p:txBody>
      </p:sp>
      <p:cxnSp>
        <p:nvCxnSpPr>
          <p:cNvPr id="2" name="Straight Connector 1">
            <a:extLst>
              <a:ext uri="{FF2B5EF4-FFF2-40B4-BE49-F238E27FC236}">
                <a16:creationId xmlns:a16="http://schemas.microsoft.com/office/drawing/2014/main" id="{EE0C0C61-17F0-F51E-B208-D198E76FADFA}"/>
              </a:ext>
            </a:extLst>
          </p:cNvPr>
          <p:cNvCxnSpPr>
            <a:cxnSpLocks/>
          </p:cNvCxnSpPr>
          <p:nvPr userDrawn="1"/>
        </p:nvCxnSpPr>
        <p:spPr>
          <a:xfrm>
            <a:off x="489857" y="6167120"/>
            <a:ext cx="11212286" cy="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1134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0475C1-94D4-ED54-6D1A-8EEB84B230F3}"/>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B89D3579-3C3C-46E4-9A6B-DD269FE4121B}" type="datetime1">
              <a:rPr lang="en-US" smtClean="0"/>
              <a:pPr/>
              <a:t>10/29/2026</a:t>
            </a:fld>
            <a:endParaRPr lang="en-US"/>
          </a:p>
        </p:txBody>
      </p:sp>
      <p:sp>
        <p:nvSpPr>
          <p:cNvPr id="5" name="Footer Placeholder 4">
            <a:extLst>
              <a:ext uri="{FF2B5EF4-FFF2-40B4-BE49-F238E27FC236}">
                <a16:creationId xmlns:a16="http://schemas.microsoft.com/office/drawing/2014/main" id="{9AC07D1F-1E8F-6BD0-D9BF-A37C083B4556}"/>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3831A316-E590-D6DF-BBC3-71A1CB588479}"/>
              </a:ext>
            </a:extLst>
          </p:cNvPr>
          <p:cNvSpPr>
            <a:spLocks noGrp="1"/>
          </p:cNvSpPr>
          <p:nvPr>
            <p:ph type="sldNum" sz="quarter" idx="12"/>
          </p:nvPr>
        </p:nvSpPr>
        <p:spPr/>
        <p:txBody>
          <a:bodyP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
        <p:nvSpPr>
          <p:cNvPr id="7" name="Title 1">
            <a:extLst>
              <a:ext uri="{FF2B5EF4-FFF2-40B4-BE49-F238E27FC236}">
                <a16:creationId xmlns:a16="http://schemas.microsoft.com/office/drawing/2014/main" id="{C0E0D656-7790-9145-25EB-E16449E64DB9}"/>
              </a:ext>
            </a:extLst>
          </p:cNvPr>
          <p:cNvSpPr>
            <a:spLocks noGrp="1"/>
          </p:cNvSpPr>
          <p:nvPr>
            <p:ph type="title" hasCustomPrompt="1"/>
          </p:nvPr>
        </p:nvSpPr>
        <p:spPr>
          <a:xfrm>
            <a:off x="489857" y="365125"/>
            <a:ext cx="11212286" cy="625475"/>
          </a:xfrm>
        </p:spPr>
        <p:txBody>
          <a:bodyPr lIns="0" anchor="t" anchorCtr="0">
            <a:normAutofit/>
          </a:bodyPr>
          <a:lstStyle>
            <a:lvl1pPr>
              <a:defRPr sz="2400">
                <a:latin typeface="Calibri" panose="020F0502020204030204" pitchFamily="34" charset="0"/>
                <a:ea typeface="Calibri" panose="020F0502020204030204" pitchFamily="34" charset="0"/>
                <a:cs typeface="Calibri" panose="020F0502020204030204" pitchFamily="34" charset="0"/>
              </a:defRPr>
            </a:lvl1pPr>
          </a:lstStyle>
          <a:p>
            <a:r>
              <a:rPr lang="en-US" sz="2800" dirty="0"/>
              <a:t>Demographics</a:t>
            </a:r>
          </a:p>
        </p:txBody>
      </p:sp>
      <p:sp>
        <p:nvSpPr>
          <p:cNvPr id="8" name="Title 1">
            <a:extLst>
              <a:ext uri="{FF2B5EF4-FFF2-40B4-BE49-F238E27FC236}">
                <a16:creationId xmlns:a16="http://schemas.microsoft.com/office/drawing/2014/main" id="{6BD3D9F1-69FD-D75C-35D4-E4698F64FE50}"/>
              </a:ext>
            </a:extLst>
          </p:cNvPr>
          <p:cNvSpPr txBox="1">
            <a:spLocks/>
          </p:cNvSpPr>
          <p:nvPr userDrawn="1"/>
        </p:nvSpPr>
        <p:spPr>
          <a:xfrm>
            <a:off x="489857" y="5538639"/>
            <a:ext cx="11332029" cy="6254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endParaRPr lang="en-US" sz="1600"/>
          </a:p>
        </p:txBody>
      </p:sp>
      <p:cxnSp>
        <p:nvCxnSpPr>
          <p:cNvPr id="2" name="Straight Connector 1">
            <a:extLst>
              <a:ext uri="{FF2B5EF4-FFF2-40B4-BE49-F238E27FC236}">
                <a16:creationId xmlns:a16="http://schemas.microsoft.com/office/drawing/2014/main" id="{C0BBC2E7-3B42-2D7D-8392-37F9A140E846}"/>
              </a:ext>
            </a:extLst>
          </p:cNvPr>
          <p:cNvCxnSpPr>
            <a:cxnSpLocks/>
          </p:cNvCxnSpPr>
          <p:nvPr userDrawn="1"/>
        </p:nvCxnSpPr>
        <p:spPr>
          <a:xfrm>
            <a:off x="489857" y="6167120"/>
            <a:ext cx="11212286" cy="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37664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0FF44-E0FA-E05E-1A1D-9F1131E74B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4044D9-ADE0-9AC3-1420-49F40529E921}"/>
              </a:ext>
            </a:extLst>
          </p:cNvPr>
          <p:cNvSpPr>
            <a:spLocks noGrp="1"/>
          </p:cNvSpPr>
          <p:nvPr>
            <p:ph type="dt" sz="half" idx="10"/>
          </p:nvPr>
        </p:nvSpPr>
        <p:spPr/>
        <p:txBody>
          <a:bodyPr/>
          <a:lstStyle/>
          <a:p>
            <a:fld id="{22424F21-6E1D-4E9F-B0B7-29F20EF0207D}" type="datetime1">
              <a:rPr lang="en-US" smtClean="0"/>
              <a:t>10/29/2026</a:t>
            </a:fld>
            <a:endParaRPr lang="en-US"/>
          </a:p>
        </p:txBody>
      </p:sp>
      <p:sp>
        <p:nvSpPr>
          <p:cNvPr id="4" name="Footer Placeholder 3">
            <a:extLst>
              <a:ext uri="{FF2B5EF4-FFF2-40B4-BE49-F238E27FC236}">
                <a16:creationId xmlns:a16="http://schemas.microsoft.com/office/drawing/2014/main" id="{6F312E9E-D61D-C15E-A0D0-6762179D75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DCDB2B-357D-1243-066D-22FC77012848}"/>
              </a:ext>
            </a:extLst>
          </p:cNvPr>
          <p:cNvSpPr>
            <a:spLocks noGrp="1"/>
          </p:cNvSpPr>
          <p:nvPr>
            <p:ph type="sldNum" sz="quarter" idx="12"/>
          </p:nvPr>
        </p:nvSpPr>
        <p:spPr/>
        <p:txBody>
          <a:bodyPr/>
          <a:lstStyle/>
          <a:p>
            <a:fld id="{8DF2760E-766A-4A03-8C6B-76AE5EE90104}" type="slidenum">
              <a:rPr lang="en-US" smtClean="0"/>
              <a:t>‹#›</a:t>
            </a:fld>
            <a:endParaRPr lang="en-US"/>
          </a:p>
        </p:txBody>
      </p:sp>
    </p:spTree>
    <p:extLst>
      <p:ext uri="{BB962C8B-B14F-4D97-AF65-F5344CB8AC3E}">
        <p14:creationId xmlns:p14="http://schemas.microsoft.com/office/powerpoint/2010/main" val="42891499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929EA4-C861-A091-5C8D-0B80D51374E9}"/>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4024E99C-8D3E-4C77-AA0A-893FD4B9F400}" type="datetime1">
              <a:rPr lang="en-US" smtClean="0"/>
              <a:t>10/29/2026</a:t>
            </a:fld>
            <a:endParaRPr lang="en-US"/>
          </a:p>
        </p:txBody>
      </p:sp>
      <p:sp>
        <p:nvSpPr>
          <p:cNvPr id="3" name="Footer Placeholder 2">
            <a:extLst>
              <a:ext uri="{FF2B5EF4-FFF2-40B4-BE49-F238E27FC236}">
                <a16:creationId xmlns:a16="http://schemas.microsoft.com/office/drawing/2014/main" id="{C1011D99-681A-0598-C0E1-50E72341827D}"/>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4" name="Slide Number Placeholder 3">
            <a:extLst>
              <a:ext uri="{FF2B5EF4-FFF2-40B4-BE49-F238E27FC236}">
                <a16:creationId xmlns:a16="http://schemas.microsoft.com/office/drawing/2014/main" id="{412650B5-D3B7-5603-CBA1-6C529FB8ADFF}"/>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Tree>
    <p:extLst>
      <p:ext uri="{BB962C8B-B14F-4D97-AF65-F5344CB8AC3E}">
        <p14:creationId xmlns:p14="http://schemas.microsoft.com/office/powerpoint/2010/main" val="22061392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929EA4-C861-A091-5C8D-0B80D51374E9}"/>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7A4AACF7-0325-40C8-9B02-58779FE9DEC3}" type="datetime1">
              <a:rPr lang="en-US" smtClean="0"/>
              <a:t>10/29/2026</a:t>
            </a:fld>
            <a:endParaRPr lang="en-US"/>
          </a:p>
        </p:txBody>
      </p:sp>
      <p:sp>
        <p:nvSpPr>
          <p:cNvPr id="3" name="Footer Placeholder 2">
            <a:extLst>
              <a:ext uri="{FF2B5EF4-FFF2-40B4-BE49-F238E27FC236}">
                <a16:creationId xmlns:a16="http://schemas.microsoft.com/office/drawing/2014/main" id="{C1011D99-681A-0598-C0E1-50E72341827D}"/>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4" name="Slide Number Placeholder 3">
            <a:extLst>
              <a:ext uri="{FF2B5EF4-FFF2-40B4-BE49-F238E27FC236}">
                <a16:creationId xmlns:a16="http://schemas.microsoft.com/office/drawing/2014/main" id="{412650B5-D3B7-5603-CBA1-6C529FB8ADFF}"/>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Tree>
    <p:extLst>
      <p:ext uri="{BB962C8B-B14F-4D97-AF65-F5344CB8AC3E}">
        <p14:creationId xmlns:p14="http://schemas.microsoft.com/office/powerpoint/2010/main" val="8914178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2C8B823-81A5-577B-30AC-AABD053532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1D929EA4-C861-A091-5C8D-0B80D51374E9}"/>
              </a:ext>
            </a:extLst>
          </p:cNvPr>
          <p:cNvSpPr>
            <a:spLocks noGrp="1"/>
          </p:cNvSpPr>
          <p:nvPr>
            <p:ph type="dt" sz="half"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B9333D0C-F80C-4CE0-81A8-2AC8A00EB896}" type="datetime1">
              <a:rPr lang="en-US" smtClean="0"/>
              <a:t>10/29/2026</a:t>
            </a:fld>
            <a:endParaRPr lang="en-US"/>
          </a:p>
        </p:txBody>
      </p:sp>
      <p:sp>
        <p:nvSpPr>
          <p:cNvPr id="3" name="Footer Placeholder 2">
            <a:extLst>
              <a:ext uri="{FF2B5EF4-FFF2-40B4-BE49-F238E27FC236}">
                <a16:creationId xmlns:a16="http://schemas.microsoft.com/office/drawing/2014/main" id="{C1011D99-681A-0598-C0E1-50E72341827D}"/>
              </a:ext>
            </a:extLst>
          </p:cNvPr>
          <p:cNvSpPr>
            <a:spLocks noGrp="1"/>
          </p:cNvSpPr>
          <p:nvPr>
            <p:ph type="ftr" sz="quarter" idx="11"/>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4" name="Slide Number Placeholder 3">
            <a:extLst>
              <a:ext uri="{FF2B5EF4-FFF2-40B4-BE49-F238E27FC236}">
                <a16:creationId xmlns:a16="http://schemas.microsoft.com/office/drawing/2014/main" id="{412650B5-D3B7-5603-CBA1-6C529FB8ADFF}"/>
              </a:ext>
            </a:extLst>
          </p:cNvPr>
          <p:cNvSpPr>
            <a:spLocks noGrp="1"/>
          </p:cNvSpPr>
          <p:nvPr>
            <p:ph type="sldNum" sz="quarter" idx="12"/>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Tree>
    <p:extLst>
      <p:ext uri="{BB962C8B-B14F-4D97-AF65-F5344CB8AC3E}">
        <p14:creationId xmlns:p14="http://schemas.microsoft.com/office/powerpoint/2010/main" val="21876325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929EA4-C861-A091-5C8D-0B80D51374E9}"/>
              </a:ext>
            </a:extLst>
          </p:cNvPr>
          <p:cNvSpPr>
            <a:spLocks noGrp="1"/>
          </p:cNvSpPr>
          <p:nvPr>
            <p:ph type="dt" sz="half"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B9333D0C-F80C-4CE0-81A8-2AC8A00EB896}" type="datetime1">
              <a:rPr lang="en-US" smtClean="0"/>
              <a:t>10/29/2026</a:t>
            </a:fld>
            <a:endParaRPr lang="en-US"/>
          </a:p>
        </p:txBody>
      </p:sp>
      <p:sp>
        <p:nvSpPr>
          <p:cNvPr id="3" name="Footer Placeholder 2">
            <a:extLst>
              <a:ext uri="{FF2B5EF4-FFF2-40B4-BE49-F238E27FC236}">
                <a16:creationId xmlns:a16="http://schemas.microsoft.com/office/drawing/2014/main" id="{C1011D99-681A-0598-C0E1-50E72341827D}"/>
              </a:ext>
            </a:extLst>
          </p:cNvPr>
          <p:cNvSpPr>
            <a:spLocks noGrp="1"/>
          </p:cNvSpPr>
          <p:nvPr>
            <p:ph type="ftr" sz="quarter" idx="11"/>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a:p>
        </p:txBody>
      </p:sp>
      <p:sp>
        <p:nvSpPr>
          <p:cNvPr id="4" name="Slide Number Placeholder 3">
            <a:extLst>
              <a:ext uri="{FF2B5EF4-FFF2-40B4-BE49-F238E27FC236}">
                <a16:creationId xmlns:a16="http://schemas.microsoft.com/office/drawing/2014/main" id="{412650B5-D3B7-5603-CBA1-6C529FB8ADFF}"/>
              </a:ext>
            </a:extLst>
          </p:cNvPr>
          <p:cNvSpPr>
            <a:spLocks noGrp="1"/>
          </p:cNvSpPr>
          <p:nvPr>
            <p:ph type="sldNum" sz="quarter" idx="12"/>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8DF2760E-766A-4A03-8C6B-76AE5EE90104}" type="slidenum">
              <a:rPr lang="en-US" smtClean="0"/>
              <a:pPr/>
              <a:t>‹#›</a:t>
            </a:fld>
            <a:endParaRPr lang="en-US"/>
          </a:p>
        </p:txBody>
      </p:sp>
    </p:spTree>
    <p:extLst>
      <p:ext uri="{BB962C8B-B14F-4D97-AF65-F5344CB8AC3E}">
        <p14:creationId xmlns:p14="http://schemas.microsoft.com/office/powerpoint/2010/main" val="10398438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5032C-5B6B-A249-96C9-76AE29190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6C0096-E78E-5513-9226-48EED978A6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DEFC0-2A72-5E63-4F12-F356E1B989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97BDE9-B023-446B-8C77-CFC5528A6CEE}" type="datetime1">
              <a:rPr lang="en-US" smtClean="0"/>
              <a:t>10/29/2026</a:t>
            </a:fld>
            <a:endParaRPr lang="en-US"/>
          </a:p>
        </p:txBody>
      </p:sp>
      <p:sp>
        <p:nvSpPr>
          <p:cNvPr id="5" name="Footer Placeholder 4">
            <a:extLst>
              <a:ext uri="{FF2B5EF4-FFF2-40B4-BE49-F238E27FC236}">
                <a16:creationId xmlns:a16="http://schemas.microsoft.com/office/drawing/2014/main" id="{BBA9F9A3-AFD5-0D67-96BB-40444784A2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A703D6-0A06-77C2-4E33-E6FCAE0FAD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8DF2760E-766A-4A03-8C6B-76AE5EE90104}" type="slidenum">
              <a:rPr lang="en-US" smtClean="0"/>
              <a:pPr/>
              <a:t>‹#›</a:t>
            </a:fld>
            <a:endParaRPr lang="en-US"/>
          </a:p>
        </p:txBody>
      </p:sp>
    </p:spTree>
    <p:extLst>
      <p:ext uri="{BB962C8B-B14F-4D97-AF65-F5344CB8AC3E}">
        <p14:creationId xmlns:p14="http://schemas.microsoft.com/office/powerpoint/2010/main" val="25715530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67" r:id="rId4"/>
    <p:sldLayoutId id="2147483666" r:id="rId5"/>
    <p:sldLayoutId id="2147483662" r:id="rId6"/>
    <p:sldLayoutId id="2147483654" r:id="rId7"/>
    <p:sldLayoutId id="2147483655" r:id="rId8"/>
    <p:sldLayoutId id="2147483664"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4/relationships/chartEx" Target="../charts/chartEx1.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4.xml"/><Relationship Id="rId5" Type="http://schemas.openxmlformats.org/officeDocument/2006/relationships/chart" Target="../charts/chart22.xml"/><Relationship Id="rId4" Type="http://schemas.openxmlformats.org/officeDocument/2006/relationships/chart" Target="../charts/char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7.emf"/><Relationship Id="rId5" Type="http://schemas.openxmlformats.org/officeDocument/2006/relationships/package" Target="../embeddings/Microsoft_Excel_Worksheet25.xlsx"/><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1FFE3E9-0420-96A7-1134-35DF826AE480}"/>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1113182" y="1206230"/>
            <a:ext cx="7980018" cy="4359683"/>
          </a:xfrm>
          <a:prstGeom prst="rect">
            <a:avLst/>
          </a:prstGeom>
          <a:effectLst>
            <a:outerShdw dist="50800" dir="5400000" algn="ctr" rotWithShape="0">
              <a:srgbClr val="000000">
                <a:alpha val="43137"/>
              </a:srgbClr>
            </a:outerShdw>
          </a:effectLst>
        </p:spPr>
      </p:pic>
      <p:sp>
        <p:nvSpPr>
          <p:cNvPr id="18" name="Rectangle 17">
            <a:extLst>
              <a:ext uri="{FF2B5EF4-FFF2-40B4-BE49-F238E27FC236}">
                <a16:creationId xmlns:a16="http://schemas.microsoft.com/office/drawing/2014/main" id="{A81F56DF-D4C3-D682-75A9-02191989C803}"/>
              </a:ext>
            </a:extLst>
          </p:cNvPr>
          <p:cNvSpPr/>
          <p:nvPr/>
        </p:nvSpPr>
        <p:spPr>
          <a:xfrm>
            <a:off x="1113182" y="1206228"/>
            <a:ext cx="7980018" cy="4359683"/>
          </a:xfrm>
          <a:prstGeom prst="rect">
            <a:avLst/>
          </a:prstGeom>
          <a:gradFill flip="none" rotWithShape="1">
            <a:gsLst>
              <a:gs pos="58000">
                <a:srgbClr val="000000">
                  <a:alpha val="42000"/>
                </a:srgbClr>
              </a:gs>
              <a:gs pos="0">
                <a:schemeClr val="tx1">
                  <a:alpha val="64000"/>
                </a:schemeClr>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Rounded Corners 3">
            <a:extLst>
              <a:ext uri="{FF2B5EF4-FFF2-40B4-BE49-F238E27FC236}">
                <a16:creationId xmlns:a16="http://schemas.microsoft.com/office/drawing/2014/main" id="{B2DD99F4-D7AC-AFB7-2F7F-FA87DC939FAA}"/>
              </a:ext>
            </a:extLst>
          </p:cNvPr>
          <p:cNvSpPr/>
          <p:nvPr/>
        </p:nvSpPr>
        <p:spPr>
          <a:xfrm>
            <a:off x="1113181" y="1206229"/>
            <a:ext cx="7980017" cy="4359683"/>
          </a:xfrm>
          <a:prstGeom prst="roundRect">
            <a:avLst>
              <a:gd name="adj" fmla="val 2403"/>
            </a:avLst>
          </a:prstGeom>
          <a:gradFill flip="none" rotWithShape="1">
            <a:gsLst>
              <a:gs pos="0">
                <a:schemeClr val="bg1">
                  <a:alpha val="14000"/>
                </a:schemeClr>
              </a:gs>
              <a:gs pos="56000">
                <a:schemeClr val="bg1">
                  <a:alpha val="0"/>
                </a:schemeClr>
              </a:gs>
              <a:gs pos="100000">
                <a:schemeClr val="bg1">
                  <a:alpha val="9000"/>
                </a:schemeClr>
              </a:gs>
            </a:gsLst>
            <a:path path="circle">
              <a:fillToRect l="50000" t="130000" r="50000" b="-30000"/>
            </a:path>
            <a:tileRect/>
          </a:gradFill>
          <a:ln w="1905">
            <a:gradFill>
              <a:gsLst>
                <a:gs pos="0">
                  <a:schemeClr val="bg1">
                    <a:alpha val="50000"/>
                  </a:schemeClr>
                </a:gs>
                <a:gs pos="44000">
                  <a:schemeClr val="bg1">
                    <a:alpha val="0"/>
                  </a:schemeClr>
                </a:gs>
                <a:gs pos="100000">
                  <a:schemeClr val="bg1">
                    <a:alpha val="46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34C5652-8AFA-1C4B-E708-D422F358ADA3}"/>
              </a:ext>
            </a:extLst>
          </p:cNvPr>
          <p:cNvSpPr>
            <a:spLocks noGrp="1"/>
          </p:cNvSpPr>
          <p:nvPr>
            <p:ph type="sldNum" sz="quarter" idx="12"/>
          </p:nvPr>
        </p:nvSpPr>
        <p:spPr/>
        <p:txBody>
          <a:bodyPr/>
          <a:lstStyle/>
          <a:p>
            <a:fld id="{8DF2760E-766A-4A03-8C6B-76AE5EE90104}" type="slidenum">
              <a:rPr lang="en-US" smtClean="0">
                <a:latin typeface="Calibri" panose="020F0502020204030204" pitchFamily="34" charset="0"/>
                <a:ea typeface="Calibri" panose="020F0502020204030204" pitchFamily="34" charset="0"/>
                <a:cs typeface="Calibri" panose="020F0502020204030204" pitchFamily="34" charset="0"/>
              </a:rPr>
              <a:pPr/>
              <a:t>1</a:t>
            </a:fld>
            <a:endParaRPr lang="en-US">
              <a:latin typeface="Calibri" panose="020F0502020204030204" pitchFamily="34" charset="0"/>
              <a:ea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C2E07116-9A6F-7E3B-975B-D970262AC83A}"/>
              </a:ext>
            </a:extLst>
          </p:cNvPr>
          <p:cNvCxnSpPr>
            <a:cxnSpLocks/>
          </p:cNvCxnSpPr>
          <p:nvPr/>
        </p:nvCxnSpPr>
        <p:spPr>
          <a:xfrm>
            <a:off x="1524000" y="3798652"/>
            <a:ext cx="592372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41ABE827-27DB-D03C-A68E-8D961E95063C}"/>
              </a:ext>
            </a:extLst>
          </p:cNvPr>
          <p:cNvSpPr txBox="1">
            <a:spLocks/>
          </p:cNvSpPr>
          <p:nvPr/>
        </p:nvSpPr>
        <p:spPr>
          <a:xfrm>
            <a:off x="1524000" y="1580958"/>
            <a:ext cx="6634479" cy="2044507"/>
          </a:xfrm>
          <a:prstGeom prst="rect">
            <a:avLst/>
          </a:prstGeom>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1200"/>
              </a:spcBef>
              <a:spcAft>
                <a:spcPts val="600"/>
              </a:spcAft>
            </a:pPr>
            <a:r>
              <a:rPr lang="en-US" sz="5400" b="1" dirty="0">
                <a:solidFill>
                  <a:schemeClr val="bg1"/>
                </a:solidFill>
                <a:latin typeface="Calibri" panose="020F0502020204030204" pitchFamily="34" charset="0"/>
                <a:ea typeface="Calibri" panose="020F0502020204030204" pitchFamily="34" charset="0"/>
                <a:cs typeface="Calibri" panose="020F0502020204030204" pitchFamily="34" charset="0"/>
              </a:rPr>
              <a:t>Fast Food at a glance</a:t>
            </a:r>
            <a:b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800" b="1" i="1" dirty="0">
                <a:solidFill>
                  <a:schemeClr val="bg1">
                    <a:alpha val="51000"/>
                  </a:schemeClr>
                </a:solidFill>
                <a:latin typeface="Calibri" panose="020F0502020204030204" pitchFamily="34" charset="0"/>
                <a:ea typeface="Calibri" panose="020F0502020204030204" pitchFamily="34" charset="0"/>
                <a:cs typeface="Calibri" panose="020F0502020204030204" pitchFamily="34" charset="0"/>
              </a:rPr>
              <a:t>2024 performance review and</a:t>
            </a:r>
            <a:br>
              <a:rPr lang="en-US" sz="2800" b="1" i="1" dirty="0">
                <a:solidFill>
                  <a:schemeClr val="bg1">
                    <a:alpha val="51000"/>
                  </a:schemeClr>
                </a:solidFill>
                <a:latin typeface="Calibri" panose="020F0502020204030204" pitchFamily="34" charset="0"/>
                <a:ea typeface="Calibri" panose="020F0502020204030204" pitchFamily="34" charset="0"/>
                <a:cs typeface="Calibri" panose="020F0502020204030204" pitchFamily="34" charset="0"/>
              </a:rPr>
            </a:br>
            <a:r>
              <a:rPr lang="en-US" sz="2800" b="1" i="1" dirty="0">
                <a:solidFill>
                  <a:schemeClr val="bg1">
                    <a:alpha val="51000"/>
                  </a:schemeClr>
                </a:solidFill>
                <a:latin typeface="Calibri" panose="020F0502020204030204" pitchFamily="34" charset="0"/>
                <a:ea typeface="Calibri" panose="020F0502020204030204" pitchFamily="34" charset="0"/>
                <a:cs typeface="Calibri" panose="020F0502020204030204" pitchFamily="34" charset="0"/>
              </a:rPr>
              <a:t>the movement for 2025</a:t>
            </a:r>
            <a:endParaRPr lang="en-US" sz="2400" b="1" i="1" dirty="0">
              <a:solidFill>
                <a:schemeClr val="bg1">
                  <a:alpha val="51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93AF0953-40E6-AA72-FBA6-E08BC867358B}"/>
              </a:ext>
            </a:extLst>
          </p:cNvPr>
          <p:cNvSpPr>
            <a:spLocks noGrp="1"/>
          </p:cNvSpPr>
          <p:nvPr>
            <p:ph type="subTitle" idx="1"/>
          </p:nvPr>
        </p:nvSpPr>
        <p:spPr>
          <a:xfrm>
            <a:off x="1524000" y="4554771"/>
            <a:ext cx="2702118" cy="805227"/>
          </a:xfrm>
        </p:spPr>
        <p:txBody>
          <a:bodyPr lIns="0" anchor="b" anchorCtr="0">
            <a:normAutofit/>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Prepared by Hao Tran</a:t>
            </a:r>
          </a:p>
          <a:p>
            <a:pPr algn="l"/>
            <a:r>
              <a:rPr lang="en-US" sz="1400" dirty="0">
                <a:latin typeface="Calibri" panose="020F0502020204030204" pitchFamily="34" charset="0"/>
                <a:ea typeface="Calibri" panose="020F0502020204030204" pitchFamily="34" charset="0"/>
                <a:cs typeface="Calibri" panose="020F0502020204030204" pitchFamily="34" charset="0"/>
              </a:rPr>
              <a:t>Jan, 2026</a:t>
            </a:r>
          </a:p>
        </p:txBody>
      </p:sp>
    </p:spTree>
    <p:extLst>
      <p:ext uri="{BB962C8B-B14F-4D97-AF65-F5344CB8AC3E}">
        <p14:creationId xmlns:p14="http://schemas.microsoft.com/office/powerpoint/2010/main" val="379465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A923A-053B-E658-7E7F-CC06C97D39D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EEF10CF-9CCA-C5F3-6AD1-A1A39465F624}"/>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DC30C178-F6F5-B536-85D3-34DD2A72243E}"/>
              </a:ext>
            </a:extLst>
          </p:cNvPr>
          <p:cNvSpPr/>
          <p:nvPr/>
        </p:nvSpPr>
        <p:spPr>
          <a:xfrm rot="5400000">
            <a:off x="2666998" y="-2666999"/>
            <a:ext cx="6857999" cy="12191999"/>
          </a:xfrm>
          <a:prstGeom prst="rect">
            <a:avLst/>
          </a:prstGeom>
          <a:gradFill flip="none" rotWithShape="1">
            <a:gsLst>
              <a:gs pos="50400">
                <a:srgbClr val="000000">
                  <a:alpha val="62000"/>
                </a:srgbClr>
              </a:gs>
              <a:gs pos="0">
                <a:schemeClr val="tx1">
                  <a:alpha val="88000"/>
                </a:schemeClr>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5501F9B7-280A-311A-6B3D-A3F41EC19963}"/>
              </a:ext>
            </a:extLst>
          </p:cNvPr>
          <p:cNvSpPr>
            <a:spLocks noGrp="1"/>
          </p:cNvSpPr>
          <p:nvPr>
            <p:ph type="sldNum" sz="quarter" idx="12"/>
          </p:nvPr>
        </p:nvSpPr>
        <p:spPr/>
        <p:txBody>
          <a:bodyPr/>
          <a:lstStyle/>
          <a:p>
            <a:fld id="{8DF2760E-766A-4A03-8C6B-76AE5EE90104}" type="slidenum">
              <a:rPr lang="en-US" smtClean="0"/>
              <a:pPr/>
              <a:t>2</a:t>
            </a:fld>
            <a:endParaRPr lang="en-US" dirty="0"/>
          </a:p>
        </p:txBody>
      </p:sp>
      <p:sp>
        <p:nvSpPr>
          <p:cNvPr id="3" name="TextBox 2">
            <a:extLst>
              <a:ext uri="{FF2B5EF4-FFF2-40B4-BE49-F238E27FC236}">
                <a16:creationId xmlns:a16="http://schemas.microsoft.com/office/drawing/2014/main" id="{CDB0D63E-F023-DF3C-87F4-D82B670A6E6A}"/>
              </a:ext>
            </a:extLst>
          </p:cNvPr>
          <p:cNvSpPr txBox="1"/>
          <p:nvPr/>
        </p:nvSpPr>
        <p:spPr>
          <a:xfrm>
            <a:off x="716279" y="450643"/>
            <a:ext cx="6461761" cy="769441"/>
          </a:xfrm>
          <a:prstGeom prst="rect">
            <a:avLst/>
          </a:prstGeom>
          <a:noFill/>
        </p:spPr>
        <p:txBody>
          <a:bodyPr wrap="square">
            <a:spAutoFit/>
          </a:bodyPr>
          <a:lstStyle/>
          <a:p>
            <a:pPr>
              <a:spcAft>
                <a:spcPts val="1800"/>
              </a:spcAft>
              <a:buNone/>
            </a:pPr>
            <a:r>
              <a:rPr lang="vi-VN" sz="4400" b="1" i="0" dirty="0">
                <a:solidFill>
                  <a:schemeClr val="bg1"/>
                </a:solidFill>
                <a:effectLst/>
                <a:latin typeface="Grab Community Solid"/>
              </a:rPr>
              <a:t>Analysis contents</a:t>
            </a:r>
            <a:endParaRPr lang="en-US" sz="4400" b="1" i="0" dirty="0">
              <a:solidFill>
                <a:schemeClr val="bg1"/>
              </a:solidFill>
              <a:effectLst/>
              <a:latin typeface="Grab Community Solid"/>
            </a:endParaRPr>
          </a:p>
        </p:txBody>
      </p:sp>
      <p:graphicFrame>
        <p:nvGraphicFramePr>
          <p:cNvPr id="4" name="Table 3">
            <a:extLst>
              <a:ext uri="{FF2B5EF4-FFF2-40B4-BE49-F238E27FC236}">
                <a16:creationId xmlns:a16="http://schemas.microsoft.com/office/drawing/2014/main" id="{17C2D9F1-BEF4-080D-D438-BA0AA37A81A2}"/>
              </a:ext>
            </a:extLst>
          </p:cNvPr>
          <p:cNvGraphicFramePr>
            <a:graphicFrameLocks noGrp="1"/>
          </p:cNvGraphicFramePr>
          <p:nvPr>
            <p:extLst>
              <p:ext uri="{D42A27DB-BD31-4B8C-83A1-F6EECF244321}">
                <p14:modId xmlns:p14="http://schemas.microsoft.com/office/powerpoint/2010/main" val="3556730862"/>
              </p:ext>
            </p:extLst>
          </p:nvPr>
        </p:nvGraphicFramePr>
        <p:xfrm>
          <a:off x="739780" y="1807625"/>
          <a:ext cx="6035042" cy="2545080"/>
        </p:xfrm>
        <a:graphic>
          <a:graphicData uri="http://schemas.openxmlformats.org/drawingml/2006/table">
            <a:tbl>
              <a:tblPr firstRow="1" bandRow="1">
                <a:tableStyleId>{5C22544A-7EE6-4342-B048-85BDC9FD1C3A}</a:tableStyleId>
              </a:tblPr>
              <a:tblGrid>
                <a:gridCol w="6035042">
                  <a:extLst>
                    <a:ext uri="{9D8B030D-6E8A-4147-A177-3AD203B41FA5}">
                      <a16:colId xmlns:a16="http://schemas.microsoft.com/office/drawing/2014/main" val="2557682111"/>
                    </a:ext>
                  </a:extLst>
                </a:gridCol>
              </a:tblGrid>
              <a:tr h="370840">
                <a:tc>
                  <a:txBody>
                    <a:bodyPr/>
                    <a:lstStyle/>
                    <a:p>
                      <a:pPr marL="0" indent="0">
                        <a:spcBef>
                          <a:spcPts val="600"/>
                        </a:spcBef>
                        <a:buNone/>
                      </a:pPr>
                      <a:r>
                        <a:rPr lang="en-US" sz="2600" b="1" dirty="0">
                          <a:solidFill>
                            <a:schemeClr val="bg1"/>
                          </a:solidFill>
                          <a:latin typeface="Calibri" panose="020F0502020204030204" pitchFamily="34" charset="0"/>
                          <a:ea typeface="Calibri" panose="020F0502020204030204" pitchFamily="34" charset="0"/>
                          <a:cs typeface="Calibri" panose="020F0502020204030204" pitchFamily="34" charset="0"/>
                        </a:rPr>
                        <a:t>A. Segment performance in 2024</a:t>
                      </a:r>
                      <a:endParaRPr lang="vi-VN" sz="2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600"/>
                        </a:spcBef>
                        <a:buFontTx/>
                        <a:buNone/>
                      </a:pPr>
                      <a:r>
                        <a:rPr lang="en-US" sz="20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200" b="0" dirty="0">
                          <a:solidFill>
                            <a:schemeClr val="bg1"/>
                          </a:solidFill>
                          <a:latin typeface="Calibri" panose="020F0502020204030204" pitchFamily="34" charset="0"/>
                          <a:ea typeface="Calibri" panose="020F0502020204030204" pitchFamily="34" charset="0"/>
                          <a:cs typeface="Calibri" panose="020F0502020204030204" pitchFamily="34" charset="0"/>
                        </a:rPr>
                        <a:t>Executive summary</a:t>
                      </a:r>
                    </a:p>
                    <a:p>
                      <a:pPr marL="0" indent="0">
                        <a:spcBef>
                          <a:spcPts val="600"/>
                        </a:spcBef>
                        <a:buFontTx/>
                        <a:buNone/>
                      </a:pPr>
                      <a:r>
                        <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200" b="0" dirty="0">
                          <a:solidFill>
                            <a:schemeClr val="bg1"/>
                          </a:solidFill>
                          <a:latin typeface="Calibri" panose="020F0502020204030204" pitchFamily="34" charset="0"/>
                          <a:ea typeface="Calibri" panose="020F0502020204030204" pitchFamily="34" charset="0"/>
                          <a:cs typeface="Calibri" panose="020F0502020204030204" pitchFamily="34" charset="0"/>
                        </a:rPr>
                        <a:t>Overall performance</a:t>
                      </a:r>
                      <a:endPar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600"/>
                        </a:spcBef>
                        <a:buFontTx/>
                        <a:buNone/>
                      </a:pPr>
                      <a:r>
                        <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200" b="0" dirty="0">
                          <a:solidFill>
                            <a:schemeClr val="bg1"/>
                          </a:solidFill>
                          <a:latin typeface="Calibri" panose="020F0502020204030204" pitchFamily="34" charset="0"/>
                          <a:ea typeface="Calibri" panose="020F0502020204030204" pitchFamily="34" charset="0"/>
                          <a:cs typeface="Calibri" panose="020F0502020204030204" pitchFamily="34" charset="0"/>
                        </a:rPr>
                        <a:t>Contributions analysis:</a:t>
                      </a:r>
                    </a:p>
                    <a:p>
                      <a:pPr marL="625475" indent="0">
                        <a:spcBef>
                          <a:spcPts val="0"/>
                        </a:spcBef>
                        <a:buFontTx/>
                        <a:buNone/>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1800" b="0"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drives</a:t>
                      </a:r>
                    </a:p>
                    <a:p>
                      <a:pPr marL="625475" indent="0">
                        <a:spcBef>
                          <a:spcPts val="0"/>
                        </a:spcBef>
                        <a:buFontTx/>
                        <a:buNone/>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1800" b="0" dirty="0">
                          <a:solidFill>
                            <a:schemeClr val="bg1"/>
                          </a:solidFill>
                          <a:latin typeface="Calibri" panose="020F0502020204030204" pitchFamily="34" charset="0"/>
                          <a:ea typeface="Calibri" panose="020F0502020204030204" pitchFamily="34" charset="0"/>
                          <a:cs typeface="Calibri" panose="020F0502020204030204" pitchFamily="34" charset="0"/>
                        </a:rPr>
                        <a:t>Fees drives</a:t>
                      </a:r>
                      <a:endPar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625475" indent="0">
                        <a:spcBef>
                          <a:spcPts val="0"/>
                        </a:spcBef>
                        <a:buFontTx/>
                        <a:buNone/>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1800" b="0" dirty="0">
                          <a:solidFill>
                            <a:schemeClr val="bg1"/>
                          </a:solidFill>
                          <a:latin typeface="Calibri" panose="020F0502020204030204" pitchFamily="34" charset="0"/>
                          <a:ea typeface="Calibri" panose="020F0502020204030204" pitchFamily="34" charset="0"/>
                          <a:cs typeface="Calibri" panose="020F0502020204030204" pitchFamily="34" charset="0"/>
                        </a:rPr>
                        <a:t>AOV drives</a:t>
                      </a:r>
                      <a:endPar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8571792"/>
                  </a:ext>
                </a:extLst>
              </a:tr>
            </a:tbl>
          </a:graphicData>
        </a:graphic>
      </p:graphicFrame>
      <p:graphicFrame>
        <p:nvGraphicFramePr>
          <p:cNvPr id="19" name="Table 18">
            <a:extLst>
              <a:ext uri="{FF2B5EF4-FFF2-40B4-BE49-F238E27FC236}">
                <a16:creationId xmlns:a16="http://schemas.microsoft.com/office/drawing/2014/main" id="{C576994E-2098-DADA-0C7C-4545430C880E}"/>
              </a:ext>
            </a:extLst>
          </p:cNvPr>
          <p:cNvGraphicFramePr>
            <a:graphicFrameLocks noGrp="1"/>
          </p:cNvGraphicFramePr>
          <p:nvPr>
            <p:extLst>
              <p:ext uri="{D42A27DB-BD31-4B8C-83A1-F6EECF244321}">
                <p14:modId xmlns:p14="http://schemas.microsoft.com/office/powerpoint/2010/main" val="1526883106"/>
              </p:ext>
            </p:extLst>
          </p:nvPr>
        </p:nvGraphicFramePr>
        <p:xfrm>
          <a:off x="5903853" y="1727078"/>
          <a:ext cx="6035042" cy="2026412"/>
        </p:xfrm>
        <a:graphic>
          <a:graphicData uri="http://schemas.openxmlformats.org/drawingml/2006/table">
            <a:tbl>
              <a:tblPr firstRow="1" bandRow="1">
                <a:tableStyleId>{5C22544A-7EE6-4342-B048-85BDC9FD1C3A}</a:tableStyleId>
              </a:tblPr>
              <a:tblGrid>
                <a:gridCol w="6035042">
                  <a:extLst>
                    <a:ext uri="{9D8B030D-6E8A-4147-A177-3AD203B41FA5}">
                      <a16:colId xmlns:a16="http://schemas.microsoft.com/office/drawing/2014/main" val="2557682111"/>
                    </a:ext>
                  </a:extLst>
                </a:gridCol>
              </a:tblGrid>
              <a:tr h="370840">
                <a:tc>
                  <a:txBody>
                    <a:bodyPr/>
                    <a:lstStyle/>
                    <a:p>
                      <a:pPr marL="339725" marR="0" lvl="0" indent="-339725" algn="l" defTabSz="914400" rtl="0" eaLnBrk="1" fontAlgn="auto" latinLnBrk="0" hangingPunct="1">
                        <a:lnSpc>
                          <a:spcPct val="150000"/>
                        </a:lnSpc>
                        <a:spcBef>
                          <a:spcPts val="0"/>
                        </a:spcBef>
                        <a:spcAft>
                          <a:spcPts val="0"/>
                        </a:spcAft>
                        <a:buClrTx/>
                        <a:buSzTx/>
                        <a:buFontTx/>
                        <a:buNone/>
                        <a:tabLst/>
                        <a:defRPr/>
                      </a:pPr>
                      <a:r>
                        <a:rPr lang="en-US" sz="2600" b="1" dirty="0">
                          <a:solidFill>
                            <a:schemeClr val="bg1"/>
                          </a:solidFill>
                          <a:latin typeface="Calibri" panose="020F0502020204030204" pitchFamily="34" charset="0"/>
                          <a:ea typeface="Calibri" panose="020F0502020204030204" pitchFamily="34" charset="0"/>
                          <a:cs typeface="Calibri" panose="020F0502020204030204" pitchFamily="34" charset="0"/>
                        </a:rPr>
                        <a:t>B. Promotions cutting plan for 2025</a:t>
                      </a:r>
                      <a:endParaRPr lang="vi-VN" sz="2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600"/>
                        </a:spcBef>
                        <a:buFontTx/>
                        <a:buNone/>
                      </a:pPr>
                      <a:r>
                        <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200" b="0" dirty="0">
                          <a:solidFill>
                            <a:schemeClr val="bg1"/>
                          </a:solidFill>
                          <a:latin typeface="Calibri" panose="020F0502020204030204" pitchFamily="34" charset="0"/>
                          <a:ea typeface="Calibri" panose="020F0502020204030204" pitchFamily="34" charset="0"/>
                          <a:cs typeface="Calibri" panose="020F0502020204030204" pitchFamily="34" charset="0"/>
                        </a:rPr>
                        <a:t>Proposed plan</a:t>
                      </a:r>
                    </a:p>
                    <a:p>
                      <a:pPr marL="0" indent="0">
                        <a:spcBef>
                          <a:spcPts val="600"/>
                        </a:spcBef>
                        <a:buFontTx/>
                        <a:buNone/>
                      </a:pPr>
                      <a:r>
                        <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200" b="0" dirty="0">
                          <a:solidFill>
                            <a:schemeClr val="bg1"/>
                          </a:solidFill>
                          <a:latin typeface="Calibri" panose="020F0502020204030204" pitchFamily="34" charset="0"/>
                          <a:ea typeface="Calibri" panose="020F0502020204030204" pitchFamily="34" charset="0"/>
                          <a:cs typeface="Calibri" panose="020F0502020204030204" pitchFamily="34" charset="0"/>
                        </a:rPr>
                        <a:t>Underlying evaluation explains</a:t>
                      </a:r>
                      <a:endParaRPr lang="en-US" sz="2200" b="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600"/>
                        </a:spcBef>
                        <a:buNone/>
                      </a:pPr>
                      <a:r>
                        <a:rPr lang="en-US" sz="2600" b="1" dirty="0">
                          <a:solidFill>
                            <a:schemeClr val="bg1"/>
                          </a:solidFill>
                          <a:latin typeface="Calibri" panose="020F0502020204030204" pitchFamily="34" charset="0"/>
                          <a:ea typeface="Calibri" panose="020F0502020204030204" pitchFamily="34" charset="0"/>
                          <a:cs typeface="Calibri" panose="020F0502020204030204" pitchFamily="34" charset="0"/>
                        </a:rPr>
                        <a:t>C. </a:t>
                      </a:r>
                      <a:r>
                        <a:rPr lang="vi-VN" sz="2600" b="1" dirty="0">
                          <a:solidFill>
                            <a:schemeClr val="bg1"/>
                          </a:solidFill>
                          <a:latin typeface="Calibri" panose="020F0502020204030204" pitchFamily="34" charset="0"/>
                          <a:ea typeface="Calibri" panose="020F0502020204030204" pitchFamily="34" charset="0"/>
                          <a:cs typeface="Calibri" panose="020F0502020204030204" pitchFamily="34" charset="0"/>
                        </a:rPr>
                        <a:t>Recommendations</a:t>
                      </a:r>
                      <a:r>
                        <a:rPr lang="en-US" sz="26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2600" b="1" dirty="0">
                          <a:solidFill>
                            <a:schemeClr val="bg1"/>
                          </a:solidFill>
                          <a:latin typeface="Calibri" panose="020F0502020204030204" pitchFamily="34" charset="0"/>
                          <a:ea typeface="Calibri" panose="020F0502020204030204" pitchFamily="34" charset="0"/>
                          <a:cs typeface="Calibri" panose="020F0502020204030204" pitchFamily="34" charset="0"/>
                        </a:rPr>
                        <a:t>– what to do next?</a:t>
                      </a:r>
                      <a:endParaRPr lang="en-US" sz="2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8571792"/>
                  </a:ext>
                </a:extLst>
              </a:tr>
            </a:tbl>
          </a:graphicData>
        </a:graphic>
      </p:graphicFrame>
      <p:grpSp>
        <p:nvGrpSpPr>
          <p:cNvPr id="12" name="Group 11">
            <a:extLst>
              <a:ext uri="{FF2B5EF4-FFF2-40B4-BE49-F238E27FC236}">
                <a16:creationId xmlns:a16="http://schemas.microsoft.com/office/drawing/2014/main" id="{3A6954BC-67D1-CDAA-D119-895FDFDE8743}"/>
              </a:ext>
            </a:extLst>
          </p:cNvPr>
          <p:cNvGrpSpPr/>
          <p:nvPr/>
        </p:nvGrpSpPr>
        <p:grpSpPr>
          <a:xfrm>
            <a:off x="5833284" y="2325891"/>
            <a:ext cx="1208750" cy="904120"/>
            <a:chOff x="5833284" y="2325891"/>
            <a:chExt cx="1208750" cy="904120"/>
          </a:xfrm>
        </p:grpSpPr>
        <p:sp>
          <p:nvSpPr>
            <p:cNvPr id="21" name="Rectangle 20">
              <a:extLst>
                <a:ext uri="{FF2B5EF4-FFF2-40B4-BE49-F238E27FC236}">
                  <a16:creationId xmlns:a16="http://schemas.microsoft.com/office/drawing/2014/main" id="{14982F61-D25D-ACD5-82C1-F9CB183615A3}"/>
                </a:ext>
              </a:extLst>
            </p:cNvPr>
            <p:cNvSpPr/>
            <p:nvPr/>
          </p:nvSpPr>
          <p:spPr>
            <a:xfrm>
              <a:off x="5833284" y="2325891"/>
              <a:ext cx="85344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12</a:t>
              </a:r>
            </a:p>
          </p:txBody>
        </p:sp>
        <p:sp>
          <p:nvSpPr>
            <p:cNvPr id="23" name="Rectangle 22">
              <a:extLst>
                <a:ext uri="{FF2B5EF4-FFF2-40B4-BE49-F238E27FC236}">
                  <a16:creationId xmlns:a16="http://schemas.microsoft.com/office/drawing/2014/main" id="{518CAE1E-68A5-D72D-D8E4-98EB083195F1}"/>
                </a:ext>
              </a:extLst>
            </p:cNvPr>
            <p:cNvSpPr/>
            <p:nvPr/>
          </p:nvSpPr>
          <p:spPr>
            <a:xfrm>
              <a:off x="6188594" y="2681371"/>
              <a:ext cx="85344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14</a:t>
              </a:r>
            </a:p>
          </p:txBody>
        </p:sp>
      </p:grpSp>
      <p:grpSp>
        <p:nvGrpSpPr>
          <p:cNvPr id="8" name="Group 7">
            <a:extLst>
              <a:ext uri="{FF2B5EF4-FFF2-40B4-BE49-F238E27FC236}">
                <a16:creationId xmlns:a16="http://schemas.microsoft.com/office/drawing/2014/main" id="{B5D93396-A0E3-45C3-7849-B00DEC8AB715}"/>
              </a:ext>
            </a:extLst>
          </p:cNvPr>
          <p:cNvGrpSpPr/>
          <p:nvPr/>
        </p:nvGrpSpPr>
        <p:grpSpPr>
          <a:xfrm>
            <a:off x="911858" y="2192501"/>
            <a:ext cx="1140226" cy="2214888"/>
            <a:chOff x="911858" y="2192501"/>
            <a:chExt cx="1140226" cy="2214888"/>
          </a:xfrm>
        </p:grpSpPr>
        <p:sp>
          <p:nvSpPr>
            <p:cNvPr id="9" name="Rectangle 8">
              <a:extLst>
                <a:ext uri="{FF2B5EF4-FFF2-40B4-BE49-F238E27FC236}">
                  <a16:creationId xmlns:a16="http://schemas.microsoft.com/office/drawing/2014/main" id="{0B250BCF-4DBF-0B8E-6A97-A2B1774FC9CD}"/>
                </a:ext>
              </a:extLst>
            </p:cNvPr>
            <p:cNvSpPr/>
            <p:nvPr/>
          </p:nvSpPr>
          <p:spPr>
            <a:xfrm>
              <a:off x="911858" y="2192501"/>
              <a:ext cx="42672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3</a:t>
              </a:r>
            </a:p>
          </p:txBody>
        </p:sp>
        <p:sp>
          <p:nvSpPr>
            <p:cNvPr id="11" name="Rectangle 10">
              <a:extLst>
                <a:ext uri="{FF2B5EF4-FFF2-40B4-BE49-F238E27FC236}">
                  <a16:creationId xmlns:a16="http://schemas.microsoft.com/office/drawing/2014/main" id="{A32DA44F-556F-351A-369F-221BBED37511}"/>
                </a:ext>
              </a:extLst>
            </p:cNvPr>
            <p:cNvSpPr/>
            <p:nvPr/>
          </p:nvSpPr>
          <p:spPr>
            <a:xfrm>
              <a:off x="1065383" y="2571131"/>
              <a:ext cx="42672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5</a:t>
              </a:r>
            </a:p>
          </p:txBody>
        </p:sp>
        <p:sp>
          <p:nvSpPr>
            <p:cNvPr id="15" name="Rectangle 14">
              <a:extLst>
                <a:ext uri="{FF2B5EF4-FFF2-40B4-BE49-F238E27FC236}">
                  <a16:creationId xmlns:a16="http://schemas.microsoft.com/office/drawing/2014/main" id="{3A515682-9C3A-0289-E88D-26BE85D7E683}"/>
                </a:ext>
              </a:extLst>
            </p:cNvPr>
            <p:cNvSpPr/>
            <p:nvPr/>
          </p:nvSpPr>
          <p:spPr>
            <a:xfrm>
              <a:off x="911858" y="2970081"/>
              <a:ext cx="42672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7</a:t>
              </a:r>
            </a:p>
          </p:txBody>
        </p:sp>
        <p:sp>
          <p:nvSpPr>
            <p:cNvPr id="6" name="Rectangle 5">
              <a:extLst>
                <a:ext uri="{FF2B5EF4-FFF2-40B4-BE49-F238E27FC236}">
                  <a16:creationId xmlns:a16="http://schemas.microsoft.com/office/drawing/2014/main" id="{2D816076-2871-761C-980D-DA6AA9B1353D}"/>
                </a:ext>
              </a:extLst>
            </p:cNvPr>
            <p:cNvSpPr/>
            <p:nvPr/>
          </p:nvSpPr>
          <p:spPr>
            <a:xfrm>
              <a:off x="1337408" y="3342203"/>
              <a:ext cx="426720"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8</a:t>
              </a:r>
            </a:p>
          </p:txBody>
        </p:sp>
        <p:sp>
          <p:nvSpPr>
            <p:cNvPr id="10" name="Rectangle 9">
              <a:extLst>
                <a:ext uri="{FF2B5EF4-FFF2-40B4-BE49-F238E27FC236}">
                  <a16:creationId xmlns:a16="http://schemas.microsoft.com/office/drawing/2014/main" id="{FF7F5680-0D96-93B4-9CC1-C9AF02BC4475}"/>
                </a:ext>
              </a:extLst>
            </p:cNvPr>
            <p:cNvSpPr/>
            <p:nvPr/>
          </p:nvSpPr>
          <p:spPr>
            <a:xfrm>
              <a:off x="1397096" y="3595023"/>
              <a:ext cx="654988"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13</a:t>
              </a:r>
            </a:p>
          </p:txBody>
        </p:sp>
        <p:sp>
          <p:nvSpPr>
            <p:cNvPr id="14" name="Rectangle 13">
              <a:extLst>
                <a:ext uri="{FF2B5EF4-FFF2-40B4-BE49-F238E27FC236}">
                  <a16:creationId xmlns:a16="http://schemas.microsoft.com/office/drawing/2014/main" id="{E429BBCF-98B1-CF87-DD3F-1466EB0C1B49}"/>
                </a:ext>
              </a:extLst>
            </p:cNvPr>
            <p:cNvSpPr/>
            <p:nvPr/>
          </p:nvSpPr>
          <p:spPr>
            <a:xfrm>
              <a:off x="1121819" y="3858749"/>
              <a:ext cx="654987" cy="548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alpha val="64000"/>
                    </a:schemeClr>
                  </a:solidFill>
                  <a:latin typeface="Calibri" panose="020F0502020204030204" pitchFamily="34" charset="0"/>
                  <a:ea typeface="Calibri" panose="020F0502020204030204" pitchFamily="34" charset="0"/>
                  <a:cs typeface="Calibri" panose="020F0502020204030204" pitchFamily="34" charset="0"/>
                </a:rPr>
                <a:t>15</a:t>
              </a:r>
            </a:p>
          </p:txBody>
        </p:sp>
      </p:grpSp>
    </p:spTree>
    <p:extLst>
      <p:ext uri="{BB962C8B-B14F-4D97-AF65-F5344CB8AC3E}">
        <p14:creationId xmlns:p14="http://schemas.microsoft.com/office/powerpoint/2010/main" val="16751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19610-6829-A9B8-5F4F-1A9262079A8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FA85A63-5B0F-3129-5880-7719915CE3FB}"/>
              </a:ext>
            </a:extLst>
          </p:cNvPr>
          <p:cNvSpPr/>
          <p:nvPr/>
        </p:nvSpPr>
        <p:spPr>
          <a:xfrm>
            <a:off x="762192" y="613456"/>
            <a:ext cx="10591608" cy="5553267"/>
          </a:xfrm>
          <a:prstGeom prst="roundRect">
            <a:avLst>
              <a:gd name="adj" fmla="val 2069"/>
            </a:avLst>
          </a:prstGeom>
          <a:gradFill flip="none" rotWithShape="1">
            <a:gsLst>
              <a:gs pos="0">
                <a:schemeClr val="bg1">
                  <a:alpha val="12000"/>
                </a:schemeClr>
              </a:gs>
              <a:gs pos="56000">
                <a:schemeClr val="bg1">
                  <a:alpha val="0"/>
                </a:schemeClr>
              </a:gs>
              <a:gs pos="100000">
                <a:schemeClr val="bg1">
                  <a:alpha val="15000"/>
                </a:schemeClr>
              </a:gs>
            </a:gsLst>
            <a:path path="circle">
              <a:fillToRect l="50000" t="130000" r="50000" b="-30000"/>
            </a:path>
            <a:tileRect/>
          </a:gradFill>
          <a:ln w="1905">
            <a:solidFill>
              <a:schemeClr val="bg1">
                <a:lumMod val="8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D2900769-2281-2D42-B08D-F724205698E1}"/>
              </a:ext>
            </a:extLst>
          </p:cNvPr>
          <p:cNvSpPr>
            <a:spLocks noGrp="1"/>
          </p:cNvSpPr>
          <p:nvPr>
            <p:ph type="sldNum" sz="quarter" idx="12"/>
          </p:nvPr>
        </p:nvSpPr>
        <p:spPr/>
        <p:txBody>
          <a:bodyPr/>
          <a:lstStyle/>
          <a:p>
            <a:fld id="{8DF2760E-766A-4A03-8C6B-76AE5EE90104}" type="slidenum">
              <a:rPr lang="en-US" smtClean="0"/>
              <a:pPr/>
              <a:t>3</a:t>
            </a:fld>
            <a:endParaRPr lang="en-US"/>
          </a:p>
        </p:txBody>
      </p:sp>
      <p:sp>
        <p:nvSpPr>
          <p:cNvPr id="3" name="TextBox 2">
            <a:extLst>
              <a:ext uri="{FF2B5EF4-FFF2-40B4-BE49-F238E27FC236}">
                <a16:creationId xmlns:a16="http://schemas.microsoft.com/office/drawing/2014/main" id="{B45C77C0-3A82-C835-26B4-8E693D34716F}"/>
              </a:ext>
            </a:extLst>
          </p:cNvPr>
          <p:cNvSpPr txBox="1"/>
          <p:nvPr/>
        </p:nvSpPr>
        <p:spPr>
          <a:xfrm>
            <a:off x="1034566" y="838674"/>
            <a:ext cx="6094378" cy="707886"/>
          </a:xfrm>
          <a:prstGeom prst="rect">
            <a:avLst/>
          </a:prstGeom>
          <a:noFill/>
        </p:spPr>
        <p:txBody>
          <a:bodyPr wrap="square">
            <a:spAutoFit/>
          </a:bodyPr>
          <a:lstStyle/>
          <a:p>
            <a:pPr>
              <a:spcAft>
                <a:spcPts val="1800"/>
              </a:spcAft>
              <a:buNone/>
            </a:pPr>
            <a:r>
              <a:rPr lang="en-US" sz="4000" b="1" i="0" dirty="0">
                <a:solidFill>
                  <a:schemeClr val="bg1"/>
                </a:solidFill>
                <a:effectLst/>
                <a:latin typeface="Grab Community Solid"/>
              </a:rPr>
              <a:t>In 2024 …</a:t>
            </a:r>
          </a:p>
        </p:txBody>
      </p:sp>
      <p:sp>
        <p:nvSpPr>
          <p:cNvPr id="4" name="TextBox 3">
            <a:extLst>
              <a:ext uri="{FF2B5EF4-FFF2-40B4-BE49-F238E27FC236}">
                <a16:creationId xmlns:a16="http://schemas.microsoft.com/office/drawing/2014/main" id="{4D569D1C-DA20-E877-1DFF-82EACAA14454}"/>
              </a:ext>
            </a:extLst>
          </p:cNvPr>
          <p:cNvSpPr txBox="1"/>
          <p:nvPr/>
        </p:nvSpPr>
        <p:spPr>
          <a:xfrm>
            <a:off x="1429972" y="1769807"/>
            <a:ext cx="9586059" cy="3277820"/>
          </a:xfrm>
          <a:prstGeom prst="rect">
            <a:avLst/>
          </a:prstGeom>
          <a:noFill/>
        </p:spPr>
        <p:txBody>
          <a:bodyPr wrap="square">
            <a:spAutoFit/>
          </a:bodyPr>
          <a:lstStyle/>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The Fast Food segment achieved strong growth, but is increasingly reliant on a small group of leading brands, exposing the business to concentration risk if performance from these players slows down.</a:t>
            </a:r>
          </a:p>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Growth is primarily volume-driven rather than value-driven, indicating that demand expansion is driven by higher order frequency rather than stronger consumer spending</a:t>
            </a: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shift toward mass-market, lower-priced </a:t>
            </a: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brands)</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Expansion is fueled more by store network growth than improvements in outlet productivity, suggesting that underlying operational efficiency has not significantly improved.</a:t>
            </a:r>
          </a:p>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Promotions are the key driver of order growth, but increasing reliance on promotion volume rather than effectiveness raises concerns around long-term sustainability and unit economics.</a:t>
            </a:r>
            <a:endParaRPr lang="en-US" i="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cxnSp>
        <p:nvCxnSpPr>
          <p:cNvPr id="7" name="Straight Connector 6">
            <a:extLst>
              <a:ext uri="{FF2B5EF4-FFF2-40B4-BE49-F238E27FC236}">
                <a16:creationId xmlns:a16="http://schemas.microsoft.com/office/drawing/2014/main" id="{7E8812F6-D3DD-08C2-E4DB-7616A7406B9C}"/>
              </a:ext>
            </a:extLst>
          </p:cNvPr>
          <p:cNvCxnSpPr>
            <a:cxnSpLocks/>
          </p:cNvCxnSpPr>
          <p:nvPr/>
        </p:nvCxnSpPr>
        <p:spPr>
          <a:xfrm>
            <a:off x="1175967" y="1876813"/>
            <a:ext cx="0" cy="305511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0727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31925-6593-4AEF-64D3-F4B9B3C4838F}"/>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CCB29AD-852E-210A-2832-F8976E747666}"/>
              </a:ext>
            </a:extLst>
          </p:cNvPr>
          <p:cNvSpPr/>
          <p:nvPr/>
        </p:nvSpPr>
        <p:spPr>
          <a:xfrm>
            <a:off x="762192" y="613456"/>
            <a:ext cx="10591608" cy="5553267"/>
          </a:xfrm>
          <a:prstGeom prst="roundRect">
            <a:avLst>
              <a:gd name="adj" fmla="val 2069"/>
            </a:avLst>
          </a:prstGeom>
          <a:gradFill flip="none" rotWithShape="1">
            <a:gsLst>
              <a:gs pos="0">
                <a:schemeClr val="bg1">
                  <a:alpha val="12000"/>
                </a:schemeClr>
              </a:gs>
              <a:gs pos="56000">
                <a:schemeClr val="bg1">
                  <a:alpha val="0"/>
                </a:schemeClr>
              </a:gs>
              <a:gs pos="100000">
                <a:schemeClr val="bg1">
                  <a:alpha val="15000"/>
                </a:schemeClr>
              </a:gs>
            </a:gsLst>
            <a:path path="circle">
              <a:fillToRect l="50000" t="130000" r="50000" b="-30000"/>
            </a:path>
            <a:tileRect/>
          </a:gradFill>
          <a:ln w="1905">
            <a:solidFill>
              <a:schemeClr val="bg1">
                <a:lumMod val="8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4A2137D7-77C3-2988-8C34-E12FC1BDE1A5}"/>
              </a:ext>
            </a:extLst>
          </p:cNvPr>
          <p:cNvSpPr>
            <a:spLocks noGrp="1"/>
          </p:cNvSpPr>
          <p:nvPr>
            <p:ph type="sldNum" sz="quarter" idx="12"/>
          </p:nvPr>
        </p:nvSpPr>
        <p:spPr/>
        <p:txBody>
          <a:bodyPr/>
          <a:lstStyle/>
          <a:p>
            <a:fld id="{8DF2760E-766A-4A03-8C6B-76AE5EE90104}" type="slidenum">
              <a:rPr lang="en-US" smtClean="0"/>
              <a:pPr/>
              <a:t>4</a:t>
            </a:fld>
            <a:endParaRPr lang="en-US"/>
          </a:p>
        </p:txBody>
      </p:sp>
      <p:sp>
        <p:nvSpPr>
          <p:cNvPr id="4" name="TextBox 3">
            <a:extLst>
              <a:ext uri="{FF2B5EF4-FFF2-40B4-BE49-F238E27FC236}">
                <a16:creationId xmlns:a16="http://schemas.microsoft.com/office/drawing/2014/main" id="{4D7BF9D4-936E-5A85-3456-3E8B2782C674}"/>
              </a:ext>
            </a:extLst>
          </p:cNvPr>
          <p:cNvSpPr txBox="1"/>
          <p:nvPr/>
        </p:nvSpPr>
        <p:spPr>
          <a:xfrm>
            <a:off x="1429972" y="1769807"/>
            <a:ext cx="9586059" cy="3554819"/>
          </a:xfrm>
          <a:prstGeom prst="rect">
            <a:avLst/>
          </a:prstGeom>
          <a:noFill/>
        </p:spPr>
        <p:txBody>
          <a:bodyPr wrap="square">
            <a:spAutoFit/>
          </a:bodyPr>
          <a:lstStyle/>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Leading brands (E, D, X) contribute the majority of orders and GMV growth, but their performance is largely driven by aggressive store expansion and promotion intensity, with limited improvement in outlet-level pr</a:t>
            </a:r>
            <a:r>
              <a:rPr lang="vi-VN" dirty="0">
                <a:solidFill>
                  <a:schemeClr val="bg1"/>
                </a:solidFill>
                <a:latin typeface="Calibri" panose="020F0502020204030204" pitchFamily="34" charset="0"/>
                <a:ea typeface="Calibri" panose="020F0502020204030204" pitchFamily="34" charset="0"/>
                <a:cs typeface="Calibri" panose="020F0502020204030204" pitchFamily="34" charset="0"/>
              </a:rPr>
              <a:t>oductivity, </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requiring close monitoring to ensure growth remains efficient.</a:t>
            </a:r>
          </a:p>
          <a:p>
            <a:pPr>
              <a:spcAft>
                <a:spcPts val="1800"/>
              </a:spcAft>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Emerging brand (Y) demonstrates strong growth with relatively stable basket value, indicating healthier fundamentals; however, its rapid increase in promotion intensity suggests a growing dependency that may pose risks to sustainable performance.</a:t>
            </a:r>
            <a:endParaRPr lang="vi-V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Aft>
                <a:spcPts val="1800"/>
              </a:spcAft>
            </a:pP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Aft>
                <a:spcPts val="1800"/>
              </a:spcAft>
            </a:pPr>
            <a:r>
              <a:rPr lang="en-US" i="1" dirty="0">
                <a:solidFill>
                  <a:schemeClr val="bg1"/>
                </a:solidFill>
                <a:latin typeface="Calibri" panose="020F0502020204030204" pitchFamily="34" charset="0"/>
                <a:ea typeface="Calibri" panose="020F0502020204030204" pitchFamily="34" charset="0"/>
                <a:cs typeface="Calibri" panose="020F0502020204030204" pitchFamily="34" charset="0"/>
              </a:rPr>
              <a:t>Overall, the segment presents an opportunity to shift toward more efficient and sustainable growth, by </a:t>
            </a:r>
            <a:r>
              <a:rPr lang="en-US" b="1" i="1" dirty="0">
                <a:solidFill>
                  <a:schemeClr val="bg1"/>
                </a:solidFill>
                <a:latin typeface="Calibri" panose="020F0502020204030204" pitchFamily="34" charset="0"/>
                <a:ea typeface="Calibri" panose="020F0502020204030204" pitchFamily="34" charset="0"/>
                <a:cs typeface="Calibri" panose="020F0502020204030204" pitchFamily="34" charset="0"/>
              </a:rPr>
              <a:t>reducing over-reliance on promotions </a:t>
            </a:r>
            <a:r>
              <a:rPr lang="en-US" i="1" dirty="0">
                <a:solidFill>
                  <a:schemeClr val="bg1"/>
                </a:solidFill>
                <a:latin typeface="Calibri" panose="020F0502020204030204" pitchFamily="34" charset="0"/>
                <a:ea typeface="Calibri" panose="020F0502020204030204" pitchFamily="34" charset="0"/>
                <a:cs typeface="Calibri" panose="020F0502020204030204" pitchFamily="34" charset="0"/>
              </a:rPr>
              <a:t>while </a:t>
            </a:r>
            <a:r>
              <a:rPr lang="en-US" b="1" i="1" dirty="0">
                <a:solidFill>
                  <a:schemeClr val="bg1"/>
                </a:solidFill>
                <a:latin typeface="Calibri" panose="020F0502020204030204" pitchFamily="34" charset="0"/>
                <a:ea typeface="Calibri" panose="020F0502020204030204" pitchFamily="34" charset="0"/>
                <a:cs typeface="Calibri" panose="020F0502020204030204" pitchFamily="34" charset="0"/>
              </a:rPr>
              <a:t>strengthening underlying demand quality and operational efficiency</a:t>
            </a:r>
            <a:r>
              <a:rPr lang="en-US" i="1"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cxnSp>
        <p:nvCxnSpPr>
          <p:cNvPr id="7" name="Straight Connector 6">
            <a:extLst>
              <a:ext uri="{FF2B5EF4-FFF2-40B4-BE49-F238E27FC236}">
                <a16:creationId xmlns:a16="http://schemas.microsoft.com/office/drawing/2014/main" id="{94BB70A8-BFA3-CD23-F99E-93D3CDBD5178}"/>
              </a:ext>
            </a:extLst>
          </p:cNvPr>
          <p:cNvCxnSpPr>
            <a:cxnSpLocks/>
          </p:cNvCxnSpPr>
          <p:nvPr/>
        </p:nvCxnSpPr>
        <p:spPr>
          <a:xfrm>
            <a:off x="1175967" y="1876813"/>
            <a:ext cx="0" cy="329830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47A1327-BE68-69B7-13BE-A38A8F86A6BF}"/>
              </a:ext>
            </a:extLst>
          </p:cNvPr>
          <p:cNvSpPr txBox="1"/>
          <p:nvPr/>
        </p:nvSpPr>
        <p:spPr>
          <a:xfrm>
            <a:off x="1034566" y="838674"/>
            <a:ext cx="6094378" cy="707886"/>
          </a:xfrm>
          <a:prstGeom prst="rect">
            <a:avLst/>
          </a:prstGeom>
          <a:noFill/>
        </p:spPr>
        <p:txBody>
          <a:bodyPr wrap="square">
            <a:spAutoFit/>
          </a:bodyPr>
          <a:lstStyle/>
          <a:p>
            <a:pPr>
              <a:spcAft>
                <a:spcPts val="1800"/>
              </a:spcAft>
              <a:buNone/>
            </a:pPr>
            <a:r>
              <a:rPr lang="en-US" sz="4000" b="1" i="0" dirty="0">
                <a:solidFill>
                  <a:schemeClr val="bg1"/>
                </a:solidFill>
                <a:effectLst/>
                <a:latin typeface="Grab Community Solid"/>
              </a:rPr>
              <a:t>In 2024 …</a:t>
            </a:r>
          </a:p>
        </p:txBody>
      </p:sp>
    </p:spTree>
    <p:extLst>
      <p:ext uri="{BB962C8B-B14F-4D97-AF65-F5344CB8AC3E}">
        <p14:creationId xmlns:p14="http://schemas.microsoft.com/office/powerpoint/2010/main" val="173003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790CD63-FD85-68FB-681C-D4B330087091}"/>
              </a:ext>
            </a:extLst>
          </p:cNvPr>
          <p:cNvSpPr/>
          <p:nvPr/>
        </p:nvSpPr>
        <p:spPr>
          <a:xfrm>
            <a:off x="0" y="0"/>
            <a:ext cx="12192000" cy="6858000"/>
          </a:xfrm>
          <a:prstGeom prst="rect">
            <a:avLst/>
          </a:prstGeom>
          <a:solidFill>
            <a:srgbClr val="0209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Rectangle: Rounded Corners 35">
            <a:extLst>
              <a:ext uri="{FF2B5EF4-FFF2-40B4-BE49-F238E27FC236}">
                <a16:creationId xmlns:a16="http://schemas.microsoft.com/office/drawing/2014/main" id="{2D28B1BA-5528-4E97-B9EC-10CED0B4F72C}"/>
              </a:ext>
            </a:extLst>
          </p:cNvPr>
          <p:cNvSpPr/>
          <p:nvPr/>
        </p:nvSpPr>
        <p:spPr>
          <a:xfrm>
            <a:off x="3212301" y="1448068"/>
            <a:ext cx="8489842" cy="4628635"/>
          </a:xfrm>
          <a:prstGeom prst="roundRect">
            <a:avLst>
              <a:gd name="adj" fmla="val 2069"/>
            </a:avLst>
          </a:prstGeom>
          <a:gradFill flip="none" rotWithShape="1">
            <a:gsLst>
              <a:gs pos="0">
                <a:schemeClr val="bg1">
                  <a:alpha val="5000"/>
                </a:schemeClr>
              </a:gs>
              <a:gs pos="56000">
                <a:schemeClr val="bg1">
                  <a:alpha val="4000"/>
                </a:schemeClr>
              </a:gs>
              <a:gs pos="100000">
                <a:schemeClr val="bg1">
                  <a:alpha val="9000"/>
                </a:schemeClr>
              </a:gs>
            </a:gsLst>
            <a:path path="circle">
              <a:fillToRect l="50000" t="130000" r="50000" b="-30000"/>
            </a:path>
            <a:tileRect/>
          </a:gradFill>
          <a:ln w="1905">
            <a:solidFill>
              <a:schemeClr val="bg1">
                <a:lumMod val="8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7E912394-F18A-E73B-80FD-EFBCB11A5150}"/>
              </a:ext>
            </a:extLst>
          </p:cNvPr>
          <p:cNvSpPr>
            <a:spLocks noGrp="1"/>
          </p:cNvSpPr>
          <p:nvPr>
            <p:ph type="sldNum" sz="quarter" idx="12"/>
          </p:nvPr>
        </p:nvSpPr>
        <p:spPr/>
        <p:txBody>
          <a:bodyPr/>
          <a:lstStyle/>
          <a:p>
            <a:fld id="{558ED922-7EDD-473A-8362-50B58FFACA46}" type="slidenum">
              <a:rPr lang="en-US" smtClean="0">
                <a:solidFill>
                  <a:schemeClr val="bg1"/>
                </a:solidFill>
              </a:rPr>
              <a:pPr/>
              <a:t>5</a:t>
            </a:fld>
            <a:endParaRPr lang="en-US" dirty="0">
              <a:solidFill>
                <a:schemeClr val="bg1"/>
              </a:solidFill>
            </a:endParaRPr>
          </a:p>
        </p:txBody>
      </p:sp>
      <p:sp>
        <p:nvSpPr>
          <p:cNvPr id="3" name="Title 2">
            <a:extLst>
              <a:ext uri="{FF2B5EF4-FFF2-40B4-BE49-F238E27FC236}">
                <a16:creationId xmlns:a16="http://schemas.microsoft.com/office/drawing/2014/main" id="{39936B32-4F5E-D76B-6382-C02A55785DAB}"/>
              </a:ext>
            </a:extLst>
          </p:cNvPr>
          <p:cNvSpPr>
            <a:spLocks noGrp="1"/>
          </p:cNvSpPr>
          <p:nvPr>
            <p:ph type="title"/>
          </p:nvPr>
        </p:nvSpPr>
        <p:spPr/>
        <p:txBody>
          <a:bodyPr rIns="0">
            <a:noAutofit/>
          </a:bodyPr>
          <a:lstStyle/>
          <a:p>
            <a:r>
              <a:rPr lang="en-US" sz="2200" dirty="0">
                <a:solidFill>
                  <a:schemeClr val="bg1"/>
                </a:solidFill>
              </a:rPr>
              <a:t>Aligning with the </a:t>
            </a:r>
            <a:r>
              <a:rPr lang="vi-VN" sz="2200" dirty="0">
                <a:solidFill>
                  <a:schemeClr val="bg1"/>
                </a:solidFill>
              </a:rPr>
              <a:t>positive </a:t>
            </a:r>
            <a:r>
              <a:rPr lang="en-US" sz="2200" dirty="0">
                <a:solidFill>
                  <a:schemeClr val="bg1"/>
                </a:solidFill>
              </a:rPr>
              <a:t>trend of Vietnam market, our Fast Food segment demonstrated an </a:t>
            </a:r>
            <a:r>
              <a:rPr lang="en-US" sz="2200" b="1" dirty="0">
                <a:solidFill>
                  <a:schemeClr val="bg1"/>
                </a:solidFill>
              </a:rPr>
              <a:t>overall </a:t>
            </a:r>
            <a:r>
              <a:rPr lang="vi-VN" sz="2200" b="1" dirty="0">
                <a:solidFill>
                  <a:schemeClr val="bg1"/>
                </a:solidFill>
              </a:rPr>
              <a:t>strong </a:t>
            </a:r>
            <a:r>
              <a:rPr lang="en-US" sz="2200" b="1" dirty="0">
                <a:solidFill>
                  <a:schemeClr val="bg1"/>
                </a:solidFill>
              </a:rPr>
              <a:t>performance</a:t>
            </a:r>
            <a:r>
              <a:rPr lang="en-US" sz="2200" dirty="0">
                <a:solidFill>
                  <a:schemeClr val="bg1"/>
                </a:solidFill>
              </a:rPr>
              <a:t> </a:t>
            </a:r>
            <a:r>
              <a:rPr lang="vi-VN" sz="2200" dirty="0">
                <a:solidFill>
                  <a:schemeClr val="bg1"/>
                </a:solidFill>
              </a:rPr>
              <a:t>and a </a:t>
            </a:r>
            <a:r>
              <a:rPr lang="en-US" sz="2200" dirty="0" err="1">
                <a:solidFill>
                  <a:schemeClr val="bg1"/>
                </a:solidFill>
              </a:rPr>
              <a:t>noticable</a:t>
            </a:r>
            <a:r>
              <a:rPr lang="en-US" sz="2200" dirty="0">
                <a:solidFill>
                  <a:schemeClr val="bg1"/>
                </a:solidFill>
              </a:rPr>
              <a:t> </a:t>
            </a:r>
            <a:r>
              <a:rPr lang="vi-VN" sz="2200" dirty="0">
                <a:solidFill>
                  <a:schemeClr val="bg1"/>
                </a:solidFill>
              </a:rPr>
              <a:t>skewness to top performers (</a:t>
            </a:r>
            <a:r>
              <a:rPr lang="en-US" sz="2200" dirty="0">
                <a:solidFill>
                  <a:schemeClr val="bg1"/>
                </a:solidFill>
              </a:rPr>
              <a:t>E, D, F, </a:t>
            </a:r>
            <a:r>
              <a:rPr lang="vi-VN" sz="2200" dirty="0">
                <a:solidFill>
                  <a:schemeClr val="bg1"/>
                </a:solidFill>
              </a:rPr>
              <a:t>X) </a:t>
            </a:r>
            <a:r>
              <a:rPr lang="en-US" sz="2200" dirty="0">
                <a:solidFill>
                  <a:schemeClr val="bg1"/>
                </a:solidFill>
              </a:rPr>
              <a:t>in 2024</a:t>
            </a:r>
            <a:r>
              <a:rPr lang="vi-VN" sz="2200" dirty="0">
                <a:solidFill>
                  <a:schemeClr val="bg1"/>
                </a:solidFill>
              </a:rPr>
              <a:t> </a:t>
            </a:r>
            <a:endParaRPr lang="en-US" sz="2200" dirty="0">
              <a:solidFill>
                <a:schemeClr val="bg1"/>
              </a:solidFill>
            </a:endParaRPr>
          </a:p>
        </p:txBody>
      </p:sp>
      <p:sp>
        <p:nvSpPr>
          <p:cNvPr id="37" name="TextBox 36">
            <a:extLst>
              <a:ext uri="{FF2B5EF4-FFF2-40B4-BE49-F238E27FC236}">
                <a16:creationId xmlns:a16="http://schemas.microsoft.com/office/drawing/2014/main" id="{8F9E6AF5-D0D4-E451-C967-FA6083CB305F}"/>
              </a:ext>
            </a:extLst>
          </p:cNvPr>
          <p:cNvSpPr txBox="1"/>
          <p:nvPr/>
        </p:nvSpPr>
        <p:spPr>
          <a:xfrm>
            <a:off x="3457892" y="2010554"/>
            <a:ext cx="1994939" cy="1354217"/>
          </a:xfrm>
          <a:prstGeom prst="rect">
            <a:avLst/>
          </a:prstGeom>
          <a:noFill/>
          <a:ln>
            <a:noFill/>
          </a:ln>
        </p:spPr>
        <p:txBody>
          <a:bodyPr wrap="square" lIns="0">
            <a:spAutoFit/>
          </a:bodyPr>
          <a:lstStyle/>
          <a:p>
            <a:pPr algn="ctr"/>
            <a:r>
              <a:rPr lang="en-US" sz="4000" b="1" dirty="0">
                <a:solidFill>
                  <a:schemeClr val="bg1"/>
                </a:solidFill>
                <a:latin typeface="Calibri" panose="020F0502020204030204" pitchFamily="34" charset="0"/>
                <a:ea typeface="Calibri" panose="020F0502020204030204" pitchFamily="34" charset="0"/>
                <a:cs typeface="Calibri" panose="020F0502020204030204" pitchFamily="34" charset="0"/>
              </a:rPr>
              <a:t>60.6</a:t>
            </a:r>
            <a:r>
              <a:rPr lang="en-US" sz="44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algn="ct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million USD of </a:t>
            </a: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GMV</a:t>
            </a:r>
          </a:p>
          <a:p>
            <a:pPr algn="ctr"/>
            <a:r>
              <a:rPr lang="en-US" sz="1600" b="1" dirty="0">
                <a:solidFill>
                  <a:srgbClr val="00B050"/>
                </a:solidFill>
                <a:latin typeface="Calibri" panose="020F0502020204030204" pitchFamily="34" charset="0"/>
                <a:ea typeface="Calibri" panose="020F0502020204030204" pitchFamily="34" charset="0"/>
                <a:cs typeface="Calibri" panose="020F0502020204030204" pitchFamily="34" charset="0"/>
              </a:rPr>
              <a:t>+24%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YoY</a:t>
            </a:r>
          </a:p>
        </p:txBody>
      </p:sp>
      <p:grpSp>
        <p:nvGrpSpPr>
          <p:cNvPr id="50" name="Group 49">
            <a:extLst>
              <a:ext uri="{FF2B5EF4-FFF2-40B4-BE49-F238E27FC236}">
                <a16:creationId xmlns:a16="http://schemas.microsoft.com/office/drawing/2014/main" id="{31BCED3C-6CB3-58E0-2517-5377B5CC32AD}"/>
              </a:ext>
            </a:extLst>
          </p:cNvPr>
          <p:cNvGrpSpPr/>
          <p:nvPr/>
        </p:nvGrpSpPr>
        <p:grpSpPr>
          <a:xfrm>
            <a:off x="3411592" y="3712512"/>
            <a:ext cx="5498943" cy="2277695"/>
            <a:chOff x="5166216" y="3375176"/>
            <a:chExt cx="7201262" cy="2768482"/>
          </a:xfrm>
        </p:grpSpPr>
        <p:grpSp>
          <p:nvGrpSpPr>
            <p:cNvPr id="6" name="Group 5">
              <a:extLst>
                <a:ext uri="{FF2B5EF4-FFF2-40B4-BE49-F238E27FC236}">
                  <a16:creationId xmlns:a16="http://schemas.microsoft.com/office/drawing/2014/main" id="{27F1B18E-641B-8841-B379-11DFAB7A4BBC}"/>
                </a:ext>
              </a:extLst>
            </p:cNvPr>
            <p:cNvGrpSpPr/>
            <p:nvPr/>
          </p:nvGrpSpPr>
          <p:grpSpPr>
            <a:xfrm>
              <a:off x="5166216" y="3727639"/>
              <a:ext cx="7201262" cy="2416019"/>
              <a:chOff x="489858" y="2290138"/>
              <a:chExt cx="5460658" cy="2416019"/>
            </a:xfrm>
          </p:grpSpPr>
          <p:graphicFrame>
            <p:nvGraphicFramePr>
              <p:cNvPr id="18" name="Chart 17">
                <a:extLst>
                  <a:ext uri="{FF2B5EF4-FFF2-40B4-BE49-F238E27FC236}">
                    <a16:creationId xmlns:a16="http://schemas.microsoft.com/office/drawing/2014/main" id="{E1F28D47-3A3D-8A63-5EC8-2B3D838DFE25}"/>
                  </a:ext>
                </a:extLst>
              </p:cNvPr>
              <p:cNvGraphicFramePr/>
              <p:nvPr>
                <p:extLst>
                  <p:ext uri="{D42A27DB-BD31-4B8C-83A1-F6EECF244321}">
                    <p14:modId xmlns:p14="http://schemas.microsoft.com/office/powerpoint/2010/main" val="648904800"/>
                  </p:ext>
                </p:extLst>
              </p:nvPr>
            </p:nvGraphicFramePr>
            <p:xfrm>
              <a:off x="489858" y="2290138"/>
              <a:ext cx="5460658" cy="2416019"/>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Straight Connector 14">
                <a:extLst>
                  <a:ext uri="{FF2B5EF4-FFF2-40B4-BE49-F238E27FC236}">
                    <a16:creationId xmlns:a16="http://schemas.microsoft.com/office/drawing/2014/main" id="{FC16471F-F999-A2E2-2207-6F1C32034735}"/>
                  </a:ext>
                </a:extLst>
              </p:cNvPr>
              <p:cNvCxnSpPr>
                <a:cxnSpLocks/>
              </p:cNvCxnSpPr>
              <p:nvPr/>
            </p:nvCxnSpPr>
            <p:spPr>
              <a:xfrm>
                <a:off x="3393441" y="2401947"/>
                <a:ext cx="0" cy="2181119"/>
              </a:xfrm>
              <a:prstGeom prst="line">
                <a:avLst/>
              </a:prstGeom>
              <a:ln w="12700">
                <a:solidFill>
                  <a:schemeClr val="bg1">
                    <a:lumMod val="75000"/>
                    <a:alpha val="48000"/>
                  </a:schemeClr>
                </a:solidFill>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36A2FE58-F5FF-3F03-6E32-8E7AFA9A958F}"/>
                </a:ext>
              </a:extLst>
            </p:cNvPr>
            <p:cNvSpPr txBox="1"/>
            <p:nvPr/>
          </p:nvSpPr>
          <p:spPr>
            <a:xfrm>
              <a:off x="5171415" y="3375176"/>
              <a:ext cx="2805160" cy="374095"/>
            </a:xfrm>
            <a:prstGeom prst="rect">
              <a:avLst/>
            </a:prstGeom>
            <a:noFill/>
          </p:spPr>
          <p:txBody>
            <a:bodyPr wrap="square" lIns="0">
              <a:spAutoFit/>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GMV growth, </a:t>
              </a: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mil USD</a:t>
              </a:r>
            </a:p>
          </p:txBody>
        </p:sp>
        <p:sp>
          <p:nvSpPr>
            <p:cNvPr id="27" name="TextBox 26">
              <a:extLst>
                <a:ext uri="{FF2B5EF4-FFF2-40B4-BE49-F238E27FC236}">
                  <a16:creationId xmlns:a16="http://schemas.microsoft.com/office/drawing/2014/main" id="{5F12884A-AEC1-DDBB-C42F-31AB0D2B30B9}"/>
                </a:ext>
              </a:extLst>
            </p:cNvPr>
            <p:cNvSpPr txBox="1"/>
            <p:nvPr/>
          </p:nvSpPr>
          <p:spPr>
            <a:xfrm>
              <a:off x="5686872" y="5646471"/>
              <a:ext cx="1583229" cy="374095"/>
            </a:xfrm>
            <a:prstGeom prst="rect">
              <a:avLst/>
            </a:prstGeom>
            <a:noFill/>
          </p:spPr>
          <p:txBody>
            <a:bodyPr wrap="square" lIns="0">
              <a:spAutoFit/>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2023</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5C9BFDB0-AFD9-7790-C1BB-D30F51C3C983}"/>
                </a:ext>
              </a:extLst>
            </p:cNvPr>
            <p:cNvSpPr txBox="1"/>
            <p:nvPr/>
          </p:nvSpPr>
          <p:spPr>
            <a:xfrm>
              <a:off x="9162363" y="5646472"/>
              <a:ext cx="1416193" cy="374095"/>
            </a:xfrm>
            <a:prstGeom prst="rect">
              <a:avLst/>
            </a:prstGeom>
            <a:noFill/>
          </p:spPr>
          <p:txBody>
            <a:bodyPr wrap="square" lIns="0">
              <a:spAutoFit/>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2024</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30" name="TextBox 29">
            <a:extLst>
              <a:ext uri="{FF2B5EF4-FFF2-40B4-BE49-F238E27FC236}">
                <a16:creationId xmlns:a16="http://schemas.microsoft.com/office/drawing/2014/main" id="{89E6C386-E311-B02A-E28D-5A41EDB69FF0}"/>
              </a:ext>
            </a:extLst>
          </p:cNvPr>
          <p:cNvSpPr txBox="1"/>
          <p:nvPr/>
        </p:nvSpPr>
        <p:spPr>
          <a:xfrm>
            <a:off x="512531" y="1519189"/>
            <a:ext cx="2685955" cy="646331"/>
          </a:xfrm>
          <a:prstGeom prst="rect">
            <a:avLst/>
          </a:prstGeom>
          <a:noFill/>
          <a:ln>
            <a:noFill/>
          </a:ln>
        </p:spPr>
        <p:txBody>
          <a:bodyPr wrap="square" lIns="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Vietnamese</a:t>
            </a: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 Fast Food market:</a:t>
            </a:r>
          </a:p>
        </p:txBody>
      </p:sp>
      <p:sp>
        <p:nvSpPr>
          <p:cNvPr id="51" name="TextBox 50">
            <a:extLst>
              <a:ext uri="{FF2B5EF4-FFF2-40B4-BE49-F238E27FC236}">
                <a16:creationId xmlns:a16="http://schemas.microsoft.com/office/drawing/2014/main" id="{7BD82726-12FE-20E8-DA46-D3DDE6CD3866}"/>
              </a:ext>
            </a:extLst>
          </p:cNvPr>
          <p:cNvSpPr txBox="1"/>
          <p:nvPr/>
        </p:nvSpPr>
        <p:spPr>
          <a:xfrm>
            <a:off x="3411592" y="1538645"/>
            <a:ext cx="2289093" cy="338554"/>
          </a:xfrm>
          <a:prstGeom prst="rect">
            <a:avLst/>
          </a:prstGeom>
          <a:noFill/>
          <a:ln>
            <a:noFill/>
          </a:ln>
        </p:spPr>
        <p:txBody>
          <a:bodyPr wrap="square" lIns="0">
            <a:spAutoFit/>
          </a:bodyPr>
          <a:lstStyle/>
          <a:p>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AAA Fast Food segment:</a:t>
            </a:r>
          </a:p>
        </p:txBody>
      </p:sp>
      <p:sp>
        <p:nvSpPr>
          <p:cNvPr id="54" name="TextBox 53">
            <a:extLst>
              <a:ext uri="{FF2B5EF4-FFF2-40B4-BE49-F238E27FC236}">
                <a16:creationId xmlns:a16="http://schemas.microsoft.com/office/drawing/2014/main" id="{B29CDCE5-EA5B-108D-1A05-B025582E3437}"/>
              </a:ext>
            </a:extLst>
          </p:cNvPr>
          <p:cNvSpPr txBox="1"/>
          <p:nvPr/>
        </p:nvSpPr>
        <p:spPr>
          <a:xfrm>
            <a:off x="489857" y="6356350"/>
            <a:ext cx="2523049" cy="253916"/>
          </a:xfrm>
          <a:prstGeom prst="rect">
            <a:avLst/>
          </a:prstGeom>
          <a:noFill/>
          <a:ln>
            <a:noFill/>
          </a:ln>
        </p:spPr>
        <p:txBody>
          <a:bodyPr wrap="square" lIns="0">
            <a:spAutoFit/>
          </a:bodyPr>
          <a:lstStyle/>
          <a:p>
            <a:r>
              <a:rPr lang="en-US" sz="1050" i="1" dirty="0">
                <a:solidFill>
                  <a:schemeClr val="bg1"/>
                </a:solidFill>
              </a:rPr>
              <a:t>(*) Source: Euromonitor International </a:t>
            </a:r>
            <a:endParaRPr lang="en-US" sz="1050" i="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3" name="Group 32">
            <a:extLst>
              <a:ext uri="{FF2B5EF4-FFF2-40B4-BE49-F238E27FC236}">
                <a16:creationId xmlns:a16="http://schemas.microsoft.com/office/drawing/2014/main" id="{042D8BFE-54D9-F699-B3BE-BBCDF894DF92}"/>
              </a:ext>
            </a:extLst>
          </p:cNvPr>
          <p:cNvGrpSpPr/>
          <p:nvPr/>
        </p:nvGrpSpPr>
        <p:grpSpPr>
          <a:xfrm>
            <a:off x="-126462" y="2103964"/>
            <a:ext cx="3706239" cy="3677461"/>
            <a:chOff x="1787098" y="2192587"/>
            <a:chExt cx="4263622" cy="3548515"/>
          </a:xfrm>
        </p:grpSpPr>
        <p:graphicFrame>
          <p:nvGraphicFramePr>
            <p:cNvPr id="35" name="Chart 34">
              <a:extLst>
                <a:ext uri="{FF2B5EF4-FFF2-40B4-BE49-F238E27FC236}">
                  <a16:creationId xmlns:a16="http://schemas.microsoft.com/office/drawing/2014/main" id="{CB5BF233-D65C-8795-D3BB-002D65D5E0D8}"/>
                </a:ext>
              </a:extLst>
            </p:cNvPr>
            <p:cNvGraphicFramePr/>
            <p:nvPr>
              <p:extLst>
                <p:ext uri="{D42A27DB-BD31-4B8C-83A1-F6EECF244321}">
                  <p14:modId xmlns:p14="http://schemas.microsoft.com/office/powerpoint/2010/main" val="2474703339"/>
                </p:ext>
              </p:extLst>
            </p:nvPr>
          </p:nvGraphicFramePr>
          <p:xfrm>
            <a:off x="1787098" y="2192587"/>
            <a:ext cx="4263622" cy="3057622"/>
          </p:xfrm>
          <a:graphic>
            <a:graphicData uri="http://schemas.openxmlformats.org/drawingml/2006/chart">
              <c:chart xmlns:c="http://schemas.openxmlformats.org/drawingml/2006/chart" xmlns:r="http://schemas.openxmlformats.org/officeDocument/2006/relationships" r:id="rId3"/>
            </a:graphicData>
          </a:graphic>
        </p:graphicFrame>
        <p:sp>
          <p:nvSpPr>
            <p:cNvPr id="46" name="TextBox 45">
              <a:extLst>
                <a:ext uri="{FF2B5EF4-FFF2-40B4-BE49-F238E27FC236}">
                  <a16:creationId xmlns:a16="http://schemas.microsoft.com/office/drawing/2014/main" id="{34E3097B-F2D7-AAB2-0E54-AF7AAF4DA0DC}"/>
                </a:ext>
              </a:extLst>
            </p:cNvPr>
            <p:cNvSpPr txBox="1"/>
            <p:nvPr/>
          </p:nvSpPr>
          <p:spPr>
            <a:xfrm>
              <a:off x="2496105" y="5058037"/>
              <a:ext cx="2961936" cy="683065"/>
            </a:xfrm>
            <a:prstGeom prst="rect">
              <a:avLst/>
            </a:prstGeom>
            <a:noFill/>
          </p:spPr>
          <p:txBody>
            <a:bodyPr wrap="square" lIns="0">
              <a:spAutoFit/>
            </a:bodyPr>
            <a:lstStyle/>
            <a:p>
              <a:pPr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953</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mil USD*</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r>
                <a:rPr lang="vi-VN" sz="16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00B050"/>
                  </a:solidFill>
                  <a:latin typeface="Calibri" panose="020F0502020204030204" pitchFamily="34" charset="0"/>
                  <a:ea typeface="Calibri" panose="020F0502020204030204" pitchFamily="34" charset="0"/>
                  <a:cs typeface="Calibri" panose="020F0502020204030204" pitchFamily="34" charset="0"/>
                </a:rPr>
                <a:t>7%</a:t>
              </a:r>
              <a:r>
                <a:rPr lang="en-US" sz="16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YoY</a:t>
              </a:r>
            </a:p>
          </p:txBody>
        </p:sp>
        <p:grpSp>
          <p:nvGrpSpPr>
            <p:cNvPr id="38" name="Group 37">
              <a:extLst>
                <a:ext uri="{FF2B5EF4-FFF2-40B4-BE49-F238E27FC236}">
                  <a16:creationId xmlns:a16="http://schemas.microsoft.com/office/drawing/2014/main" id="{03EECA61-DF16-BDE7-756F-00C893572479}"/>
                </a:ext>
              </a:extLst>
            </p:cNvPr>
            <p:cNvGrpSpPr/>
            <p:nvPr/>
          </p:nvGrpSpPr>
          <p:grpSpPr>
            <a:xfrm>
              <a:off x="4170899" y="2393822"/>
              <a:ext cx="1448887" cy="237095"/>
              <a:chOff x="3120309" y="2393822"/>
              <a:chExt cx="1448887" cy="237095"/>
            </a:xfrm>
          </p:grpSpPr>
          <p:cxnSp>
            <p:nvCxnSpPr>
              <p:cNvPr id="44" name="Straight Connector 43">
                <a:extLst>
                  <a:ext uri="{FF2B5EF4-FFF2-40B4-BE49-F238E27FC236}">
                    <a16:creationId xmlns:a16="http://schemas.microsoft.com/office/drawing/2014/main" id="{7501DA02-F9A3-2C90-9B4B-96BD942338DE}"/>
                  </a:ext>
                </a:extLst>
              </p:cNvPr>
              <p:cNvCxnSpPr>
                <a:cxnSpLocks/>
              </p:cNvCxnSpPr>
              <p:nvPr/>
            </p:nvCxnSpPr>
            <p:spPr>
              <a:xfrm>
                <a:off x="3128503" y="2393822"/>
                <a:ext cx="0" cy="237095"/>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032D8F77-B013-A656-8D00-047F5DDD36D1}"/>
                  </a:ext>
                </a:extLst>
              </p:cNvPr>
              <p:cNvCxnSpPr>
                <a:cxnSpLocks/>
              </p:cNvCxnSpPr>
              <p:nvPr/>
            </p:nvCxnSpPr>
            <p:spPr>
              <a:xfrm>
                <a:off x="3120309" y="2401346"/>
                <a:ext cx="1448887" cy="0"/>
              </a:xfrm>
              <a:prstGeom prst="straightConnector1">
                <a:avLst/>
              </a:prstGeom>
              <a:ln w="9525">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5" name="TextBox 4">
            <a:extLst>
              <a:ext uri="{FF2B5EF4-FFF2-40B4-BE49-F238E27FC236}">
                <a16:creationId xmlns:a16="http://schemas.microsoft.com/office/drawing/2014/main" id="{98069FAE-FAB4-B981-4A73-968C3E98F450}"/>
              </a:ext>
            </a:extLst>
          </p:cNvPr>
          <p:cNvSpPr txBox="1"/>
          <p:nvPr/>
        </p:nvSpPr>
        <p:spPr>
          <a:xfrm>
            <a:off x="8991599" y="4072365"/>
            <a:ext cx="2479041" cy="1200329"/>
          </a:xfrm>
          <a:prstGeom prst="rect">
            <a:avLst/>
          </a:prstGeom>
          <a:noFill/>
        </p:spPr>
        <p:txBody>
          <a:bodyPr wrap="square" lIns="0" rIns="0">
            <a:spAutoFit/>
          </a:bodyPr>
          <a:lstStyle/>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Overall, GMV exhibited an upward trend throughout 2024. Despite a temporary mid-year </a:t>
            </a:r>
            <a:r>
              <a:rPr lang="vi-VN" sz="1200" dirty="0">
                <a:solidFill>
                  <a:schemeClr val="bg1"/>
                </a:solidFill>
                <a:latin typeface="Calibri" panose="020F0502020204030204" pitchFamily="34" charset="0"/>
                <a:ea typeface="Calibri" panose="020F0502020204030204" pitchFamily="34" charset="0"/>
                <a:cs typeface="Calibri" panose="020F0502020204030204" pitchFamily="34" charset="0"/>
              </a:rPr>
              <a:t>decline, </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likely due to seasonal effects consistent with 2023 </a:t>
            </a:r>
            <a:r>
              <a:rPr lang="vi-VN" sz="1200" dirty="0">
                <a:solidFill>
                  <a:schemeClr val="bg1"/>
                </a:solidFill>
                <a:latin typeface="Calibri" panose="020F0502020204030204" pitchFamily="34" charset="0"/>
                <a:ea typeface="Calibri" panose="020F0502020204030204" pitchFamily="34" charset="0"/>
                <a:cs typeface="Calibri" panose="020F0502020204030204" pitchFamily="34" charset="0"/>
              </a:rPr>
              <a:t>patterns, </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momentum recovered strongly at the end of the year.</a:t>
            </a:r>
          </a:p>
        </p:txBody>
      </p:sp>
      <p:sp>
        <p:nvSpPr>
          <p:cNvPr id="4" name="TextBox 3">
            <a:extLst>
              <a:ext uri="{FF2B5EF4-FFF2-40B4-BE49-F238E27FC236}">
                <a16:creationId xmlns:a16="http://schemas.microsoft.com/office/drawing/2014/main" id="{8AD8B758-9093-AC19-5A24-E792C5982285}"/>
              </a:ext>
            </a:extLst>
          </p:cNvPr>
          <p:cNvSpPr txBox="1"/>
          <p:nvPr/>
        </p:nvSpPr>
        <p:spPr>
          <a:xfrm>
            <a:off x="5936068" y="1634007"/>
            <a:ext cx="2606439" cy="307777"/>
          </a:xfrm>
          <a:prstGeom prst="rect">
            <a:avLst/>
          </a:prstGeom>
          <a:noFill/>
        </p:spPr>
        <p:txBody>
          <a:bodyPr wrap="square" lIns="0">
            <a:spAutoFit/>
          </a:bodyPr>
          <a:lstStyle/>
          <a:p>
            <a:r>
              <a:rPr lang="vi-VN" sz="1400" b="1" dirty="0">
                <a:solidFill>
                  <a:schemeClr val="bg1"/>
                </a:solidFill>
                <a:latin typeface="Calibri" panose="020F0502020204030204" pitchFamily="34" charset="0"/>
                <a:ea typeface="Calibri" panose="020F0502020204030204" pitchFamily="34" charset="0"/>
                <a:cs typeface="Calibri" panose="020F0502020204030204" pitchFamily="34" charset="0"/>
              </a:rPr>
              <a:t>GMV by brand</a:t>
            </a: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vi-VN" sz="1400" dirty="0">
                <a:solidFill>
                  <a:schemeClr val="bg1"/>
                </a:solidFill>
                <a:latin typeface="Calibri" panose="020F0502020204030204" pitchFamily="34" charset="0"/>
                <a:ea typeface="Calibri" panose="020F0502020204030204" pitchFamily="34" charset="0"/>
                <a:cs typeface="Calibri" panose="020F0502020204030204" pitchFamily="34" charset="0"/>
              </a:rPr>
              <a:t>mil USD</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Chart 7">
            <a:extLst>
              <a:ext uri="{FF2B5EF4-FFF2-40B4-BE49-F238E27FC236}">
                <a16:creationId xmlns:a16="http://schemas.microsoft.com/office/drawing/2014/main" id="{91F6C424-458A-0B78-EF43-CAEC6DA0CBB2}"/>
              </a:ext>
            </a:extLst>
          </p:cNvPr>
          <p:cNvGraphicFramePr/>
          <p:nvPr>
            <p:extLst>
              <p:ext uri="{D42A27DB-BD31-4B8C-83A1-F6EECF244321}">
                <p14:modId xmlns:p14="http://schemas.microsoft.com/office/powerpoint/2010/main" val="885675219"/>
              </p:ext>
            </p:extLst>
          </p:nvPr>
        </p:nvGraphicFramePr>
        <p:xfrm>
          <a:off x="6092083" y="2172539"/>
          <a:ext cx="5458610" cy="150173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0080A603-09D2-5600-51DE-62C5343BFA3A}"/>
              </a:ext>
            </a:extLst>
          </p:cNvPr>
          <p:cNvSpPr txBox="1"/>
          <p:nvPr/>
        </p:nvSpPr>
        <p:spPr>
          <a:xfrm>
            <a:off x="11334111" y="3441752"/>
            <a:ext cx="313531" cy="307777"/>
          </a:xfrm>
          <a:prstGeom prst="rect">
            <a:avLst/>
          </a:prstGeom>
          <a:noFill/>
          <a:ln>
            <a:noFill/>
          </a:ln>
        </p:spPr>
        <p:txBody>
          <a:bodyPr wrap="square" lIns="0">
            <a:spAutoFit/>
          </a:bodyPr>
          <a:lstStyle/>
          <a:p>
            <a:r>
              <a:rPr lang="en-US" sz="1400" dirty="0">
                <a:solidFill>
                  <a:schemeClr val="bg1"/>
                </a:solidFill>
              </a:rPr>
              <a:t>**</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078CA28-0C79-EF72-2482-053DE6BAE8C2}"/>
              </a:ext>
            </a:extLst>
          </p:cNvPr>
          <p:cNvSpPr txBox="1"/>
          <p:nvPr/>
        </p:nvSpPr>
        <p:spPr>
          <a:xfrm>
            <a:off x="6744532" y="6299003"/>
            <a:ext cx="4153711" cy="415498"/>
          </a:xfrm>
          <a:prstGeom prst="rect">
            <a:avLst/>
          </a:prstGeom>
          <a:noFill/>
          <a:ln>
            <a:noFill/>
          </a:ln>
        </p:spPr>
        <p:txBody>
          <a:bodyPr wrap="square" lIns="0">
            <a:spAutoFit/>
          </a:bodyPr>
          <a:lstStyle/>
          <a:p>
            <a:r>
              <a:rPr lang="en-US" sz="1050" i="1" dirty="0">
                <a:solidFill>
                  <a:schemeClr val="bg1"/>
                </a:solidFill>
                <a:latin typeface="Calibri" panose="020F0502020204030204" pitchFamily="34" charset="0"/>
                <a:ea typeface="Calibri" panose="020F0502020204030204" pitchFamily="34" charset="0"/>
                <a:cs typeface="Calibri" panose="020F0502020204030204" pitchFamily="34" charset="0"/>
              </a:rPr>
              <a:t>(**) Please note: this order of brands will be </a:t>
            </a:r>
            <a:r>
              <a:rPr lang="vi-VN" sz="1050" i="1" dirty="0">
                <a:solidFill>
                  <a:schemeClr val="bg1"/>
                </a:solidFill>
                <a:latin typeface="Calibri" panose="020F0502020204030204" pitchFamily="34" charset="0"/>
                <a:ea typeface="Calibri" panose="020F0502020204030204" pitchFamily="34" charset="0"/>
                <a:cs typeface="Calibri" panose="020F0502020204030204" pitchFamily="34" charset="0"/>
              </a:rPr>
              <a:t>leveraged</a:t>
            </a:r>
            <a:r>
              <a:rPr lang="en-US" sz="1050" i="1" dirty="0">
                <a:solidFill>
                  <a:schemeClr val="bg1"/>
                </a:solidFill>
                <a:latin typeface="Calibri" panose="020F0502020204030204" pitchFamily="34" charset="0"/>
                <a:ea typeface="Calibri" panose="020F0502020204030204" pitchFamily="34" charset="0"/>
                <a:cs typeface="Calibri" panose="020F0502020204030204" pitchFamily="34" charset="0"/>
              </a:rPr>
              <a:t> during this report, with the priority for the brands with highest GMV shares</a:t>
            </a:r>
          </a:p>
        </p:txBody>
      </p:sp>
      <p:graphicFrame>
        <p:nvGraphicFramePr>
          <p:cNvPr id="14" name="Table 13">
            <a:extLst>
              <a:ext uri="{FF2B5EF4-FFF2-40B4-BE49-F238E27FC236}">
                <a16:creationId xmlns:a16="http://schemas.microsoft.com/office/drawing/2014/main" id="{EFF980A6-5B20-5198-3AD2-61FEF2849FB1}"/>
              </a:ext>
            </a:extLst>
          </p:cNvPr>
          <p:cNvGraphicFramePr>
            <a:graphicFrameLocks noGrp="1"/>
          </p:cNvGraphicFramePr>
          <p:nvPr>
            <p:extLst>
              <p:ext uri="{D42A27DB-BD31-4B8C-83A1-F6EECF244321}">
                <p14:modId xmlns:p14="http://schemas.microsoft.com/office/powerpoint/2010/main" val="124593080"/>
              </p:ext>
            </p:extLst>
          </p:nvPr>
        </p:nvGraphicFramePr>
        <p:xfrm>
          <a:off x="5924145" y="1969734"/>
          <a:ext cx="5457051" cy="224200"/>
        </p:xfrm>
        <a:graphic>
          <a:graphicData uri="http://schemas.openxmlformats.org/drawingml/2006/table">
            <a:tbl>
              <a:tblPr firstRow="1" bandRow="1">
                <a:tableStyleId>{5C22544A-7EE6-4342-B048-85BDC9FD1C3A}</a:tableStyleId>
              </a:tblPr>
              <a:tblGrid>
                <a:gridCol w="340470">
                  <a:extLst>
                    <a:ext uri="{9D8B030D-6E8A-4147-A177-3AD203B41FA5}">
                      <a16:colId xmlns:a16="http://schemas.microsoft.com/office/drawing/2014/main" val="1979004406"/>
                    </a:ext>
                  </a:extLst>
                </a:gridCol>
                <a:gridCol w="568509">
                  <a:extLst>
                    <a:ext uri="{9D8B030D-6E8A-4147-A177-3AD203B41FA5}">
                      <a16:colId xmlns:a16="http://schemas.microsoft.com/office/drawing/2014/main" val="313239576"/>
                    </a:ext>
                  </a:extLst>
                </a:gridCol>
                <a:gridCol w="568509">
                  <a:extLst>
                    <a:ext uri="{9D8B030D-6E8A-4147-A177-3AD203B41FA5}">
                      <a16:colId xmlns:a16="http://schemas.microsoft.com/office/drawing/2014/main" val="888578178"/>
                    </a:ext>
                  </a:extLst>
                </a:gridCol>
                <a:gridCol w="568509">
                  <a:extLst>
                    <a:ext uri="{9D8B030D-6E8A-4147-A177-3AD203B41FA5}">
                      <a16:colId xmlns:a16="http://schemas.microsoft.com/office/drawing/2014/main" val="3445085380"/>
                    </a:ext>
                  </a:extLst>
                </a:gridCol>
                <a:gridCol w="568509">
                  <a:extLst>
                    <a:ext uri="{9D8B030D-6E8A-4147-A177-3AD203B41FA5}">
                      <a16:colId xmlns:a16="http://schemas.microsoft.com/office/drawing/2014/main" val="2174442657"/>
                    </a:ext>
                  </a:extLst>
                </a:gridCol>
                <a:gridCol w="568509">
                  <a:extLst>
                    <a:ext uri="{9D8B030D-6E8A-4147-A177-3AD203B41FA5}">
                      <a16:colId xmlns:a16="http://schemas.microsoft.com/office/drawing/2014/main" val="3201034638"/>
                    </a:ext>
                  </a:extLst>
                </a:gridCol>
                <a:gridCol w="568509">
                  <a:extLst>
                    <a:ext uri="{9D8B030D-6E8A-4147-A177-3AD203B41FA5}">
                      <a16:colId xmlns:a16="http://schemas.microsoft.com/office/drawing/2014/main" val="1895124977"/>
                    </a:ext>
                  </a:extLst>
                </a:gridCol>
                <a:gridCol w="568509">
                  <a:extLst>
                    <a:ext uri="{9D8B030D-6E8A-4147-A177-3AD203B41FA5}">
                      <a16:colId xmlns:a16="http://schemas.microsoft.com/office/drawing/2014/main" val="488425947"/>
                    </a:ext>
                  </a:extLst>
                </a:gridCol>
                <a:gridCol w="568509">
                  <a:extLst>
                    <a:ext uri="{9D8B030D-6E8A-4147-A177-3AD203B41FA5}">
                      <a16:colId xmlns:a16="http://schemas.microsoft.com/office/drawing/2014/main" val="3884382888"/>
                    </a:ext>
                  </a:extLst>
                </a:gridCol>
                <a:gridCol w="568509">
                  <a:extLst>
                    <a:ext uri="{9D8B030D-6E8A-4147-A177-3AD203B41FA5}">
                      <a16:colId xmlns:a16="http://schemas.microsoft.com/office/drawing/2014/main" val="4212609107"/>
                    </a:ext>
                  </a:extLst>
                </a:gridCol>
              </a:tblGrid>
              <a:tr h="224200">
                <a:tc>
                  <a:txBody>
                    <a:bodyPr/>
                    <a:lstStyle/>
                    <a:p>
                      <a:pPr algn="ctr"/>
                      <a:r>
                        <a:rPr lang="vi-VN" sz="1400" dirty="0">
                          <a:solidFill>
                            <a:schemeClr val="bg1"/>
                          </a:solidFill>
                          <a:latin typeface="Calibri" panose="020F0502020204030204" pitchFamily="34" charset="0"/>
                          <a:ea typeface="Calibri" panose="020F0502020204030204" pitchFamily="34" charset="0"/>
                          <a:cs typeface="Calibri" panose="020F0502020204030204" pitchFamily="34" charset="0"/>
                        </a:rPr>
                        <a:t>YoY</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+18%</a:t>
                      </a:r>
                      <a:endPar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+84%</a:t>
                      </a:r>
                      <a:endPar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0" dirty="0">
                          <a:solidFill>
                            <a:srgbClr val="FF0000"/>
                          </a:solidFill>
                          <a:latin typeface="Calibri" panose="020F0502020204030204" pitchFamily="34" charset="0"/>
                          <a:ea typeface="Calibri" panose="020F0502020204030204" pitchFamily="34" charset="0"/>
                          <a:cs typeface="Calibri" panose="020F0502020204030204" pitchFamily="34" charset="0"/>
                        </a:rPr>
                        <a:t>-9%</a:t>
                      </a:r>
                      <a:endParaRPr lang="en-US" sz="12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+35%</a:t>
                      </a:r>
                      <a:endPar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0" dirty="0">
                          <a:solidFill>
                            <a:srgbClr val="00B050"/>
                          </a:solidFill>
                          <a:latin typeface="Calibri" panose="020F0502020204030204" pitchFamily="34" charset="0"/>
                          <a:ea typeface="Calibri" panose="020F0502020204030204" pitchFamily="34" charset="0"/>
                          <a:cs typeface="Calibri" panose="020F0502020204030204" pitchFamily="34" charset="0"/>
                        </a:rPr>
                        <a:t>+5%</a:t>
                      </a:r>
                      <a:endParaRPr lang="en-US" sz="1200" b="0"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+112</a:t>
                      </a:r>
                      <a:endPar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0" dirty="0">
                          <a:solidFill>
                            <a:srgbClr val="00B050"/>
                          </a:solidFill>
                          <a:latin typeface="Calibri" panose="020F0502020204030204" pitchFamily="34" charset="0"/>
                          <a:ea typeface="Calibri" panose="020F0502020204030204" pitchFamily="34" charset="0"/>
                          <a:cs typeface="Calibri" panose="020F0502020204030204" pitchFamily="34" charset="0"/>
                        </a:rPr>
                        <a:t>+10%</a:t>
                      </a:r>
                      <a:endParaRPr lang="en-US" sz="1200" b="0" dirty="0">
                        <a:solidFill>
                          <a:srgbClr val="00B05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0" dirty="0">
                          <a:solidFill>
                            <a:srgbClr val="FF0000"/>
                          </a:solidFill>
                          <a:latin typeface="Calibri" panose="020F0502020204030204" pitchFamily="34" charset="0"/>
                          <a:ea typeface="Calibri" panose="020F0502020204030204" pitchFamily="34" charset="0"/>
                          <a:cs typeface="Calibri" panose="020F0502020204030204" pitchFamily="34" charset="0"/>
                        </a:rPr>
                        <a:t>-3%</a:t>
                      </a:r>
                      <a:endParaRPr lang="en-US" sz="12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vi-VN" sz="1200" b="0" dirty="0">
                          <a:solidFill>
                            <a:srgbClr val="FF0000"/>
                          </a:solidFill>
                          <a:latin typeface="Calibri" panose="020F0502020204030204" pitchFamily="34" charset="0"/>
                          <a:ea typeface="Calibri" panose="020F0502020204030204" pitchFamily="34" charset="0"/>
                          <a:cs typeface="Calibri" panose="020F0502020204030204" pitchFamily="34" charset="0"/>
                        </a:rPr>
                        <a:t>-19%</a:t>
                      </a:r>
                      <a:endParaRPr lang="en-US" sz="12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31913014"/>
                  </a:ext>
                </a:extLst>
              </a:tr>
            </a:tbl>
          </a:graphicData>
        </a:graphic>
      </p:graphicFrame>
      <p:sp>
        <p:nvSpPr>
          <p:cNvPr id="20" name="Rectangle 19">
            <a:extLst>
              <a:ext uri="{FF2B5EF4-FFF2-40B4-BE49-F238E27FC236}">
                <a16:creationId xmlns:a16="http://schemas.microsoft.com/office/drawing/2014/main" id="{CCA32CA8-A059-C0B8-230D-2E7DCA937DA3}"/>
              </a:ext>
            </a:extLst>
          </p:cNvPr>
          <p:cNvSpPr/>
          <p:nvPr/>
        </p:nvSpPr>
        <p:spPr>
          <a:xfrm>
            <a:off x="6335533" y="3497217"/>
            <a:ext cx="2099808" cy="225270"/>
          </a:xfrm>
          <a:prstGeom prst="rect">
            <a:avLst/>
          </a:prstGeom>
          <a:no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5" name="Straight Connector 24">
            <a:extLst>
              <a:ext uri="{FF2B5EF4-FFF2-40B4-BE49-F238E27FC236}">
                <a16:creationId xmlns:a16="http://schemas.microsoft.com/office/drawing/2014/main" id="{A96E218E-6700-15E7-2294-3DCA200B9E44}"/>
              </a:ext>
            </a:extLst>
          </p:cNvPr>
          <p:cNvCxnSpPr>
            <a:cxnSpLocks/>
          </p:cNvCxnSpPr>
          <p:nvPr/>
        </p:nvCxnSpPr>
        <p:spPr>
          <a:xfrm>
            <a:off x="489857" y="6167120"/>
            <a:ext cx="11212286"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6297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E3697A-054A-66DA-1708-41640B1FF744}"/>
              </a:ext>
            </a:extLst>
          </p:cNvPr>
          <p:cNvSpPr>
            <a:spLocks noGrp="1"/>
          </p:cNvSpPr>
          <p:nvPr>
            <p:ph type="sldNum" sz="quarter" idx="12"/>
          </p:nvPr>
        </p:nvSpPr>
        <p:spPr/>
        <p:txBody>
          <a:bodyPr/>
          <a:lstStyle/>
          <a:p>
            <a:fld id="{558ED922-7EDD-473A-8362-50B58FFACA46}" type="slidenum">
              <a:rPr lang="en-US" smtClean="0"/>
              <a:pPr/>
              <a:t>6</a:t>
            </a:fld>
            <a:endParaRPr lang="en-US"/>
          </a:p>
        </p:txBody>
      </p:sp>
      <p:sp>
        <p:nvSpPr>
          <p:cNvPr id="3" name="Title 2">
            <a:extLst>
              <a:ext uri="{FF2B5EF4-FFF2-40B4-BE49-F238E27FC236}">
                <a16:creationId xmlns:a16="http://schemas.microsoft.com/office/drawing/2014/main" id="{4A3FE742-FB71-A594-95A7-E782A4A6128C}"/>
              </a:ext>
            </a:extLst>
          </p:cNvPr>
          <p:cNvSpPr>
            <a:spLocks noGrp="1"/>
          </p:cNvSpPr>
          <p:nvPr>
            <p:ph type="title"/>
          </p:nvPr>
        </p:nvSpPr>
        <p:spPr/>
        <p:txBody>
          <a:bodyPr>
            <a:normAutofit fontScale="90000"/>
          </a:bodyPr>
          <a:lstStyle/>
          <a:p>
            <a:r>
              <a:rPr lang="en-US" dirty="0"/>
              <a:t>GMV growth is almost entirely volume-driven, with declining order value partially offsetting gains</a:t>
            </a:r>
          </a:p>
        </p:txBody>
      </p:sp>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627C5FAB-D936-FA5A-82C8-6FAC6F7CDEEC}"/>
                  </a:ext>
                </a:extLst>
              </p:cNvPr>
              <p:cNvGraphicFramePr/>
              <p:nvPr>
                <p:extLst>
                  <p:ext uri="{D42A27DB-BD31-4B8C-83A1-F6EECF244321}">
                    <p14:modId xmlns:p14="http://schemas.microsoft.com/office/powerpoint/2010/main" val="4191565969"/>
                  </p:ext>
                </p:extLst>
              </p:nvPr>
            </p:nvGraphicFramePr>
            <p:xfrm>
              <a:off x="4231532" y="2117405"/>
              <a:ext cx="7470610" cy="327755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9" name="Chart 8">
                <a:extLst>
                  <a:ext uri="{FF2B5EF4-FFF2-40B4-BE49-F238E27FC236}">
                    <a16:creationId xmlns:a16="http://schemas.microsoft.com/office/drawing/2014/main" id="{627C5FAB-D936-FA5A-82C8-6FAC6F7CDEEC}"/>
                  </a:ext>
                </a:extLst>
              </p:cNvPr>
              <p:cNvPicPr>
                <a:picLocks noGrp="1" noRot="1" noChangeAspect="1" noMove="1" noResize="1" noEditPoints="1" noAdjustHandles="1" noChangeArrowheads="1" noChangeShapeType="1"/>
              </p:cNvPicPr>
              <p:nvPr/>
            </p:nvPicPr>
            <p:blipFill>
              <a:blip r:embed="rId3"/>
              <a:stretch>
                <a:fillRect/>
              </a:stretch>
            </p:blipFill>
            <p:spPr>
              <a:xfrm>
                <a:off x="4231532" y="2117405"/>
                <a:ext cx="7470610" cy="3277555"/>
              </a:xfrm>
              <a:prstGeom prst="rect">
                <a:avLst/>
              </a:prstGeom>
            </p:spPr>
          </p:pic>
        </mc:Fallback>
      </mc:AlternateContent>
      <p:sp>
        <p:nvSpPr>
          <p:cNvPr id="10" name="TextBox 9">
            <a:extLst>
              <a:ext uri="{FF2B5EF4-FFF2-40B4-BE49-F238E27FC236}">
                <a16:creationId xmlns:a16="http://schemas.microsoft.com/office/drawing/2014/main" id="{F89766D8-BF71-0D47-ED5F-19E8510CA63A}"/>
              </a:ext>
            </a:extLst>
          </p:cNvPr>
          <p:cNvSpPr txBox="1"/>
          <p:nvPr/>
        </p:nvSpPr>
        <p:spPr>
          <a:xfrm>
            <a:off x="4273929" y="1624154"/>
            <a:ext cx="3502318"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Contributions* to GMV growth, </a:t>
            </a:r>
            <a:r>
              <a:rPr lang="en-US" sz="1600" dirty="0">
                <a:latin typeface="Calibri" panose="020F0502020204030204" pitchFamily="34" charset="0"/>
                <a:ea typeface="Calibri" panose="020F0502020204030204" pitchFamily="34" charset="0"/>
                <a:cs typeface="Calibri" panose="020F0502020204030204" pitchFamily="34" charset="0"/>
              </a:rPr>
              <a:t>%</a:t>
            </a:r>
          </a:p>
        </p:txBody>
      </p:sp>
      <p:grpSp>
        <p:nvGrpSpPr>
          <p:cNvPr id="14" name="Group 13">
            <a:extLst>
              <a:ext uri="{FF2B5EF4-FFF2-40B4-BE49-F238E27FC236}">
                <a16:creationId xmlns:a16="http://schemas.microsoft.com/office/drawing/2014/main" id="{D43EE8B9-A91A-F73A-DC76-3FF6007F2D6B}"/>
              </a:ext>
            </a:extLst>
          </p:cNvPr>
          <p:cNvGrpSpPr/>
          <p:nvPr/>
        </p:nvGrpSpPr>
        <p:grpSpPr>
          <a:xfrm>
            <a:off x="7736032" y="6252555"/>
            <a:ext cx="3521230" cy="468920"/>
            <a:chOff x="7925008" y="6252555"/>
            <a:chExt cx="3521230" cy="468920"/>
          </a:xfrm>
        </p:grpSpPr>
        <p:sp>
          <p:nvSpPr>
            <p:cNvPr id="11" name="TextBox 10">
              <a:extLst>
                <a:ext uri="{FF2B5EF4-FFF2-40B4-BE49-F238E27FC236}">
                  <a16:creationId xmlns:a16="http://schemas.microsoft.com/office/drawing/2014/main" id="{02588403-CC10-7C10-E896-2F5A852B7A62}"/>
                </a:ext>
              </a:extLst>
            </p:cNvPr>
            <p:cNvSpPr txBox="1"/>
            <p:nvPr/>
          </p:nvSpPr>
          <p:spPr>
            <a:xfrm>
              <a:off x="7925008" y="6467559"/>
              <a:ext cx="3514720" cy="253916"/>
            </a:xfrm>
            <a:prstGeom prst="rect">
              <a:avLst/>
            </a:prstGeom>
            <a:noFill/>
            <a:ln>
              <a:noFill/>
            </a:ln>
          </p:spPr>
          <p:txBody>
            <a:bodyPr wrap="square" lIns="0">
              <a:spAutoFit/>
            </a:bodyPr>
            <a:lstStyle/>
            <a:p>
              <a:r>
                <a:rPr lang="en-US" sz="1050" i="1" dirty="0">
                  <a:solidFill>
                    <a:schemeClr val="bg2">
                      <a:lumMod val="50000"/>
                    </a:schemeClr>
                  </a:solidFill>
                </a:rPr>
                <a:t>(**) Combined effect of volume &amp; value (orders &amp; AOV) </a:t>
              </a:r>
              <a:endParaRPr lang="en-US" sz="105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C1F1B98-2A49-FC9D-FE96-7D6FF0A82FB0}"/>
                </a:ext>
              </a:extLst>
            </p:cNvPr>
            <p:cNvSpPr txBox="1"/>
            <p:nvPr/>
          </p:nvSpPr>
          <p:spPr>
            <a:xfrm>
              <a:off x="7931518" y="6252555"/>
              <a:ext cx="3514720" cy="253916"/>
            </a:xfrm>
            <a:prstGeom prst="rect">
              <a:avLst/>
            </a:prstGeom>
            <a:noFill/>
            <a:ln>
              <a:noFill/>
            </a:ln>
          </p:spPr>
          <p:txBody>
            <a:bodyPr wrap="square" lIns="0">
              <a:spAutoFit/>
            </a:bodyPr>
            <a:lstStyle/>
            <a:p>
              <a:r>
                <a:rPr lang="en-US" sz="1050" i="1" dirty="0">
                  <a:solidFill>
                    <a:schemeClr val="bg2">
                      <a:lumMod val="50000"/>
                    </a:schemeClr>
                  </a:solidFill>
                </a:rPr>
                <a:t>(*) Please refer to Appendix</a:t>
              </a:r>
              <a:endParaRPr lang="en-US" sz="1050" i="1"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4" name="Chart 3">
            <a:extLst>
              <a:ext uri="{FF2B5EF4-FFF2-40B4-BE49-F238E27FC236}">
                <a16:creationId xmlns:a16="http://schemas.microsoft.com/office/drawing/2014/main" id="{5391BBA2-1E5C-CC2F-FE42-D53366ACF2EA}"/>
              </a:ext>
            </a:extLst>
          </p:cNvPr>
          <p:cNvGraphicFramePr/>
          <p:nvPr>
            <p:extLst>
              <p:ext uri="{D42A27DB-BD31-4B8C-83A1-F6EECF244321}">
                <p14:modId xmlns:p14="http://schemas.microsoft.com/office/powerpoint/2010/main" val="3423476862"/>
              </p:ext>
            </p:extLst>
          </p:nvPr>
        </p:nvGraphicFramePr>
        <p:xfrm>
          <a:off x="371734" y="2057400"/>
          <a:ext cx="2966962" cy="3107988"/>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F01B15AD-DCD9-223A-CCDA-A347CCC210FA}"/>
              </a:ext>
            </a:extLst>
          </p:cNvPr>
          <p:cNvSpPr txBox="1"/>
          <p:nvPr/>
        </p:nvSpPr>
        <p:spPr>
          <a:xfrm>
            <a:off x="489856" y="5350565"/>
            <a:ext cx="11212286" cy="584775"/>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GMV growth is primarily volume-driven, with Orders contributing a substantial 90% to the total increase. While Fees added a supportive 14%, a 3% decline in AOV acted as a minor drag, suggesting a shift toward more frequent but lower-value transactions</a:t>
            </a:r>
          </a:p>
        </p:txBody>
      </p:sp>
      <p:sp>
        <p:nvSpPr>
          <p:cNvPr id="6" name="TextBox 5">
            <a:extLst>
              <a:ext uri="{FF2B5EF4-FFF2-40B4-BE49-F238E27FC236}">
                <a16:creationId xmlns:a16="http://schemas.microsoft.com/office/drawing/2014/main" id="{884E34C1-EE0F-DBFE-FDBB-9DDBFF65E073}"/>
              </a:ext>
            </a:extLst>
          </p:cNvPr>
          <p:cNvSpPr txBox="1"/>
          <p:nvPr/>
        </p:nvSpPr>
        <p:spPr>
          <a:xfrm>
            <a:off x="489856" y="1624154"/>
            <a:ext cx="3502318"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 GMV, </a:t>
            </a:r>
            <a:r>
              <a:rPr lang="en-US" sz="1600" dirty="0">
                <a:latin typeface="Calibri" panose="020F0502020204030204" pitchFamily="34" charset="0"/>
                <a:ea typeface="Calibri" panose="020F0502020204030204" pitchFamily="34" charset="0"/>
                <a:cs typeface="Calibri" panose="020F0502020204030204" pitchFamily="34" charset="0"/>
              </a:rPr>
              <a:t>mil USD</a:t>
            </a:r>
          </a:p>
        </p:txBody>
      </p:sp>
      <p:sp>
        <p:nvSpPr>
          <p:cNvPr id="7" name="TextBox 6">
            <a:extLst>
              <a:ext uri="{FF2B5EF4-FFF2-40B4-BE49-F238E27FC236}">
                <a16:creationId xmlns:a16="http://schemas.microsoft.com/office/drawing/2014/main" id="{243FE544-91D1-5A69-B95A-A4379EEF2E18}"/>
              </a:ext>
            </a:extLst>
          </p:cNvPr>
          <p:cNvSpPr txBox="1"/>
          <p:nvPr/>
        </p:nvSpPr>
        <p:spPr>
          <a:xfrm>
            <a:off x="1440524" y="2499862"/>
            <a:ext cx="829382" cy="369332"/>
          </a:xfrm>
          <a:prstGeom prst="rect">
            <a:avLst/>
          </a:prstGeom>
          <a:noFill/>
          <a:ln>
            <a:noFill/>
          </a:ln>
        </p:spPr>
        <p:txBody>
          <a:bodyPr wrap="square" lIns="0">
            <a:spAutoFit/>
          </a:bodyPr>
          <a:lstStyle/>
          <a:p>
            <a:pPr algn="ct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+24%</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4645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19A9E8-AFC6-8027-32C8-6B60CB99CB90}"/>
              </a:ext>
            </a:extLst>
          </p:cNvPr>
          <p:cNvSpPr>
            <a:spLocks noGrp="1"/>
          </p:cNvSpPr>
          <p:nvPr>
            <p:ph type="sldNum" sz="quarter" idx="12"/>
          </p:nvPr>
        </p:nvSpPr>
        <p:spPr/>
        <p:txBody>
          <a:bodyPr/>
          <a:lstStyle/>
          <a:p>
            <a:fld id="{558ED922-7EDD-473A-8362-50B58FFACA46}" type="slidenum">
              <a:rPr lang="en-US" smtClean="0"/>
              <a:pPr/>
              <a:t>7</a:t>
            </a:fld>
            <a:endParaRPr lang="en-US"/>
          </a:p>
        </p:txBody>
      </p:sp>
      <p:sp>
        <p:nvSpPr>
          <p:cNvPr id="3" name="Title 2">
            <a:extLst>
              <a:ext uri="{FF2B5EF4-FFF2-40B4-BE49-F238E27FC236}">
                <a16:creationId xmlns:a16="http://schemas.microsoft.com/office/drawing/2014/main" id="{35C52583-632F-7566-33F2-90DD8B034B71}"/>
              </a:ext>
            </a:extLst>
          </p:cNvPr>
          <p:cNvSpPr>
            <a:spLocks noGrp="1"/>
          </p:cNvSpPr>
          <p:nvPr>
            <p:ph type="title"/>
          </p:nvPr>
        </p:nvSpPr>
        <p:spPr/>
        <p:txBody>
          <a:bodyPr rIns="0">
            <a:normAutofit fontScale="90000"/>
          </a:bodyPr>
          <a:lstStyle/>
          <a:p>
            <a:r>
              <a:rPr lang="vi-VN" dirty="0"/>
              <a:t>T</a:t>
            </a:r>
            <a:r>
              <a:rPr lang="en-US" dirty="0"/>
              <a:t>he overall </a:t>
            </a:r>
            <a:r>
              <a:rPr lang="vi-VN" dirty="0"/>
              <a:t>orders is growing and</a:t>
            </a:r>
            <a:r>
              <a:rPr lang="en-US" dirty="0"/>
              <a:t> heavily dictated by the performance of key </a:t>
            </a:r>
            <a:r>
              <a:rPr lang="vi-VN" dirty="0"/>
              <a:t>players. This suggests the dependency of sources of growth to the top-tier brands, but also the lack of diversity across the porfollio</a:t>
            </a:r>
            <a:r>
              <a:rPr lang="en-US" dirty="0"/>
              <a:t>. </a:t>
            </a:r>
          </a:p>
        </p:txBody>
      </p:sp>
      <p:sp>
        <p:nvSpPr>
          <p:cNvPr id="7" name="TextBox 6">
            <a:extLst>
              <a:ext uri="{FF2B5EF4-FFF2-40B4-BE49-F238E27FC236}">
                <a16:creationId xmlns:a16="http://schemas.microsoft.com/office/drawing/2014/main" id="{2502E25E-99DC-AFBD-2044-F6CC0246F1C7}"/>
              </a:ext>
            </a:extLst>
          </p:cNvPr>
          <p:cNvSpPr txBox="1"/>
          <p:nvPr/>
        </p:nvSpPr>
        <p:spPr>
          <a:xfrm>
            <a:off x="3554080" y="1620886"/>
            <a:ext cx="3584302"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Orders by brand, </a:t>
            </a:r>
            <a:r>
              <a:rPr lang="en-US" sz="1600" dirty="0">
                <a:latin typeface="Calibri" panose="020F0502020204030204" pitchFamily="34" charset="0"/>
                <a:ea typeface="Calibri" panose="020F0502020204030204" pitchFamily="34" charset="0"/>
                <a:cs typeface="Calibri" panose="020F0502020204030204" pitchFamily="34" charset="0"/>
              </a:rPr>
              <a:t>thousand</a:t>
            </a:r>
          </a:p>
        </p:txBody>
      </p:sp>
      <p:grpSp>
        <p:nvGrpSpPr>
          <p:cNvPr id="13" name="Group 12">
            <a:extLst>
              <a:ext uri="{FF2B5EF4-FFF2-40B4-BE49-F238E27FC236}">
                <a16:creationId xmlns:a16="http://schemas.microsoft.com/office/drawing/2014/main" id="{B038953C-E118-A6AF-782B-879C9D8B1A76}"/>
              </a:ext>
            </a:extLst>
          </p:cNvPr>
          <p:cNvGrpSpPr/>
          <p:nvPr/>
        </p:nvGrpSpPr>
        <p:grpSpPr>
          <a:xfrm>
            <a:off x="3554081" y="2078954"/>
            <a:ext cx="8235853" cy="3173765"/>
            <a:chOff x="489858" y="2078954"/>
            <a:chExt cx="8235853" cy="3173765"/>
          </a:xfrm>
        </p:grpSpPr>
        <p:graphicFrame>
          <p:nvGraphicFramePr>
            <p:cNvPr id="6" name="Chart 5">
              <a:extLst>
                <a:ext uri="{FF2B5EF4-FFF2-40B4-BE49-F238E27FC236}">
                  <a16:creationId xmlns:a16="http://schemas.microsoft.com/office/drawing/2014/main" id="{BB8D6C9D-AD54-1448-4F62-06F4CF27F5E5}"/>
                </a:ext>
              </a:extLst>
            </p:cNvPr>
            <p:cNvGraphicFramePr/>
            <p:nvPr>
              <p:extLst>
                <p:ext uri="{D42A27DB-BD31-4B8C-83A1-F6EECF244321}">
                  <p14:modId xmlns:p14="http://schemas.microsoft.com/office/powerpoint/2010/main" val="302640591"/>
                </p:ext>
              </p:extLst>
            </p:nvPr>
          </p:nvGraphicFramePr>
          <p:xfrm>
            <a:off x="489858" y="2078954"/>
            <a:ext cx="8235853" cy="3173765"/>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8">
              <a:extLst>
                <a:ext uri="{FF2B5EF4-FFF2-40B4-BE49-F238E27FC236}">
                  <a16:creationId xmlns:a16="http://schemas.microsoft.com/office/drawing/2014/main" id="{623FF717-8726-BA50-355C-73DA1E752AEF}"/>
                </a:ext>
              </a:extLst>
            </p:cNvPr>
            <p:cNvSpPr txBox="1"/>
            <p:nvPr/>
          </p:nvSpPr>
          <p:spPr>
            <a:xfrm>
              <a:off x="2014109" y="2685293"/>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+90%</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4F780B6-13B9-A03C-04B6-DBAB46D37B5D}"/>
                </a:ext>
              </a:extLst>
            </p:cNvPr>
            <p:cNvSpPr txBox="1"/>
            <p:nvPr/>
          </p:nvSpPr>
          <p:spPr>
            <a:xfrm>
              <a:off x="3689948" y="3167714"/>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+35%</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A9CC9B9-EB1A-86B8-D326-63B876BF2CCD}"/>
                </a:ext>
              </a:extLst>
            </p:cNvPr>
            <p:cNvSpPr txBox="1"/>
            <p:nvPr/>
          </p:nvSpPr>
          <p:spPr>
            <a:xfrm>
              <a:off x="1184727" y="2626528"/>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+15%</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5" name="TextBox 4">
            <a:extLst>
              <a:ext uri="{FF2B5EF4-FFF2-40B4-BE49-F238E27FC236}">
                <a16:creationId xmlns:a16="http://schemas.microsoft.com/office/drawing/2014/main" id="{760B79AA-7BD5-8393-E6C1-B0007AF33BFA}"/>
              </a:ext>
            </a:extLst>
          </p:cNvPr>
          <p:cNvSpPr txBox="1"/>
          <p:nvPr/>
        </p:nvSpPr>
        <p:spPr>
          <a:xfrm>
            <a:off x="489856" y="1628506"/>
            <a:ext cx="2606439"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 Orders, </a:t>
            </a:r>
            <a:r>
              <a:rPr lang="vi-VN" sz="1600" dirty="0">
                <a:latin typeface="Calibri" panose="020F0502020204030204" pitchFamily="34" charset="0"/>
                <a:ea typeface="Calibri" panose="020F0502020204030204" pitchFamily="34" charset="0"/>
                <a:cs typeface="Calibri" panose="020F0502020204030204" pitchFamily="34" charset="0"/>
              </a:rPr>
              <a:t>mil </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6E70720-7007-D4F0-FB8F-70996C4B09E2}"/>
              </a:ext>
            </a:extLst>
          </p:cNvPr>
          <p:cNvSpPr txBox="1"/>
          <p:nvPr/>
        </p:nvSpPr>
        <p:spPr>
          <a:xfrm>
            <a:off x="489856" y="5309925"/>
            <a:ext cx="11212286" cy="830997"/>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The order landscape is highly concentrated, with the top 4 brands (E, D, F, X) accounting for 80% of total order </a:t>
            </a:r>
            <a:r>
              <a:rPr lang="vi-VN" sz="1600" dirty="0">
                <a:latin typeface="Calibri" panose="020F0502020204030204" pitchFamily="34" charset="0"/>
                <a:ea typeface="Calibri" panose="020F0502020204030204" pitchFamily="34" charset="0"/>
                <a:cs typeface="Calibri" panose="020F0502020204030204" pitchFamily="34" charset="0"/>
              </a:rPr>
              <a:t>share.</a:t>
            </a:r>
            <a:r>
              <a:rPr lang="en-US" sz="1600" dirty="0">
                <a:latin typeface="Calibri" panose="020F0502020204030204" pitchFamily="34" charset="0"/>
                <a:ea typeface="Calibri" panose="020F0502020204030204" pitchFamily="34" charset="0"/>
                <a:cs typeface="Calibri" panose="020F0502020204030204" pitchFamily="34" charset="0"/>
              </a:rPr>
              <a:t> Performance across the top tier is largely positive, led by an exceptional 90% surge in Brand D's orders. </a:t>
            </a:r>
            <a:r>
              <a:rPr lang="vi-VN" sz="1600" dirty="0">
                <a:latin typeface="Calibri" panose="020F0502020204030204" pitchFamily="34" charset="0"/>
                <a:ea typeface="Calibri" panose="020F0502020204030204" pitchFamily="34" charset="0"/>
                <a:cs typeface="Calibri" panose="020F0502020204030204" pitchFamily="34" charset="0"/>
              </a:rPr>
              <a:t>Also, brand Y is the rising star with the 2x in Orders generating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 name="Arrow: Pentagon 3">
            <a:extLst>
              <a:ext uri="{FF2B5EF4-FFF2-40B4-BE49-F238E27FC236}">
                <a16:creationId xmlns:a16="http://schemas.microsoft.com/office/drawing/2014/main" id="{4409429E-E35F-6EB7-68B7-5CF67C96B559}"/>
              </a:ext>
            </a:extLst>
          </p:cNvPr>
          <p:cNvSpPr/>
          <p:nvPr/>
        </p:nvSpPr>
        <p:spPr>
          <a:xfrm>
            <a:off x="-9729" y="-10160"/>
            <a:ext cx="1463040" cy="338554"/>
          </a:xfrm>
          <a:prstGeom prst="homePlate">
            <a:avLst/>
          </a:prstGeom>
          <a:solidFill>
            <a:srgbClr val="061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graphicFrame>
        <p:nvGraphicFramePr>
          <p:cNvPr id="15" name="Chart 14">
            <a:extLst>
              <a:ext uri="{FF2B5EF4-FFF2-40B4-BE49-F238E27FC236}">
                <a16:creationId xmlns:a16="http://schemas.microsoft.com/office/drawing/2014/main" id="{6630970A-0FA8-0DD0-E901-D2367BE6875A}"/>
              </a:ext>
            </a:extLst>
          </p:cNvPr>
          <p:cNvGraphicFramePr/>
          <p:nvPr>
            <p:extLst>
              <p:ext uri="{D42A27DB-BD31-4B8C-83A1-F6EECF244321}">
                <p14:modId xmlns:p14="http://schemas.microsoft.com/office/powerpoint/2010/main" val="716959374"/>
              </p:ext>
            </p:extLst>
          </p:nvPr>
        </p:nvGraphicFramePr>
        <p:xfrm>
          <a:off x="371734" y="2063350"/>
          <a:ext cx="2966962" cy="3173765"/>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ED63B08D-088A-BFFC-4478-B7AA69BD54CA}"/>
              </a:ext>
            </a:extLst>
          </p:cNvPr>
          <p:cNvSpPr txBox="1"/>
          <p:nvPr/>
        </p:nvSpPr>
        <p:spPr>
          <a:xfrm>
            <a:off x="1557036" y="2749742"/>
            <a:ext cx="680326" cy="338554"/>
          </a:xfrm>
          <a:prstGeom prst="rect">
            <a:avLst/>
          </a:prstGeom>
          <a:noFill/>
          <a:ln>
            <a:noFill/>
          </a:ln>
        </p:spPr>
        <p:txBody>
          <a:bodyPr wrap="square" lIns="0">
            <a:spAutoFit/>
          </a:bodyPr>
          <a:lstStyle/>
          <a:p>
            <a:pPr algn="ctr"/>
            <a:r>
              <a:rPr lang="en-US" sz="16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600" b="1" dirty="0">
                <a:solidFill>
                  <a:srgbClr val="00B050"/>
                </a:solidFill>
                <a:latin typeface="Calibri" panose="020F0502020204030204" pitchFamily="34" charset="0"/>
                <a:ea typeface="Calibri" panose="020F0502020204030204" pitchFamily="34" charset="0"/>
                <a:cs typeface="Calibri" panose="020F0502020204030204" pitchFamily="34" charset="0"/>
              </a:rPr>
              <a:t>25</a:t>
            </a:r>
            <a:r>
              <a:rPr lang="en-US" sz="16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33">
            <a:extLst>
              <a:ext uri="{FF2B5EF4-FFF2-40B4-BE49-F238E27FC236}">
                <a16:creationId xmlns:a16="http://schemas.microsoft.com/office/drawing/2014/main" id="{D794C7FF-2948-2D0F-0906-0AB684BB745B}"/>
              </a:ext>
            </a:extLst>
          </p:cNvPr>
          <p:cNvGrpSpPr/>
          <p:nvPr/>
        </p:nvGrpSpPr>
        <p:grpSpPr>
          <a:xfrm>
            <a:off x="8822207" y="2775477"/>
            <a:ext cx="2667294" cy="1285672"/>
            <a:chOff x="8890787" y="2775477"/>
            <a:chExt cx="2667294" cy="1285672"/>
          </a:xfrm>
        </p:grpSpPr>
        <p:cxnSp>
          <p:nvCxnSpPr>
            <p:cNvPr id="29" name="Straight Connector 28">
              <a:extLst>
                <a:ext uri="{FF2B5EF4-FFF2-40B4-BE49-F238E27FC236}">
                  <a16:creationId xmlns:a16="http://schemas.microsoft.com/office/drawing/2014/main" id="{44AFE543-9CBE-3C2C-67C3-D18DCA585F2A}"/>
                </a:ext>
              </a:extLst>
            </p:cNvPr>
            <p:cNvCxnSpPr>
              <a:cxnSpLocks/>
              <a:endCxn id="17" idx="4"/>
            </p:cNvCxnSpPr>
            <p:nvPr/>
          </p:nvCxnSpPr>
          <p:spPr>
            <a:xfrm>
              <a:off x="9206861" y="3791565"/>
              <a:ext cx="1708384" cy="269584"/>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D005389-3BD6-799B-4657-21C03B7E758D}"/>
                </a:ext>
              </a:extLst>
            </p:cNvPr>
            <p:cNvCxnSpPr>
              <a:cxnSpLocks/>
              <a:endCxn id="17" idx="0"/>
            </p:cNvCxnSpPr>
            <p:nvPr/>
          </p:nvCxnSpPr>
          <p:spPr>
            <a:xfrm flipV="1">
              <a:off x="9206861" y="2775477"/>
              <a:ext cx="1708384" cy="38394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F5B6BE55-88BB-DDC7-055E-04DC00855781}"/>
                </a:ext>
              </a:extLst>
            </p:cNvPr>
            <p:cNvGrpSpPr/>
            <p:nvPr/>
          </p:nvGrpSpPr>
          <p:grpSpPr>
            <a:xfrm>
              <a:off x="8890787" y="3159417"/>
              <a:ext cx="713663" cy="632148"/>
              <a:chOff x="9817887" y="3429000"/>
              <a:chExt cx="713663" cy="632148"/>
            </a:xfrm>
          </p:grpSpPr>
          <p:sp>
            <p:nvSpPr>
              <p:cNvPr id="21" name="Oval 20">
                <a:extLst>
                  <a:ext uri="{FF2B5EF4-FFF2-40B4-BE49-F238E27FC236}">
                    <a16:creationId xmlns:a16="http://schemas.microsoft.com/office/drawing/2014/main" id="{53F051C9-6F63-D668-5317-5CA5A3759DC0}"/>
                  </a:ext>
                </a:extLst>
              </p:cNvPr>
              <p:cNvSpPr/>
              <p:nvPr/>
            </p:nvSpPr>
            <p:spPr>
              <a:xfrm>
                <a:off x="9817887" y="3429000"/>
                <a:ext cx="632148" cy="632148"/>
              </a:xfrm>
              <a:prstGeom prst="ellipse">
                <a:avLst/>
              </a:prstGeom>
              <a:solidFill>
                <a:srgbClr val="061F79"/>
              </a:solidFill>
              <a:ln>
                <a:solidFill>
                  <a:srgbClr val="061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2B176112-6FF3-2FA2-BBF4-3823001579C6}"/>
                  </a:ext>
                </a:extLst>
              </p:cNvPr>
              <p:cNvSpPr txBox="1"/>
              <p:nvPr/>
            </p:nvSpPr>
            <p:spPr>
              <a:xfrm>
                <a:off x="9851224" y="3502982"/>
                <a:ext cx="680326" cy="461665"/>
              </a:xfrm>
              <a:prstGeom prst="rect">
                <a:avLst/>
              </a:prstGeom>
              <a:noFill/>
              <a:ln>
                <a:noFill/>
              </a:ln>
            </p:spPr>
            <p:txBody>
              <a:bodyPr wrap="square" lIns="0">
                <a:spAutoFit/>
              </a:bodyPr>
              <a:lstStyle/>
              <a:p>
                <a:pPr algn="ctr"/>
                <a:r>
                  <a:rPr lang="vi-VN" sz="1200" dirty="0">
                    <a:solidFill>
                      <a:schemeClr val="bg1"/>
                    </a:solidFill>
                    <a:latin typeface="Calibri" panose="020F0502020204030204" pitchFamily="34" charset="0"/>
                    <a:ea typeface="Calibri" panose="020F0502020204030204" pitchFamily="34" charset="0"/>
                    <a:cs typeface="Calibri" panose="020F0502020204030204" pitchFamily="34" charset="0"/>
                  </a:rPr>
                  <a:t>Other</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a:r>
                  <a:rPr lang="vi-VN" sz="1200" dirty="0">
                    <a:solidFill>
                      <a:schemeClr val="bg1"/>
                    </a:solidFill>
                    <a:latin typeface="Calibri" panose="020F0502020204030204" pitchFamily="34" charset="0"/>
                    <a:ea typeface="Calibri" panose="020F0502020204030204" pitchFamily="34" charset="0"/>
                    <a:cs typeface="Calibri" panose="020F0502020204030204" pitchFamily="34" charset="0"/>
                  </a:rPr>
                  <a:t>brands</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17" name="Oval 16">
              <a:extLst>
                <a:ext uri="{FF2B5EF4-FFF2-40B4-BE49-F238E27FC236}">
                  <a16:creationId xmlns:a16="http://schemas.microsoft.com/office/drawing/2014/main" id="{2E750B3B-A6E9-C145-B665-F9FAE6DEF9CA}"/>
                </a:ext>
              </a:extLst>
            </p:cNvPr>
            <p:cNvSpPr/>
            <p:nvPr/>
          </p:nvSpPr>
          <p:spPr>
            <a:xfrm>
              <a:off x="10272409" y="2775477"/>
              <a:ext cx="1285672" cy="1285672"/>
            </a:xfrm>
            <a:prstGeom prst="ellipse">
              <a:avLst/>
            </a:prstGeom>
            <a:solidFill>
              <a:srgbClr val="061F79"/>
            </a:solidFill>
            <a:ln>
              <a:solidFill>
                <a:srgbClr val="061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FDD78541-B1D2-C036-7915-B57C3703EA22}"/>
                </a:ext>
              </a:extLst>
            </p:cNvPr>
            <p:cNvSpPr txBox="1"/>
            <p:nvPr/>
          </p:nvSpPr>
          <p:spPr>
            <a:xfrm>
              <a:off x="10533711" y="3233399"/>
              <a:ext cx="864654" cy="338554"/>
            </a:xfrm>
            <a:prstGeom prst="rect">
              <a:avLst/>
            </a:prstGeom>
            <a:noFill/>
            <a:ln>
              <a:noFill/>
            </a:ln>
          </p:spPr>
          <p:txBody>
            <a:bodyPr wrap="square" lIns="0">
              <a:spAutoFit/>
            </a:bodyPr>
            <a:lstStyle/>
            <a:p>
              <a:pPr algn="ctr"/>
              <a:r>
                <a:rPr lang="vi-VN" sz="1600" dirty="0">
                  <a:solidFill>
                    <a:schemeClr val="bg1"/>
                  </a:solidFill>
                  <a:latin typeface="Calibri" panose="020F0502020204030204" pitchFamily="34" charset="0"/>
                  <a:ea typeface="Calibri" panose="020F0502020204030204" pitchFamily="34" charset="0"/>
                  <a:cs typeface="Calibri" panose="020F0502020204030204" pitchFamily="34" charset="0"/>
                </a:rPr>
                <a:t>E, D, F, X</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9EBCD968-3540-C76B-2AC6-C95B00A0CB22}"/>
                </a:ext>
              </a:extLst>
            </p:cNvPr>
            <p:cNvSpPr txBox="1"/>
            <p:nvPr/>
          </p:nvSpPr>
          <p:spPr>
            <a:xfrm>
              <a:off x="9522935" y="3125925"/>
              <a:ext cx="864654" cy="584775"/>
            </a:xfrm>
            <a:prstGeom prst="rect">
              <a:avLst/>
            </a:prstGeom>
            <a:noFill/>
            <a:ln>
              <a:noFill/>
            </a:ln>
          </p:spPr>
          <p:txBody>
            <a:bodyPr wrap="square" lIns="0">
              <a:spAutoFit/>
            </a:bodyPr>
            <a:lstStyle/>
            <a:p>
              <a:pPr algn="ctr"/>
              <a:r>
                <a:rPr lang="vi-VN" sz="3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x</a:t>
              </a:r>
              <a:r>
                <a:rPr lang="en-US" sz="3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4</a:t>
              </a:r>
              <a:endParaRPr lang="vi-VN" sz="3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36" name="TextBox 35">
            <a:extLst>
              <a:ext uri="{FF2B5EF4-FFF2-40B4-BE49-F238E27FC236}">
                <a16:creationId xmlns:a16="http://schemas.microsoft.com/office/drawing/2014/main" id="{E03729B4-6237-4AE9-14A2-E9C88AC247FF}"/>
              </a:ext>
            </a:extLst>
          </p:cNvPr>
          <p:cNvSpPr txBox="1"/>
          <p:nvPr/>
        </p:nvSpPr>
        <p:spPr>
          <a:xfrm>
            <a:off x="8366325" y="4047072"/>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400" b="1" dirty="0">
                <a:solidFill>
                  <a:srgbClr val="00B050"/>
                </a:solidFill>
                <a:latin typeface="Calibri" panose="020F0502020204030204" pitchFamily="34" charset="0"/>
                <a:ea typeface="Calibri" panose="020F0502020204030204" pitchFamily="34" charset="0"/>
                <a:cs typeface="Calibri" panose="020F0502020204030204" pitchFamily="34" charset="0"/>
              </a:rPr>
              <a:t>101</a:t>
            </a: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075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hart 22">
            <a:extLst>
              <a:ext uri="{FF2B5EF4-FFF2-40B4-BE49-F238E27FC236}">
                <a16:creationId xmlns:a16="http://schemas.microsoft.com/office/drawing/2014/main" id="{3847DBE7-871D-4215-E55B-59F372D02EF0}"/>
              </a:ext>
            </a:extLst>
          </p:cNvPr>
          <p:cNvGraphicFramePr/>
          <p:nvPr>
            <p:extLst>
              <p:ext uri="{D42A27DB-BD31-4B8C-83A1-F6EECF244321}">
                <p14:modId xmlns:p14="http://schemas.microsoft.com/office/powerpoint/2010/main" val="2033955196"/>
              </p:ext>
            </p:extLst>
          </p:nvPr>
        </p:nvGraphicFramePr>
        <p:xfrm>
          <a:off x="6050139" y="2154201"/>
          <a:ext cx="3982167" cy="3202541"/>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7AE5CBAA-24E1-45F6-B055-94A76CC4C5DD}"/>
              </a:ext>
            </a:extLst>
          </p:cNvPr>
          <p:cNvSpPr>
            <a:spLocks noGrp="1"/>
          </p:cNvSpPr>
          <p:nvPr>
            <p:ph type="sldNum" sz="quarter" idx="12"/>
          </p:nvPr>
        </p:nvSpPr>
        <p:spPr/>
        <p:txBody>
          <a:bodyPr/>
          <a:lstStyle/>
          <a:p>
            <a:fld id="{558ED922-7EDD-473A-8362-50B58FFACA46}" type="slidenum">
              <a:rPr lang="en-US" smtClean="0"/>
              <a:pPr/>
              <a:t>8</a:t>
            </a:fld>
            <a:endParaRPr lang="en-US"/>
          </a:p>
        </p:txBody>
      </p:sp>
      <p:graphicFrame>
        <p:nvGraphicFramePr>
          <p:cNvPr id="30" name="Chart 29">
            <a:extLst>
              <a:ext uri="{FF2B5EF4-FFF2-40B4-BE49-F238E27FC236}">
                <a16:creationId xmlns:a16="http://schemas.microsoft.com/office/drawing/2014/main" id="{CAF5B9DE-87E3-69B8-673B-06AFBC082B3F}"/>
              </a:ext>
            </a:extLst>
          </p:cNvPr>
          <p:cNvGraphicFramePr/>
          <p:nvPr>
            <p:extLst>
              <p:ext uri="{D42A27DB-BD31-4B8C-83A1-F6EECF244321}">
                <p14:modId xmlns:p14="http://schemas.microsoft.com/office/powerpoint/2010/main" val="2844798159"/>
              </p:ext>
            </p:extLst>
          </p:nvPr>
        </p:nvGraphicFramePr>
        <p:xfrm>
          <a:off x="379352" y="2154201"/>
          <a:ext cx="3982167" cy="3202541"/>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a:extLst>
              <a:ext uri="{FF2B5EF4-FFF2-40B4-BE49-F238E27FC236}">
                <a16:creationId xmlns:a16="http://schemas.microsoft.com/office/drawing/2014/main" id="{0CFD5644-1B00-FE14-68E6-C530C0FDF16A}"/>
              </a:ext>
            </a:extLst>
          </p:cNvPr>
          <p:cNvSpPr>
            <a:spLocks noGrp="1"/>
          </p:cNvSpPr>
          <p:nvPr>
            <p:ph type="title"/>
          </p:nvPr>
        </p:nvSpPr>
        <p:spPr/>
        <p:txBody>
          <a:bodyPr>
            <a:normAutofit fontScale="90000"/>
          </a:bodyPr>
          <a:lstStyle/>
          <a:p>
            <a:r>
              <a:rPr lang="vi-VN" dirty="0"/>
              <a:t>The </a:t>
            </a:r>
            <a:r>
              <a:rPr lang="en-US" dirty="0"/>
              <a:t>volume surge is not just a result of physical expansion but also reflects a genuine increase in consumer demand and store productivity</a:t>
            </a:r>
          </a:p>
        </p:txBody>
      </p:sp>
      <p:sp>
        <p:nvSpPr>
          <p:cNvPr id="27" name="TextBox 26">
            <a:extLst>
              <a:ext uri="{FF2B5EF4-FFF2-40B4-BE49-F238E27FC236}">
                <a16:creationId xmlns:a16="http://schemas.microsoft.com/office/drawing/2014/main" id="{00D746FC-B3CF-CC8F-4926-D93D44B238F0}"/>
              </a:ext>
            </a:extLst>
          </p:cNvPr>
          <p:cNvSpPr txBox="1"/>
          <p:nvPr/>
        </p:nvSpPr>
        <p:spPr>
          <a:xfrm>
            <a:off x="6206247" y="1630400"/>
            <a:ext cx="3586134"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Monthly Orders per O</a:t>
            </a:r>
            <a:r>
              <a:rPr lang="en-US" sz="1600" b="1" dirty="0" err="1">
                <a:latin typeface="Calibri" panose="020F0502020204030204" pitchFamily="34" charset="0"/>
                <a:ea typeface="Calibri" panose="020F0502020204030204" pitchFamily="34" charset="0"/>
                <a:cs typeface="Calibri" panose="020F0502020204030204" pitchFamily="34" charset="0"/>
              </a:rPr>
              <a:t>utlet</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6B7F548F-0522-633E-F813-4BB1A13E9A71}"/>
              </a:ext>
            </a:extLst>
          </p:cNvPr>
          <p:cNvSpPr txBox="1"/>
          <p:nvPr/>
        </p:nvSpPr>
        <p:spPr>
          <a:xfrm>
            <a:off x="489857" y="1630400"/>
            <a:ext cx="3502318"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Number of O</a:t>
            </a:r>
            <a:r>
              <a:rPr lang="en-US" sz="1600" b="1" dirty="0" err="1">
                <a:latin typeface="Calibri" panose="020F0502020204030204" pitchFamily="34" charset="0"/>
                <a:ea typeface="Calibri" panose="020F0502020204030204" pitchFamily="34" charset="0"/>
                <a:cs typeface="Calibri" panose="020F0502020204030204" pitchFamily="34" charset="0"/>
              </a:rPr>
              <a:t>utlets</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FFBC0BD-B0E4-12D0-C3D3-51047342759B}"/>
              </a:ext>
            </a:extLst>
          </p:cNvPr>
          <p:cNvSpPr txBox="1"/>
          <p:nvPr/>
        </p:nvSpPr>
        <p:spPr>
          <a:xfrm>
            <a:off x="7626531" y="2763431"/>
            <a:ext cx="829382" cy="369332"/>
          </a:xfrm>
          <a:prstGeom prst="rect">
            <a:avLst/>
          </a:prstGeom>
          <a:noFill/>
          <a:ln>
            <a:noFill/>
          </a:ln>
        </p:spPr>
        <p:txBody>
          <a:bodyPr wrap="square" lIns="0">
            <a:spAutoFit/>
          </a:bodyPr>
          <a:lstStyle/>
          <a:p>
            <a:pPr algn="ct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+10%</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23EABA51-2D10-B8F4-62A4-2C03447873D1}"/>
              </a:ext>
            </a:extLst>
          </p:cNvPr>
          <p:cNvSpPr txBox="1"/>
          <p:nvPr/>
        </p:nvSpPr>
        <p:spPr>
          <a:xfrm>
            <a:off x="1955744" y="2763431"/>
            <a:ext cx="829382" cy="369332"/>
          </a:xfrm>
          <a:prstGeom prst="rect">
            <a:avLst/>
          </a:prstGeom>
          <a:noFill/>
          <a:ln>
            <a:noFill/>
          </a:ln>
        </p:spPr>
        <p:txBody>
          <a:bodyPr wrap="square" lIns="0">
            <a:spAutoFit/>
          </a:bodyPr>
          <a:lstStyle/>
          <a:p>
            <a:pPr algn="ct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+10%</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Arrow: Pentagon 3">
            <a:extLst>
              <a:ext uri="{FF2B5EF4-FFF2-40B4-BE49-F238E27FC236}">
                <a16:creationId xmlns:a16="http://schemas.microsoft.com/office/drawing/2014/main" id="{9BFC23B2-8899-EBD3-7FDA-7C95D28FCEC4}"/>
              </a:ext>
            </a:extLst>
          </p:cNvPr>
          <p:cNvSpPr/>
          <p:nvPr/>
        </p:nvSpPr>
        <p:spPr>
          <a:xfrm>
            <a:off x="-9729" y="-10160"/>
            <a:ext cx="1463040" cy="338554"/>
          </a:xfrm>
          <a:prstGeom prst="homePlate">
            <a:avLst/>
          </a:prstGeom>
          <a:solidFill>
            <a:srgbClr val="061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5" name="TextBox 4">
            <a:extLst>
              <a:ext uri="{FF2B5EF4-FFF2-40B4-BE49-F238E27FC236}">
                <a16:creationId xmlns:a16="http://schemas.microsoft.com/office/drawing/2014/main" id="{A7D384AE-CC3A-21F2-D515-016FECAF88E2}"/>
              </a:ext>
            </a:extLst>
          </p:cNvPr>
          <p:cNvSpPr txBox="1"/>
          <p:nvPr/>
        </p:nvSpPr>
        <p:spPr>
          <a:xfrm>
            <a:off x="489856" y="5502968"/>
            <a:ext cx="11364686" cy="338554"/>
          </a:xfrm>
          <a:prstGeom prst="rect">
            <a:avLst/>
          </a:prstGeom>
          <a:noFill/>
        </p:spPr>
        <p:txBody>
          <a:bodyPr wrap="square" l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The growth in orders is driven by a dual-engine effect: a expansion in outlet footprint coupled with a rise in orders per outlet.</a:t>
            </a:r>
            <a:endParaRPr lang="en-US" sz="1600" dirty="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527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FFB6B0-2764-CA2B-BDB6-69AC97B9AE9D}"/>
              </a:ext>
            </a:extLst>
          </p:cNvPr>
          <p:cNvSpPr>
            <a:spLocks noGrp="1"/>
          </p:cNvSpPr>
          <p:nvPr>
            <p:ph type="sldNum" sz="quarter" idx="12"/>
          </p:nvPr>
        </p:nvSpPr>
        <p:spPr/>
        <p:txBody>
          <a:bodyPr/>
          <a:lstStyle/>
          <a:p>
            <a:fld id="{558ED922-7EDD-473A-8362-50B58FFACA46}" type="slidenum">
              <a:rPr lang="en-US" smtClean="0"/>
              <a:pPr/>
              <a:t>9</a:t>
            </a:fld>
            <a:endParaRPr lang="en-US"/>
          </a:p>
        </p:txBody>
      </p:sp>
      <p:sp>
        <p:nvSpPr>
          <p:cNvPr id="3" name="Title 2">
            <a:extLst>
              <a:ext uri="{FF2B5EF4-FFF2-40B4-BE49-F238E27FC236}">
                <a16:creationId xmlns:a16="http://schemas.microsoft.com/office/drawing/2014/main" id="{34EEAAFF-BA0E-1899-72DF-01F0842AC35C}"/>
              </a:ext>
            </a:extLst>
          </p:cNvPr>
          <p:cNvSpPr>
            <a:spLocks noGrp="1"/>
          </p:cNvSpPr>
          <p:nvPr>
            <p:ph type="title"/>
          </p:nvPr>
        </p:nvSpPr>
        <p:spPr/>
        <p:txBody>
          <a:bodyPr>
            <a:normAutofit/>
          </a:bodyPr>
          <a:lstStyle/>
          <a:p>
            <a:r>
              <a:rPr lang="vi-VN" dirty="0"/>
              <a:t>Orders</a:t>
            </a:r>
            <a:r>
              <a:rPr lang="en-US" dirty="0"/>
              <a:t> growth among leading brands is primarily driven by outlet </a:t>
            </a:r>
            <a:r>
              <a:rPr lang="vi-VN" dirty="0"/>
              <a:t>expansion</a:t>
            </a:r>
            <a:endParaRPr lang="en-US" dirty="0"/>
          </a:p>
        </p:txBody>
      </p:sp>
      <p:sp>
        <p:nvSpPr>
          <p:cNvPr id="18" name="TextBox 17">
            <a:extLst>
              <a:ext uri="{FF2B5EF4-FFF2-40B4-BE49-F238E27FC236}">
                <a16:creationId xmlns:a16="http://schemas.microsoft.com/office/drawing/2014/main" id="{A83544B7-9C53-3F93-A8AF-A14E7153CA59}"/>
              </a:ext>
            </a:extLst>
          </p:cNvPr>
          <p:cNvSpPr txBox="1"/>
          <p:nvPr/>
        </p:nvSpPr>
        <p:spPr>
          <a:xfrm>
            <a:off x="6509736" y="1626265"/>
            <a:ext cx="3325144"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Orders per Outlet by brand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AF3FA140-5D30-B69A-5E3C-C897C4C61F18}"/>
              </a:ext>
            </a:extLst>
          </p:cNvPr>
          <p:cNvSpPr txBox="1"/>
          <p:nvPr/>
        </p:nvSpPr>
        <p:spPr>
          <a:xfrm>
            <a:off x="489857" y="1626265"/>
            <a:ext cx="2606439"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Number of Outlets by brand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1" name="Chart 20">
            <a:extLst>
              <a:ext uri="{FF2B5EF4-FFF2-40B4-BE49-F238E27FC236}">
                <a16:creationId xmlns:a16="http://schemas.microsoft.com/office/drawing/2014/main" id="{4862A51B-4A1F-B6A9-8945-D9F88ACFE40F}"/>
              </a:ext>
            </a:extLst>
          </p:cNvPr>
          <p:cNvGraphicFramePr/>
          <p:nvPr>
            <p:extLst>
              <p:ext uri="{D42A27DB-BD31-4B8C-83A1-F6EECF244321}">
                <p14:modId xmlns:p14="http://schemas.microsoft.com/office/powerpoint/2010/main" val="2425530219"/>
              </p:ext>
            </p:extLst>
          </p:nvPr>
        </p:nvGraphicFramePr>
        <p:xfrm>
          <a:off x="430835" y="2188277"/>
          <a:ext cx="5402942" cy="32105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Chart 23">
            <a:extLst>
              <a:ext uri="{FF2B5EF4-FFF2-40B4-BE49-F238E27FC236}">
                <a16:creationId xmlns:a16="http://schemas.microsoft.com/office/drawing/2014/main" id="{D0F8E4C1-AD1E-D0F0-9B8D-A206959D6602}"/>
              </a:ext>
            </a:extLst>
          </p:cNvPr>
          <p:cNvGraphicFramePr/>
          <p:nvPr>
            <p:extLst>
              <p:ext uri="{D42A27DB-BD31-4B8C-83A1-F6EECF244321}">
                <p14:modId xmlns:p14="http://schemas.microsoft.com/office/powerpoint/2010/main" val="3292082562"/>
              </p:ext>
            </p:extLst>
          </p:nvPr>
        </p:nvGraphicFramePr>
        <p:xfrm>
          <a:off x="6484061" y="2188277"/>
          <a:ext cx="5402943" cy="3210559"/>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6">
            <a:extLst>
              <a:ext uri="{FF2B5EF4-FFF2-40B4-BE49-F238E27FC236}">
                <a16:creationId xmlns:a16="http://schemas.microsoft.com/office/drawing/2014/main" id="{4F43B3BB-8143-EEE9-85B5-0F214B369610}"/>
              </a:ext>
            </a:extLst>
          </p:cNvPr>
          <p:cNvSpPr txBox="1"/>
          <p:nvPr/>
        </p:nvSpPr>
        <p:spPr>
          <a:xfrm>
            <a:off x="1378385" y="3293810"/>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4</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7A7313DB-4556-5A18-AF1C-8D2AE5D9CB7D}"/>
              </a:ext>
            </a:extLst>
          </p:cNvPr>
          <p:cNvSpPr txBox="1"/>
          <p:nvPr/>
        </p:nvSpPr>
        <p:spPr>
          <a:xfrm>
            <a:off x="831242" y="2838687"/>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4%</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8152E20C-41EC-A6E8-E0AF-5875E5E0B0C2}"/>
              </a:ext>
            </a:extLst>
          </p:cNvPr>
          <p:cNvSpPr txBox="1"/>
          <p:nvPr/>
        </p:nvSpPr>
        <p:spPr>
          <a:xfrm>
            <a:off x="2400778" y="4362008"/>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+23%</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Arrow: Pentagon 31">
            <a:extLst>
              <a:ext uri="{FF2B5EF4-FFF2-40B4-BE49-F238E27FC236}">
                <a16:creationId xmlns:a16="http://schemas.microsoft.com/office/drawing/2014/main" id="{94BC8617-CC47-F949-C1EE-AEF4264512D6}"/>
              </a:ext>
            </a:extLst>
          </p:cNvPr>
          <p:cNvSpPr/>
          <p:nvPr/>
        </p:nvSpPr>
        <p:spPr>
          <a:xfrm>
            <a:off x="-9729" y="-10160"/>
            <a:ext cx="1463040" cy="338554"/>
          </a:xfrm>
          <a:prstGeom prst="homePlate">
            <a:avLst/>
          </a:prstGeom>
          <a:solidFill>
            <a:srgbClr val="061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33" name="TextBox 32">
            <a:extLst>
              <a:ext uri="{FF2B5EF4-FFF2-40B4-BE49-F238E27FC236}">
                <a16:creationId xmlns:a16="http://schemas.microsoft.com/office/drawing/2014/main" id="{A395DCAA-D95D-36FA-FE6C-21152A7A796C}"/>
              </a:ext>
            </a:extLst>
          </p:cNvPr>
          <p:cNvSpPr txBox="1"/>
          <p:nvPr/>
        </p:nvSpPr>
        <p:spPr>
          <a:xfrm>
            <a:off x="489857" y="5358704"/>
            <a:ext cx="11212286" cy="584775"/>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Brands E, D, and X have seen an impressive expansion in their outlet footprint, while order productivity per location has remained remarkably consistent across </a:t>
            </a:r>
            <a:r>
              <a:rPr lang="vi-VN" sz="1600" dirty="0">
                <a:latin typeface="Calibri" panose="020F0502020204030204" pitchFamily="34" charset="0"/>
                <a:ea typeface="Calibri" panose="020F0502020204030204" pitchFamily="34" charset="0"/>
                <a:cs typeface="Calibri" panose="020F0502020204030204" pitchFamily="34" charset="0"/>
              </a:rPr>
              <a:t>brands</a:t>
            </a:r>
          </a:p>
        </p:txBody>
      </p:sp>
    </p:spTree>
    <p:extLst>
      <p:ext uri="{BB962C8B-B14F-4D97-AF65-F5344CB8AC3E}">
        <p14:creationId xmlns:p14="http://schemas.microsoft.com/office/powerpoint/2010/main" val="337734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EFCAF2-F86F-A8D1-9A2C-330ED939A9E0}"/>
              </a:ext>
            </a:extLst>
          </p:cNvPr>
          <p:cNvSpPr>
            <a:spLocks noGrp="1"/>
          </p:cNvSpPr>
          <p:nvPr>
            <p:ph type="sldNum" sz="quarter" idx="12"/>
          </p:nvPr>
        </p:nvSpPr>
        <p:spPr/>
        <p:txBody>
          <a:bodyPr/>
          <a:lstStyle/>
          <a:p>
            <a:fld id="{558ED922-7EDD-473A-8362-50B58FFACA46}" type="slidenum">
              <a:rPr lang="en-US" smtClean="0"/>
              <a:pPr/>
              <a:t>10</a:t>
            </a:fld>
            <a:endParaRPr lang="en-US"/>
          </a:p>
        </p:txBody>
      </p:sp>
      <p:sp>
        <p:nvSpPr>
          <p:cNvPr id="3" name="Title 2">
            <a:extLst>
              <a:ext uri="{FF2B5EF4-FFF2-40B4-BE49-F238E27FC236}">
                <a16:creationId xmlns:a16="http://schemas.microsoft.com/office/drawing/2014/main" id="{044DAE12-7E52-1919-31E5-E8DA259EC770}"/>
              </a:ext>
            </a:extLst>
          </p:cNvPr>
          <p:cNvSpPr>
            <a:spLocks noGrp="1"/>
          </p:cNvSpPr>
          <p:nvPr>
            <p:ph type="title"/>
          </p:nvPr>
        </p:nvSpPr>
        <p:spPr/>
        <p:txBody>
          <a:bodyPr>
            <a:normAutofit fontScale="90000"/>
          </a:bodyPr>
          <a:lstStyle/>
          <a:p>
            <a:r>
              <a:rPr lang="vi-VN" dirty="0"/>
              <a:t>O</a:t>
            </a:r>
            <a:r>
              <a:rPr lang="en-US" dirty="0" err="1"/>
              <a:t>ur</a:t>
            </a:r>
            <a:r>
              <a:rPr lang="en-US" dirty="0"/>
              <a:t> growth </a:t>
            </a:r>
            <a:r>
              <a:rPr lang="vi-VN" dirty="0"/>
              <a:t>in Orders </a:t>
            </a:r>
            <a:r>
              <a:rPr lang="en-US" dirty="0"/>
              <a:t>is driven by expanding our reach to more customers rather than relying on deeper, unsustainable discounts</a:t>
            </a:r>
          </a:p>
        </p:txBody>
      </p:sp>
      <p:graphicFrame>
        <p:nvGraphicFramePr>
          <p:cNvPr id="5" name="Chart 4">
            <a:extLst>
              <a:ext uri="{FF2B5EF4-FFF2-40B4-BE49-F238E27FC236}">
                <a16:creationId xmlns:a16="http://schemas.microsoft.com/office/drawing/2014/main" id="{857AFCD8-A452-A1E2-151E-61CFBD314B2B}"/>
              </a:ext>
            </a:extLst>
          </p:cNvPr>
          <p:cNvGraphicFramePr/>
          <p:nvPr>
            <p:extLst>
              <p:ext uri="{D42A27DB-BD31-4B8C-83A1-F6EECF244321}">
                <p14:modId xmlns:p14="http://schemas.microsoft.com/office/powerpoint/2010/main" val="3811472045"/>
              </p:ext>
            </p:extLst>
          </p:nvPr>
        </p:nvGraphicFramePr>
        <p:xfrm>
          <a:off x="379353" y="2103404"/>
          <a:ext cx="4017550" cy="3202541"/>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B36D2FB-A3C8-FBE3-1A4D-091001F3C351}"/>
              </a:ext>
            </a:extLst>
          </p:cNvPr>
          <p:cNvSpPr txBox="1"/>
          <p:nvPr/>
        </p:nvSpPr>
        <p:spPr>
          <a:xfrm>
            <a:off x="489857" y="1628960"/>
            <a:ext cx="3502318"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 promo, </a:t>
            </a:r>
            <a:r>
              <a:rPr lang="en-US" sz="1600" dirty="0">
                <a:latin typeface="Calibri" panose="020F0502020204030204" pitchFamily="34" charset="0"/>
                <a:ea typeface="Calibri" panose="020F0502020204030204" pitchFamily="34" charset="0"/>
                <a:cs typeface="Calibri" panose="020F0502020204030204" pitchFamily="34" charset="0"/>
              </a:rPr>
              <a:t>mil USD</a:t>
            </a:r>
          </a:p>
        </p:txBody>
      </p:sp>
      <p:sp>
        <p:nvSpPr>
          <p:cNvPr id="7" name="TextBox 6">
            <a:extLst>
              <a:ext uri="{FF2B5EF4-FFF2-40B4-BE49-F238E27FC236}">
                <a16:creationId xmlns:a16="http://schemas.microsoft.com/office/drawing/2014/main" id="{F45474B0-FFC6-8B2B-FFE6-00DB335F602B}"/>
              </a:ext>
            </a:extLst>
          </p:cNvPr>
          <p:cNvSpPr txBox="1"/>
          <p:nvPr/>
        </p:nvSpPr>
        <p:spPr>
          <a:xfrm>
            <a:off x="1955744" y="2716196"/>
            <a:ext cx="829382" cy="369332"/>
          </a:xfrm>
          <a:prstGeom prst="rect">
            <a:avLst/>
          </a:prstGeom>
          <a:noFill/>
          <a:ln>
            <a:noFill/>
          </a:ln>
        </p:spPr>
        <p:txBody>
          <a:bodyPr wrap="square" lIns="0">
            <a:spAutoFit/>
          </a:bodyPr>
          <a:lstStyle/>
          <a:p>
            <a:pPr algn="ct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+23%</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0" name="Chart 9">
            <a:extLst>
              <a:ext uri="{FF2B5EF4-FFF2-40B4-BE49-F238E27FC236}">
                <a16:creationId xmlns:a16="http://schemas.microsoft.com/office/drawing/2014/main" id="{C7D34A73-380C-A530-A731-85B473840A13}"/>
              </a:ext>
            </a:extLst>
          </p:cNvPr>
          <p:cNvGraphicFramePr/>
          <p:nvPr>
            <p:extLst>
              <p:ext uri="{D42A27DB-BD31-4B8C-83A1-F6EECF244321}">
                <p14:modId xmlns:p14="http://schemas.microsoft.com/office/powerpoint/2010/main" val="1094479285"/>
              </p:ext>
            </p:extLst>
          </p:nvPr>
        </p:nvGraphicFramePr>
        <p:xfrm>
          <a:off x="6050139" y="2103404"/>
          <a:ext cx="3982167" cy="3202541"/>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07CA886C-18FE-AC26-F9FD-E76786810FEF}"/>
              </a:ext>
            </a:extLst>
          </p:cNvPr>
          <p:cNvSpPr txBox="1"/>
          <p:nvPr/>
        </p:nvSpPr>
        <p:spPr>
          <a:xfrm>
            <a:off x="6206247" y="1628960"/>
            <a:ext cx="3586134"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Promo per </a:t>
            </a:r>
            <a:r>
              <a:rPr lang="vi-VN" sz="1600" b="1" dirty="0">
                <a:latin typeface="Calibri" panose="020F0502020204030204" pitchFamily="34" charset="0"/>
                <a:ea typeface="Calibri" panose="020F0502020204030204" pitchFamily="34" charset="0"/>
                <a:cs typeface="Calibri" panose="020F0502020204030204" pitchFamily="34" charset="0"/>
              </a:rPr>
              <a:t>O</a:t>
            </a:r>
            <a:r>
              <a:rPr lang="en-US" sz="1600" b="1" dirty="0" err="1">
                <a:latin typeface="Calibri" panose="020F0502020204030204" pitchFamily="34" charset="0"/>
                <a:ea typeface="Calibri" panose="020F0502020204030204" pitchFamily="34" charset="0"/>
                <a:cs typeface="Calibri" panose="020F0502020204030204" pitchFamily="34" charset="0"/>
              </a:rPr>
              <a:t>rder</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USD</a:t>
            </a:r>
          </a:p>
        </p:txBody>
      </p:sp>
      <p:sp>
        <p:nvSpPr>
          <p:cNvPr id="12" name="TextBox 11">
            <a:extLst>
              <a:ext uri="{FF2B5EF4-FFF2-40B4-BE49-F238E27FC236}">
                <a16:creationId xmlns:a16="http://schemas.microsoft.com/office/drawing/2014/main" id="{FF9966A2-4102-4404-4034-227B0DB48E5C}"/>
              </a:ext>
            </a:extLst>
          </p:cNvPr>
          <p:cNvSpPr txBox="1"/>
          <p:nvPr/>
        </p:nvSpPr>
        <p:spPr>
          <a:xfrm>
            <a:off x="7703394" y="2609219"/>
            <a:ext cx="829382" cy="369332"/>
          </a:xfrm>
          <a:prstGeom prst="rect">
            <a:avLst/>
          </a:prstGeom>
          <a:noFill/>
          <a:ln>
            <a:noFill/>
          </a:ln>
        </p:spPr>
        <p:txBody>
          <a:bodyPr wrap="square" lIns="0">
            <a:spAutoFit/>
          </a:bodyPr>
          <a:lstStyle/>
          <a:p>
            <a:pPr algn="ctr"/>
            <a:r>
              <a:rPr lang="vi-VN" b="1"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US"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Arrow: Pentagon 3">
            <a:extLst>
              <a:ext uri="{FF2B5EF4-FFF2-40B4-BE49-F238E27FC236}">
                <a16:creationId xmlns:a16="http://schemas.microsoft.com/office/drawing/2014/main" id="{F491DAC3-DFE0-D7C3-3C9D-C2894809531C}"/>
              </a:ext>
            </a:extLst>
          </p:cNvPr>
          <p:cNvSpPr/>
          <p:nvPr/>
        </p:nvSpPr>
        <p:spPr>
          <a:xfrm>
            <a:off x="-9729" y="-10160"/>
            <a:ext cx="1463040" cy="338554"/>
          </a:xfrm>
          <a:prstGeom prst="homePlate">
            <a:avLst/>
          </a:prstGeom>
          <a:solidFill>
            <a:srgbClr val="061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8" name="TextBox 7">
            <a:extLst>
              <a:ext uri="{FF2B5EF4-FFF2-40B4-BE49-F238E27FC236}">
                <a16:creationId xmlns:a16="http://schemas.microsoft.com/office/drawing/2014/main" id="{0A576879-40DF-0C5C-C639-D506F0D50228}"/>
              </a:ext>
            </a:extLst>
          </p:cNvPr>
          <p:cNvSpPr txBox="1"/>
          <p:nvPr/>
        </p:nvSpPr>
        <p:spPr>
          <a:xfrm>
            <a:off x="489857" y="5358704"/>
            <a:ext cx="11212286" cy="338554"/>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The 23% increase in total Promo spend </a:t>
            </a:r>
            <a:r>
              <a:rPr lang="vi-VN" sz="1600" dirty="0">
                <a:latin typeface="Calibri" panose="020F0502020204030204" pitchFamily="34" charset="0"/>
                <a:ea typeface="Calibri" panose="020F0502020204030204" pitchFamily="34" charset="0"/>
                <a:cs typeface="Calibri" panose="020F0502020204030204" pitchFamily="34" charset="0"/>
              </a:rPr>
              <a:t>acts</a:t>
            </a:r>
            <a:r>
              <a:rPr lang="en-US" sz="1600" dirty="0">
                <a:latin typeface="Calibri" panose="020F0502020204030204" pitchFamily="34" charset="0"/>
                <a:ea typeface="Calibri" panose="020F0502020204030204" pitchFamily="34" charset="0"/>
                <a:cs typeface="Calibri" panose="020F0502020204030204" pitchFamily="34" charset="0"/>
              </a:rPr>
              <a:t> as the primary fuel for order growth, </a:t>
            </a:r>
            <a:r>
              <a:rPr lang="vi-VN" sz="1600" dirty="0">
                <a:latin typeface="Calibri" panose="020F0502020204030204" pitchFamily="34" charset="0"/>
                <a:ea typeface="Calibri" panose="020F0502020204030204" pitchFamily="34" charset="0"/>
                <a:cs typeface="Calibri" panose="020F0502020204030204" pitchFamily="34" charset="0"/>
              </a:rPr>
              <a:t>while</a:t>
            </a:r>
            <a:r>
              <a:rPr lang="en-US" sz="1600" dirty="0">
                <a:latin typeface="Calibri" panose="020F0502020204030204" pitchFamily="34" charset="0"/>
                <a:ea typeface="Calibri" panose="020F0502020204030204" pitchFamily="34" charset="0"/>
                <a:cs typeface="Calibri" panose="020F0502020204030204" pitchFamily="34" charset="0"/>
              </a:rPr>
              <a:t> Promo per Order remains stable</a:t>
            </a:r>
            <a:r>
              <a:rPr lang="vi-VN" sz="1600" dirty="0">
                <a:latin typeface="Calibri" panose="020F0502020204030204" pitchFamily="34" charset="0"/>
                <a:ea typeface="Calibri" panose="020F0502020204030204" pitchFamily="34" charset="0"/>
                <a:cs typeface="Calibri" panose="020F0502020204030204" pitchFamily="34" charset="0"/>
              </a:rPr>
              <a:t> over years</a:t>
            </a:r>
          </a:p>
        </p:txBody>
      </p:sp>
    </p:spTree>
    <p:extLst>
      <p:ext uri="{BB962C8B-B14F-4D97-AF65-F5344CB8AC3E}">
        <p14:creationId xmlns:p14="http://schemas.microsoft.com/office/powerpoint/2010/main" val="2523293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536E-D480-AFD1-28FC-DE5EF67A82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3BA40B-3D35-E90C-7A83-9CACB5A8200D}"/>
              </a:ext>
            </a:extLst>
          </p:cNvPr>
          <p:cNvSpPr>
            <a:spLocks noGrp="1"/>
          </p:cNvSpPr>
          <p:nvPr>
            <p:ph type="sldNum" sz="quarter" idx="12"/>
          </p:nvPr>
        </p:nvSpPr>
        <p:spPr/>
        <p:txBody>
          <a:bodyPr/>
          <a:lstStyle/>
          <a:p>
            <a:fld id="{558ED922-7EDD-473A-8362-50B58FFACA46}" type="slidenum">
              <a:rPr lang="en-US" smtClean="0"/>
              <a:pPr/>
              <a:t>11</a:t>
            </a:fld>
            <a:endParaRPr lang="en-US"/>
          </a:p>
        </p:txBody>
      </p:sp>
      <p:sp>
        <p:nvSpPr>
          <p:cNvPr id="3" name="Title 2">
            <a:extLst>
              <a:ext uri="{FF2B5EF4-FFF2-40B4-BE49-F238E27FC236}">
                <a16:creationId xmlns:a16="http://schemas.microsoft.com/office/drawing/2014/main" id="{814AFF58-A6EA-B44F-A986-EC7D4B484883}"/>
              </a:ext>
            </a:extLst>
          </p:cNvPr>
          <p:cNvSpPr>
            <a:spLocks noGrp="1"/>
          </p:cNvSpPr>
          <p:nvPr>
            <p:ph type="title"/>
          </p:nvPr>
        </p:nvSpPr>
        <p:spPr>
          <a:xfrm>
            <a:off x="489857" y="411935"/>
            <a:ext cx="11475164" cy="625475"/>
          </a:xfrm>
        </p:spPr>
        <p:txBody>
          <a:bodyPr rIns="0">
            <a:normAutofit fontScale="90000"/>
          </a:bodyPr>
          <a:lstStyle/>
          <a:p>
            <a:r>
              <a:rPr lang="en-US" dirty="0"/>
              <a:t>Promotional investment has effectively driven orders for leading brands while maintaining a stable cost-per-order. This demonstrates a highly efficient scaling model without eroding unit </a:t>
            </a:r>
            <a:r>
              <a:rPr lang="vi-VN" dirty="0"/>
              <a:t>margins. However, Brand Y is </a:t>
            </a:r>
            <a:r>
              <a:rPr lang="en-US" dirty="0"/>
              <a:t>high reliance on subsidies with diminishing returns on volume</a:t>
            </a:r>
          </a:p>
        </p:txBody>
      </p:sp>
      <p:sp>
        <p:nvSpPr>
          <p:cNvPr id="26" name="TextBox 25">
            <a:extLst>
              <a:ext uri="{FF2B5EF4-FFF2-40B4-BE49-F238E27FC236}">
                <a16:creationId xmlns:a16="http://schemas.microsoft.com/office/drawing/2014/main" id="{E91528B8-49F5-78C8-789F-95881BB1E4AD}"/>
              </a:ext>
            </a:extLst>
          </p:cNvPr>
          <p:cNvSpPr txBox="1"/>
          <p:nvPr/>
        </p:nvSpPr>
        <p:spPr>
          <a:xfrm>
            <a:off x="489857" y="5358704"/>
            <a:ext cx="11212286" cy="584775"/>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While promotional spending has increased for leading brands (E, D, X), their Promo per Order remains stable. In contrast, brand Y exhibit high promo consumption with disproportionately low order volumes, signaling a need for closer strategic oversight</a:t>
            </a:r>
          </a:p>
        </p:txBody>
      </p:sp>
      <p:sp>
        <p:nvSpPr>
          <p:cNvPr id="32" name="Arrow: Pentagon 31">
            <a:extLst>
              <a:ext uri="{FF2B5EF4-FFF2-40B4-BE49-F238E27FC236}">
                <a16:creationId xmlns:a16="http://schemas.microsoft.com/office/drawing/2014/main" id="{BA31EDA6-BFCC-60D5-FFBA-97C0948309CE}"/>
              </a:ext>
            </a:extLst>
          </p:cNvPr>
          <p:cNvSpPr/>
          <p:nvPr/>
        </p:nvSpPr>
        <p:spPr>
          <a:xfrm>
            <a:off x="-9729" y="-10160"/>
            <a:ext cx="1463040" cy="338554"/>
          </a:xfrm>
          <a:prstGeom prst="homePlate">
            <a:avLst/>
          </a:prstGeom>
          <a:solidFill>
            <a:srgbClr val="061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Orders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4" name="TextBox 3">
            <a:extLst>
              <a:ext uri="{FF2B5EF4-FFF2-40B4-BE49-F238E27FC236}">
                <a16:creationId xmlns:a16="http://schemas.microsoft.com/office/drawing/2014/main" id="{49F6882F-9CE3-055E-0E85-B3AABC2E4BF8}"/>
              </a:ext>
            </a:extLst>
          </p:cNvPr>
          <p:cNvSpPr txBox="1"/>
          <p:nvPr/>
        </p:nvSpPr>
        <p:spPr>
          <a:xfrm>
            <a:off x="6568103" y="1626265"/>
            <a:ext cx="3325144"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Promo per Order by brand, </a:t>
            </a:r>
            <a:r>
              <a:rPr lang="en-US" sz="1600" dirty="0">
                <a:latin typeface="Calibri" panose="020F0502020204030204" pitchFamily="34" charset="0"/>
                <a:ea typeface="Calibri" panose="020F0502020204030204" pitchFamily="34" charset="0"/>
                <a:cs typeface="Calibri" panose="020F0502020204030204" pitchFamily="34" charset="0"/>
              </a:rPr>
              <a:t>USD</a:t>
            </a:r>
          </a:p>
        </p:txBody>
      </p:sp>
      <p:sp>
        <p:nvSpPr>
          <p:cNvPr id="5" name="TextBox 4">
            <a:extLst>
              <a:ext uri="{FF2B5EF4-FFF2-40B4-BE49-F238E27FC236}">
                <a16:creationId xmlns:a16="http://schemas.microsoft.com/office/drawing/2014/main" id="{50F5A26D-9EA7-14D5-2674-A48D528F0D56}"/>
              </a:ext>
            </a:extLst>
          </p:cNvPr>
          <p:cNvSpPr txBox="1"/>
          <p:nvPr/>
        </p:nvSpPr>
        <p:spPr>
          <a:xfrm>
            <a:off x="489857" y="1626265"/>
            <a:ext cx="3482703"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 Promo by brand, </a:t>
            </a:r>
            <a:r>
              <a:rPr lang="en-US" sz="1600" dirty="0">
                <a:latin typeface="Calibri" panose="020F0502020204030204" pitchFamily="34" charset="0"/>
                <a:ea typeface="Calibri" panose="020F0502020204030204" pitchFamily="34" charset="0"/>
                <a:cs typeface="Calibri" panose="020F0502020204030204" pitchFamily="34" charset="0"/>
              </a:rPr>
              <a:t>mil USD</a:t>
            </a:r>
          </a:p>
        </p:txBody>
      </p:sp>
      <p:graphicFrame>
        <p:nvGraphicFramePr>
          <p:cNvPr id="6" name="Chart 5">
            <a:extLst>
              <a:ext uri="{FF2B5EF4-FFF2-40B4-BE49-F238E27FC236}">
                <a16:creationId xmlns:a16="http://schemas.microsoft.com/office/drawing/2014/main" id="{11DE5A0E-6BF9-CF71-A3C1-CB5A3C0B6D84}"/>
              </a:ext>
            </a:extLst>
          </p:cNvPr>
          <p:cNvGraphicFramePr/>
          <p:nvPr>
            <p:extLst>
              <p:ext uri="{D42A27DB-BD31-4B8C-83A1-F6EECF244321}">
                <p14:modId xmlns:p14="http://schemas.microsoft.com/office/powerpoint/2010/main" val="3722633077"/>
              </p:ext>
            </p:extLst>
          </p:nvPr>
        </p:nvGraphicFramePr>
        <p:xfrm>
          <a:off x="430835" y="2003451"/>
          <a:ext cx="5402942" cy="32105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1E606F3-C6D5-9AE5-68BE-D3BFC8E0A0B0}"/>
              </a:ext>
            </a:extLst>
          </p:cNvPr>
          <p:cNvGraphicFramePr/>
          <p:nvPr>
            <p:extLst>
              <p:ext uri="{D42A27DB-BD31-4B8C-83A1-F6EECF244321}">
                <p14:modId xmlns:p14="http://schemas.microsoft.com/office/powerpoint/2010/main" val="26889438"/>
              </p:ext>
            </p:extLst>
          </p:nvPr>
        </p:nvGraphicFramePr>
        <p:xfrm>
          <a:off x="6484061" y="2003451"/>
          <a:ext cx="5402943" cy="3210559"/>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592B9F17-CEEB-72F6-B369-8CD34E53D784}"/>
              </a:ext>
            </a:extLst>
          </p:cNvPr>
          <p:cNvSpPr txBox="1"/>
          <p:nvPr/>
        </p:nvSpPr>
        <p:spPr>
          <a:xfrm>
            <a:off x="1225985" y="3470229"/>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+76%</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9C089E0-6FD0-5396-3768-C8CE3454AF01}"/>
              </a:ext>
            </a:extLst>
          </p:cNvPr>
          <p:cNvSpPr txBox="1"/>
          <p:nvPr/>
        </p:nvSpPr>
        <p:spPr>
          <a:xfrm>
            <a:off x="721791" y="3470230"/>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5%</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A7946FF5-04A6-DC33-2F03-587B2D793763}"/>
              </a:ext>
            </a:extLst>
          </p:cNvPr>
          <p:cNvSpPr txBox="1"/>
          <p:nvPr/>
        </p:nvSpPr>
        <p:spPr>
          <a:xfrm>
            <a:off x="2302924" y="4012590"/>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+28%</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E1BBA07-C4C1-7A94-717A-770432D7B1EB}"/>
              </a:ext>
            </a:extLst>
          </p:cNvPr>
          <p:cNvSpPr txBox="1"/>
          <p:nvPr/>
        </p:nvSpPr>
        <p:spPr>
          <a:xfrm>
            <a:off x="9439645" y="2721957"/>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100</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B874EBD3-8827-49A5-4074-5D661AC996DC}"/>
              </a:ext>
            </a:extLst>
          </p:cNvPr>
          <p:cNvSpPr txBox="1"/>
          <p:nvPr/>
        </p:nvSpPr>
        <p:spPr>
          <a:xfrm>
            <a:off x="3423262" y="3803687"/>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30</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5%</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1698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D743B16E-1C2F-6892-5F3C-A524280D404A}"/>
              </a:ext>
            </a:extLst>
          </p:cNvPr>
          <p:cNvGraphicFramePr/>
          <p:nvPr>
            <p:extLst>
              <p:ext uri="{D42A27DB-BD31-4B8C-83A1-F6EECF244321}">
                <p14:modId xmlns:p14="http://schemas.microsoft.com/office/powerpoint/2010/main" val="2020494508"/>
              </p:ext>
            </p:extLst>
          </p:nvPr>
        </p:nvGraphicFramePr>
        <p:xfrm>
          <a:off x="379352" y="2104889"/>
          <a:ext cx="4017549" cy="3202541"/>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DB8DC8A0-5255-A0DC-059F-568DF4D14769}"/>
              </a:ext>
            </a:extLst>
          </p:cNvPr>
          <p:cNvSpPr>
            <a:spLocks noGrp="1"/>
          </p:cNvSpPr>
          <p:nvPr>
            <p:ph type="sldNum" sz="quarter" idx="12"/>
          </p:nvPr>
        </p:nvSpPr>
        <p:spPr/>
        <p:txBody>
          <a:bodyPr/>
          <a:lstStyle/>
          <a:p>
            <a:fld id="{558ED922-7EDD-473A-8362-50B58FFACA46}" type="slidenum">
              <a:rPr lang="en-US" smtClean="0"/>
              <a:pPr/>
              <a:t>12</a:t>
            </a:fld>
            <a:endParaRPr lang="en-US"/>
          </a:p>
        </p:txBody>
      </p:sp>
      <p:sp>
        <p:nvSpPr>
          <p:cNvPr id="3" name="Title 2">
            <a:extLst>
              <a:ext uri="{FF2B5EF4-FFF2-40B4-BE49-F238E27FC236}">
                <a16:creationId xmlns:a16="http://schemas.microsoft.com/office/drawing/2014/main" id="{C55623D2-B1BB-BA14-B990-186A7D2B08F5}"/>
              </a:ext>
            </a:extLst>
          </p:cNvPr>
          <p:cNvSpPr>
            <a:spLocks noGrp="1"/>
          </p:cNvSpPr>
          <p:nvPr>
            <p:ph type="title"/>
          </p:nvPr>
        </p:nvSpPr>
        <p:spPr/>
        <p:txBody>
          <a:bodyPr rIns="0">
            <a:normAutofit fontScale="90000"/>
          </a:bodyPr>
          <a:lstStyle/>
          <a:p>
            <a:r>
              <a:rPr lang="vi-VN" dirty="0"/>
              <a:t>Fees’ source of growth is from Orders scaling. This also suggests </a:t>
            </a:r>
            <a:r>
              <a:rPr lang="en-US" dirty="0"/>
              <a:t>the current monetization model demonstrates high resilience and steady performance.</a:t>
            </a:r>
          </a:p>
        </p:txBody>
      </p:sp>
      <p:sp>
        <p:nvSpPr>
          <p:cNvPr id="4" name="Arrow: Pentagon 3">
            <a:extLst>
              <a:ext uri="{FF2B5EF4-FFF2-40B4-BE49-F238E27FC236}">
                <a16:creationId xmlns:a16="http://schemas.microsoft.com/office/drawing/2014/main" id="{8C6522FC-57A9-B98C-4AF8-08C86A1B1BC6}"/>
              </a:ext>
            </a:extLst>
          </p:cNvPr>
          <p:cNvSpPr/>
          <p:nvPr/>
        </p:nvSpPr>
        <p:spPr>
          <a:xfrm>
            <a:off x="-9728" y="-10160"/>
            <a:ext cx="1245141" cy="338328"/>
          </a:xfrm>
          <a:prstGeom prst="homePlate">
            <a:avLst/>
          </a:prstGeom>
          <a:solidFill>
            <a:srgbClr val="225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Fees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12" name="TextBox 11">
            <a:extLst>
              <a:ext uri="{FF2B5EF4-FFF2-40B4-BE49-F238E27FC236}">
                <a16:creationId xmlns:a16="http://schemas.microsoft.com/office/drawing/2014/main" id="{2B7DFC66-D170-0A60-169C-EB9EFB178350}"/>
              </a:ext>
            </a:extLst>
          </p:cNvPr>
          <p:cNvSpPr txBox="1"/>
          <p:nvPr/>
        </p:nvSpPr>
        <p:spPr>
          <a:xfrm>
            <a:off x="489857" y="1629488"/>
            <a:ext cx="3502318"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a:t>
            </a:r>
            <a:r>
              <a:rPr lang="vi-VN" sz="1600" b="1" dirty="0">
                <a:latin typeface="Calibri" panose="020F0502020204030204" pitchFamily="34" charset="0"/>
                <a:ea typeface="Calibri" panose="020F0502020204030204" pitchFamily="34" charset="0"/>
                <a:cs typeface="Calibri" panose="020F0502020204030204" pitchFamily="34" charset="0"/>
              </a:rPr>
              <a:t> fees</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mil USD</a:t>
            </a:r>
          </a:p>
        </p:txBody>
      </p:sp>
      <p:sp>
        <p:nvSpPr>
          <p:cNvPr id="13" name="TextBox 12">
            <a:extLst>
              <a:ext uri="{FF2B5EF4-FFF2-40B4-BE49-F238E27FC236}">
                <a16:creationId xmlns:a16="http://schemas.microsoft.com/office/drawing/2014/main" id="{A303B3AD-67B4-306A-54A0-73FC21DDE8E4}"/>
              </a:ext>
            </a:extLst>
          </p:cNvPr>
          <p:cNvSpPr txBox="1"/>
          <p:nvPr/>
        </p:nvSpPr>
        <p:spPr>
          <a:xfrm>
            <a:off x="1978482" y="2688749"/>
            <a:ext cx="829382" cy="369332"/>
          </a:xfrm>
          <a:prstGeom prst="rect">
            <a:avLst/>
          </a:prstGeom>
          <a:noFill/>
          <a:ln>
            <a:noFill/>
          </a:ln>
        </p:spPr>
        <p:txBody>
          <a:bodyPr wrap="square" lIns="0">
            <a:spAutoFit/>
          </a:bodyPr>
          <a:lstStyle/>
          <a:p>
            <a:pPr algn="ct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vi-VN" b="1" dirty="0">
                <a:solidFill>
                  <a:srgbClr val="00B050"/>
                </a:solidFill>
                <a:latin typeface="Calibri" panose="020F0502020204030204" pitchFamily="34" charset="0"/>
                <a:ea typeface="Calibri" panose="020F0502020204030204" pitchFamily="34" charset="0"/>
                <a:cs typeface="Calibri" panose="020F0502020204030204" pitchFamily="34" charset="0"/>
              </a:rPr>
              <a:t>26</a:t>
            </a:r>
            <a:r>
              <a:rPr lang="en-US"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1" name="Chart 20">
            <a:extLst>
              <a:ext uri="{FF2B5EF4-FFF2-40B4-BE49-F238E27FC236}">
                <a16:creationId xmlns:a16="http://schemas.microsoft.com/office/drawing/2014/main" id="{E2AA53B3-DFDF-2C6C-71CB-F55EC40E6A10}"/>
              </a:ext>
            </a:extLst>
          </p:cNvPr>
          <p:cNvGraphicFramePr/>
          <p:nvPr>
            <p:extLst>
              <p:ext uri="{D42A27DB-BD31-4B8C-83A1-F6EECF244321}">
                <p14:modId xmlns:p14="http://schemas.microsoft.com/office/powerpoint/2010/main" val="909396669"/>
              </p:ext>
            </p:extLst>
          </p:nvPr>
        </p:nvGraphicFramePr>
        <p:xfrm>
          <a:off x="6050281" y="2104888"/>
          <a:ext cx="4017549" cy="3202541"/>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C3436D32-5E28-060A-A8A5-B4DD0EFDAC50}"/>
              </a:ext>
            </a:extLst>
          </p:cNvPr>
          <p:cNvSpPr txBox="1"/>
          <p:nvPr/>
        </p:nvSpPr>
        <p:spPr>
          <a:xfrm>
            <a:off x="7738647" y="2688749"/>
            <a:ext cx="829382" cy="369332"/>
          </a:xfrm>
          <a:prstGeom prst="rect">
            <a:avLst/>
          </a:prstGeom>
          <a:noFill/>
          <a:ln>
            <a:noFill/>
          </a:ln>
        </p:spPr>
        <p:txBody>
          <a:bodyPr wrap="square" lIns="0">
            <a:spAutoFit/>
          </a:bodyPr>
          <a:lstStyle/>
          <a:p>
            <a:pPr algn="ctr"/>
            <a:r>
              <a:rPr lang="vi-VN"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D442FC69-9963-E786-64AA-FEB6E5343BF4}"/>
              </a:ext>
            </a:extLst>
          </p:cNvPr>
          <p:cNvSpPr txBox="1"/>
          <p:nvPr/>
        </p:nvSpPr>
        <p:spPr>
          <a:xfrm>
            <a:off x="6050281" y="1629488"/>
            <a:ext cx="2263001"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Fees per O</a:t>
            </a:r>
            <a:r>
              <a:rPr lang="en-US" sz="1600" b="1" dirty="0" err="1">
                <a:latin typeface="Calibri" panose="020F0502020204030204" pitchFamily="34" charset="0"/>
                <a:ea typeface="Calibri" panose="020F0502020204030204" pitchFamily="34" charset="0"/>
                <a:cs typeface="Calibri" panose="020F0502020204030204" pitchFamily="34" charset="0"/>
              </a:rPr>
              <a:t>rder</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USD</a:t>
            </a:r>
          </a:p>
        </p:txBody>
      </p:sp>
      <p:sp>
        <p:nvSpPr>
          <p:cNvPr id="10" name="TextBox 9">
            <a:extLst>
              <a:ext uri="{FF2B5EF4-FFF2-40B4-BE49-F238E27FC236}">
                <a16:creationId xmlns:a16="http://schemas.microsoft.com/office/drawing/2014/main" id="{765390B5-082F-84CF-E4E1-8BF534BD6005}"/>
              </a:ext>
            </a:extLst>
          </p:cNvPr>
          <p:cNvSpPr txBox="1"/>
          <p:nvPr/>
        </p:nvSpPr>
        <p:spPr>
          <a:xfrm>
            <a:off x="489857" y="5358704"/>
            <a:ext cx="11212286" cy="338554"/>
          </a:xfrm>
          <a:prstGeom prst="rect">
            <a:avLst/>
          </a:prstGeom>
          <a:noFill/>
        </p:spPr>
        <p:txBody>
          <a:bodyPr wrap="square" lIns="0" rIns="0">
            <a:spAutoFit/>
          </a:bodyPr>
          <a:lstStyle/>
          <a:p>
            <a:r>
              <a:rPr lang="vi-VN" sz="1600" dirty="0">
                <a:latin typeface="Calibri" panose="020F0502020204030204" pitchFamily="34" charset="0"/>
                <a:ea typeface="Calibri" panose="020F0502020204030204" pitchFamily="34" charset="0"/>
                <a:cs typeface="Calibri" panose="020F0502020204030204" pitchFamily="34" charset="0"/>
              </a:rPr>
              <a:t>Fees</a:t>
            </a:r>
            <a:r>
              <a:rPr lang="en-US" sz="1600" dirty="0">
                <a:latin typeface="Calibri" panose="020F0502020204030204" pitchFamily="34" charset="0"/>
                <a:ea typeface="Calibri" panose="020F0502020204030204" pitchFamily="34" charset="0"/>
                <a:cs typeface="Calibri" panose="020F0502020204030204" pitchFamily="34" charset="0"/>
              </a:rPr>
              <a:t> </a:t>
            </a:r>
            <a:r>
              <a:rPr lang="vi-VN" sz="1600" dirty="0">
                <a:latin typeface="Calibri" panose="020F0502020204030204" pitchFamily="34" charset="0"/>
                <a:ea typeface="Calibri" panose="020F0502020204030204" pitchFamily="34" charset="0"/>
                <a:cs typeface="Calibri" panose="020F0502020204030204" pitchFamily="34" charset="0"/>
              </a:rPr>
              <a:t>increases </a:t>
            </a:r>
            <a:r>
              <a:rPr lang="en-US" sz="1600" dirty="0">
                <a:latin typeface="Calibri" panose="020F0502020204030204" pitchFamily="34" charset="0"/>
                <a:ea typeface="Calibri" panose="020F0502020204030204" pitchFamily="34" charset="0"/>
                <a:cs typeface="Calibri" panose="020F0502020204030204" pitchFamily="34" charset="0"/>
              </a:rPr>
              <a:t>in </a:t>
            </a:r>
            <a:r>
              <a:rPr lang="vi-VN" sz="1600" dirty="0">
                <a:latin typeface="Calibri" panose="020F0502020204030204" pitchFamily="34" charset="0"/>
                <a:ea typeface="Calibri" panose="020F0502020204030204" pitchFamily="34" charset="0"/>
                <a:cs typeface="Calibri" panose="020F0502020204030204" pitchFamily="34" charset="0"/>
              </a:rPr>
              <a:t>line </a:t>
            </a:r>
            <a:r>
              <a:rPr lang="en-US" sz="1600" dirty="0">
                <a:latin typeface="Calibri" panose="020F0502020204030204" pitchFamily="34" charset="0"/>
                <a:ea typeface="Calibri" panose="020F0502020204030204" pitchFamily="34" charset="0"/>
                <a:cs typeface="Calibri" panose="020F0502020204030204" pitchFamily="34" charset="0"/>
              </a:rPr>
              <a:t>with </a:t>
            </a:r>
            <a:r>
              <a:rPr lang="vi-VN" sz="1600" dirty="0">
                <a:latin typeface="Calibri" panose="020F0502020204030204" pitchFamily="34" charset="0"/>
                <a:ea typeface="Calibri" panose="020F0502020204030204" pitchFamily="34" charset="0"/>
                <a:cs typeface="Calibri" panose="020F0502020204030204" pitchFamily="34" charset="0"/>
              </a:rPr>
              <a:t>Orders, leads to the stability in the Fees per Order ratio from 2023 to 2024</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0431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AE18E2-1E25-F084-CAE2-DABF59334B27}"/>
              </a:ext>
            </a:extLst>
          </p:cNvPr>
          <p:cNvSpPr>
            <a:spLocks noGrp="1"/>
          </p:cNvSpPr>
          <p:nvPr>
            <p:ph type="sldNum" sz="quarter" idx="12"/>
          </p:nvPr>
        </p:nvSpPr>
        <p:spPr/>
        <p:txBody>
          <a:bodyPr/>
          <a:lstStyle/>
          <a:p>
            <a:fld id="{558ED922-7EDD-473A-8362-50B58FFACA46}" type="slidenum">
              <a:rPr lang="en-US" smtClean="0"/>
              <a:pPr/>
              <a:t>13</a:t>
            </a:fld>
            <a:endParaRPr lang="en-US"/>
          </a:p>
        </p:txBody>
      </p:sp>
      <p:sp>
        <p:nvSpPr>
          <p:cNvPr id="3" name="Title 2">
            <a:extLst>
              <a:ext uri="{FF2B5EF4-FFF2-40B4-BE49-F238E27FC236}">
                <a16:creationId xmlns:a16="http://schemas.microsoft.com/office/drawing/2014/main" id="{39E448A7-F120-A20F-1E30-21C4A5BAC326}"/>
              </a:ext>
            </a:extLst>
          </p:cNvPr>
          <p:cNvSpPr>
            <a:spLocks noGrp="1"/>
          </p:cNvSpPr>
          <p:nvPr>
            <p:ph type="title"/>
          </p:nvPr>
        </p:nvSpPr>
        <p:spPr/>
        <p:txBody>
          <a:bodyPr>
            <a:normAutofit fontScale="90000"/>
          </a:bodyPr>
          <a:lstStyle/>
          <a:p>
            <a:r>
              <a:rPr lang="vi-VN" dirty="0"/>
              <a:t>Fees</a:t>
            </a:r>
            <a:r>
              <a:rPr lang="en-US" dirty="0"/>
              <a:t> increases are driven by rising order volumes across the </a:t>
            </a:r>
            <a:r>
              <a:rPr lang="vi-VN" dirty="0"/>
              <a:t>portfolio. Also,</a:t>
            </a:r>
            <a:r>
              <a:rPr lang="en-US" dirty="0"/>
              <a:t> our monetization </a:t>
            </a:r>
            <a:r>
              <a:rPr lang="vi-VN" dirty="0"/>
              <a:t>model’s effectiveness is consistent for all brands</a:t>
            </a:r>
            <a:endParaRPr lang="en-US" dirty="0"/>
          </a:p>
        </p:txBody>
      </p:sp>
      <p:sp>
        <p:nvSpPr>
          <p:cNvPr id="4" name="Arrow: Pentagon 3">
            <a:extLst>
              <a:ext uri="{FF2B5EF4-FFF2-40B4-BE49-F238E27FC236}">
                <a16:creationId xmlns:a16="http://schemas.microsoft.com/office/drawing/2014/main" id="{34845E43-CB92-FC2A-2148-8E69C4305916}"/>
              </a:ext>
            </a:extLst>
          </p:cNvPr>
          <p:cNvSpPr/>
          <p:nvPr/>
        </p:nvSpPr>
        <p:spPr>
          <a:xfrm>
            <a:off x="-9728" y="-10160"/>
            <a:ext cx="1245141" cy="338328"/>
          </a:xfrm>
          <a:prstGeom prst="homePlate">
            <a:avLst/>
          </a:prstGeom>
          <a:solidFill>
            <a:srgbClr val="225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Fees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12" name="TextBox 11">
            <a:extLst>
              <a:ext uri="{FF2B5EF4-FFF2-40B4-BE49-F238E27FC236}">
                <a16:creationId xmlns:a16="http://schemas.microsoft.com/office/drawing/2014/main" id="{4DF12C62-237D-00AA-0585-774CEB953C47}"/>
              </a:ext>
            </a:extLst>
          </p:cNvPr>
          <p:cNvSpPr txBox="1"/>
          <p:nvPr/>
        </p:nvSpPr>
        <p:spPr>
          <a:xfrm>
            <a:off x="6509736" y="1626265"/>
            <a:ext cx="3325144"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Fees </a:t>
            </a:r>
            <a:r>
              <a:rPr lang="en-US" sz="1600" b="1" dirty="0">
                <a:latin typeface="Calibri" panose="020F0502020204030204" pitchFamily="34" charset="0"/>
                <a:ea typeface="Calibri" panose="020F0502020204030204" pitchFamily="34" charset="0"/>
                <a:cs typeface="Calibri" panose="020F0502020204030204" pitchFamily="34" charset="0"/>
              </a:rPr>
              <a:t>per </a:t>
            </a:r>
            <a:r>
              <a:rPr lang="vi-VN" sz="1600" b="1" dirty="0">
                <a:latin typeface="Calibri" panose="020F0502020204030204" pitchFamily="34" charset="0"/>
                <a:ea typeface="Calibri" panose="020F0502020204030204" pitchFamily="34" charset="0"/>
                <a:cs typeface="Calibri" panose="020F0502020204030204" pitchFamily="34" charset="0"/>
              </a:rPr>
              <a:t>Order </a:t>
            </a:r>
            <a:r>
              <a:rPr lang="en-US" sz="1600" b="1" dirty="0">
                <a:latin typeface="Calibri" panose="020F0502020204030204" pitchFamily="34" charset="0"/>
                <a:ea typeface="Calibri" panose="020F0502020204030204" pitchFamily="34" charset="0"/>
                <a:cs typeface="Calibri" panose="020F0502020204030204" pitchFamily="34" charset="0"/>
              </a:rPr>
              <a:t>by </a:t>
            </a:r>
            <a:r>
              <a:rPr lang="vi-VN" sz="1600" b="1" dirty="0">
                <a:latin typeface="Calibri" panose="020F0502020204030204" pitchFamily="34" charset="0"/>
                <a:ea typeface="Calibri" panose="020F0502020204030204" pitchFamily="34" charset="0"/>
                <a:cs typeface="Calibri" panose="020F0502020204030204" pitchFamily="34" charset="0"/>
              </a:rPr>
              <a:t>brand, </a:t>
            </a:r>
            <a:r>
              <a:rPr lang="vi-VN" sz="1600" dirty="0">
                <a:latin typeface="Calibri" panose="020F0502020204030204" pitchFamily="34" charset="0"/>
                <a:ea typeface="Calibri" panose="020F0502020204030204" pitchFamily="34" charset="0"/>
                <a:cs typeface="Calibri" panose="020F0502020204030204" pitchFamily="34" charset="0"/>
              </a:rPr>
              <a:t>USD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AF182C70-BB23-87CC-BB5F-F934629915D2}"/>
              </a:ext>
            </a:extLst>
          </p:cNvPr>
          <p:cNvSpPr txBox="1"/>
          <p:nvPr/>
        </p:nvSpPr>
        <p:spPr>
          <a:xfrm>
            <a:off x="489857" y="1626265"/>
            <a:ext cx="2606439"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Fees </a:t>
            </a:r>
            <a:r>
              <a:rPr lang="en-US" sz="1600" b="1" dirty="0">
                <a:latin typeface="Calibri" panose="020F0502020204030204" pitchFamily="34" charset="0"/>
                <a:ea typeface="Calibri" panose="020F0502020204030204" pitchFamily="34" charset="0"/>
                <a:cs typeface="Calibri" panose="020F0502020204030204" pitchFamily="34" charset="0"/>
              </a:rPr>
              <a:t>by </a:t>
            </a:r>
            <a:r>
              <a:rPr lang="vi-VN" sz="1600" b="1" dirty="0">
                <a:latin typeface="Calibri" panose="020F0502020204030204" pitchFamily="34" charset="0"/>
                <a:ea typeface="Calibri" panose="020F0502020204030204" pitchFamily="34" charset="0"/>
                <a:cs typeface="Calibri" panose="020F0502020204030204" pitchFamily="34" charset="0"/>
              </a:rPr>
              <a:t>brand, </a:t>
            </a:r>
            <a:r>
              <a:rPr lang="vi-VN" sz="1600" dirty="0">
                <a:latin typeface="Calibri" panose="020F0502020204030204" pitchFamily="34" charset="0"/>
                <a:ea typeface="Calibri" panose="020F0502020204030204" pitchFamily="34" charset="0"/>
                <a:cs typeface="Calibri" panose="020F0502020204030204" pitchFamily="34" charset="0"/>
              </a:rPr>
              <a:t>mil USD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4" name="Chart 13">
            <a:extLst>
              <a:ext uri="{FF2B5EF4-FFF2-40B4-BE49-F238E27FC236}">
                <a16:creationId xmlns:a16="http://schemas.microsoft.com/office/drawing/2014/main" id="{A467224E-7108-32A9-E302-3D26F274B7EA}"/>
              </a:ext>
            </a:extLst>
          </p:cNvPr>
          <p:cNvGraphicFramePr/>
          <p:nvPr>
            <p:extLst>
              <p:ext uri="{D42A27DB-BD31-4B8C-83A1-F6EECF244321}">
                <p14:modId xmlns:p14="http://schemas.microsoft.com/office/powerpoint/2010/main" val="3566270759"/>
              </p:ext>
            </p:extLst>
          </p:nvPr>
        </p:nvGraphicFramePr>
        <p:xfrm>
          <a:off x="430835" y="2188277"/>
          <a:ext cx="5402942" cy="32105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92DFF4AA-39DE-9065-7BE1-C62439D91BE2}"/>
              </a:ext>
            </a:extLst>
          </p:cNvPr>
          <p:cNvGraphicFramePr/>
          <p:nvPr>
            <p:extLst>
              <p:ext uri="{D42A27DB-BD31-4B8C-83A1-F6EECF244321}">
                <p14:modId xmlns:p14="http://schemas.microsoft.com/office/powerpoint/2010/main" val="3874851732"/>
              </p:ext>
            </p:extLst>
          </p:nvPr>
        </p:nvGraphicFramePr>
        <p:xfrm>
          <a:off x="6484061" y="2188277"/>
          <a:ext cx="5402943" cy="3210559"/>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867434F2-314D-A15C-D889-D4139527F86A}"/>
              </a:ext>
            </a:extLst>
          </p:cNvPr>
          <p:cNvSpPr txBox="1"/>
          <p:nvPr/>
        </p:nvSpPr>
        <p:spPr>
          <a:xfrm>
            <a:off x="489857" y="5407344"/>
            <a:ext cx="11212286" cy="338554"/>
          </a:xfrm>
          <a:prstGeom prst="rect">
            <a:avLst/>
          </a:prstGeom>
          <a:noFill/>
        </p:spPr>
        <p:txBody>
          <a:bodyPr wrap="square" lIns="0">
            <a:spAutoFit/>
          </a:bodyPr>
          <a:lstStyle/>
          <a:p>
            <a:r>
              <a:rPr lang="vi-VN" sz="1600" dirty="0">
                <a:latin typeface="Calibri" panose="020F0502020204030204" pitchFamily="34" charset="0"/>
                <a:ea typeface="Calibri" panose="020F0502020204030204" pitchFamily="34" charset="0"/>
                <a:cs typeface="Calibri" panose="020F0502020204030204" pitchFamily="34" charset="0"/>
              </a:rPr>
              <a:t>The Fees per order ratio is kept stable across brands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133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96342D-A0E9-1313-558B-711769621477}"/>
              </a:ext>
            </a:extLst>
          </p:cNvPr>
          <p:cNvSpPr>
            <a:spLocks noGrp="1"/>
          </p:cNvSpPr>
          <p:nvPr>
            <p:ph type="sldNum" sz="quarter" idx="12"/>
          </p:nvPr>
        </p:nvSpPr>
        <p:spPr/>
        <p:txBody>
          <a:bodyPr/>
          <a:lstStyle/>
          <a:p>
            <a:fld id="{558ED922-7EDD-473A-8362-50B58FFACA46}" type="slidenum">
              <a:rPr lang="en-US" smtClean="0"/>
              <a:pPr/>
              <a:t>14</a:t>
            </a:fld>
            <a:endParaRPr lang="en-US"/>
          </a:p>
        </p:txBody>
      </p:sp>
      <p:sp>
        <p:nvSpPr>
          <p:cNvPr id="3" name="Title 2">
            <a:extLst>
              <a:ext uri="{FF2B5EF4-FFF2-40B4-BE49-F238E27FC236}">
                <a16:creationId xmlns:a16="http://schemas.microsoft.com/office/drawing/2014/main" id="{8340103A-B376-51DD-7ADE-140654C8BC64}"/>
              </a:ext>
            </a:extLst>
          </p:cNvPr>
          <p:cNvSpPr>
            <a:spLocks noGrp="1"/>
          </p:cNvSpPr>
          <p:nvPr>
            <p:ph type="title"/>
          </p:nvPr>
        </p:nvSpPr>
        <p:spPr>
          <a:xfrm>
            <a:off x="489856" y="411935"/>
            <a:ext cx="11290339" cy="625475"/>
          </a:xfrm>
        </p:spPr>
        <p:txBody>
          <a:bodyPr rIns="0">
            <a:normAutofit fontScale="90000"/>
          </a:bodyPr>
          <a:lstStyle/>
          <a:p>
            <a:r>
              <a:rPr lang="en-US" dirty="0"/>
              <a:t>The market has historically been driven by low-cost brands in terms of GMV. In 2024, the accelerated growth within this segment further amplified this trend, effectively diluting the overall </a:t>
            </a:r>
            <a:r>
              <a:rPr lang="vi-VN" dirty="0"/>
              <a:t>AOV and </a:t>
            </a:r>
            <a:r>
              <a:rPr lang="en-US" dirty="0"/>
              <a:t>reflecting a stronger shift toward mass-market consumption</a:t>
            </a:r>
          </a:p>
        </p:txBody>
      </p:sp>
      <p:sp>
        <p:nvSpPr>
          <p:cNvPr id="4" name="Arrow: Pentagon 3">
            <a:extLst>
              <a:ext uri="{FF2B5EF4-FFF2-40B4-BE49-F238E27FC236}">
                <a16:creationId xmlns:a16="http://schemas.microsoft.com/office/drawing/2014/main" id="{8AF02A62-9CD5-6249-1F94-20484C6D7A62}"/>
              </a:ext>
            </a:extLst>
          </p:cNvPr>
          <p:cNvSpPr/>
          <p:nvPr/>
        </p:nvSpPr>
        <p:spPr>
          <a:xfrm>
            <a:off x="-9728" y="-10160"/>
            <a:ext cx="1335803" cy="338328"/>
          </a:xfrm>
          <a:prstGeom prst="homePlate">
            <a:avLst/>
          </a:prstGeom>
          <a:solidFill>
            <a:srgbClr val="00A9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1600" b="1" dirty="0">
                <a:solidFill>
                  <a:schemeClr val="bg1"/>
                </a:solidFill>
                <a:latin typeface="Calibri" panose="020F0502020204030204" pitchFamily="34" charset="0"/>
                <a:ea typeface="Calibri" panose="020F0502020204030204" pitchFamily="34" charset="0"/>
                <a:cs typeface="Calibri" panose="020F0502020204030204" pitchFamily="34" charset="0"/>
              </a:rPr>
              <a:t>AOV drive</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p:txBody>
      </p:sp>
      <p:sp>
        <p:nvSpPr>
          <p:cNvPr id="20" name="TextBox 19">
            <a:extLst>
              <a:ext uri="{FF2B5EF4-FFF2-40B4-BE49-F238E27FC236}">
                <a16:creationId xmlns:a16="http://schemas.microsoft.com/office/drawing/2014/main" id="{1B58DB54-70CC-7635-2E53-2100E4A69D89}"/>
              </a:ext>
            </a:extLst>
          </p:cNvPr>
          <p:cNvSpPr txBox="1"/>
          <p:nvPr/>
        </p:nvSpPr>
        <p:spPr>
          <a:xfrm>
            <a:off x="7106152" y="1633885"/>
            <a:ext cx="2606439"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GMV by brand</a:t>
            </a:r>
            <a:r>
              <a:rPr lang="en-US" sz="1600" b="1" dirty="0">
                <a:latin typeface="Calibri" panose="020F0502020204030204" pitchFamily="34" charset="0"/>
                <a:ea typeface="Calibri" panose="020F0502020204030204" pitchFamily="34" charset="0"/>
                <a:cs typeface="Calibri" panose="020F0502020204030204" pitchFamily="34" charset="0"/>
              </a:rPr>
              <a:t>, </a:t>
            </a:r>
            <a:r>
              <a:rPr lang="vi-VN" sz="1600" dirty="0">
                <a:latin typeface="Calibri" panose="020F0502020204030204" pitchFamily="34" charset="0"/>
                <a:ea typeface="Calibri" panose="020F0502020204030204" pitchFamily="34" charset="0"/>
                <a:cs typeface="Calibri" panose="020F0502020204030204" pitchFamily="34" charset="0"/>
              </a:rPr>
              <a:t>mil USD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CCCBCB10-E69B-0132-E9DD-1E356D844156}"/>
              </a:ext>
            </a:extLst>
          </p:cNvPr>
          <p:cNvSpPr txBox="1"/>
          <p:nvPr/>
        </p:nvSpPr>
        <p:spPr>
          <a:xfrm>
            <a:off x="489857" y="5298296"/>
            <a:ext cx="5803939" cy="738664"/>
          </a:xfrm>
          <a:prstGeom prst="rect">
            <a:avLst/>
          </a:prstGeom>
          <a:noFill/>
        </p:spPr>
        <p:txBody>
          <a:bodyPr wrap="square" lIns="0" rIns="0">
            <a:spAutoFit/>
          </a:bodyPr>
          <a:lstStyle/>
          <a:p>
            <a:r>
              <a:rPr lang="vi-VN" sz="1400" dirty="0">
                <a:latin typeface="Calibri" panose="020F0502020204030204" pitchFamily="34" charset="0"/>
                <a:ea typeface="Calibri" panose="020F0502020204030204" pitchFamily="34" charset="0"/>
                <a:cs typeface="Calibri" panose="020F0502020204030204" pitchFamily="34" charset="0"/>
              </a:rPr>
              <a:t>Although E, D, F, X are the top performers in GMV (and Orders), they also the lowest AOV. This indicates that the </a:t>
            </a:r>
            <a:r>
              <a:rPr lang="en-US" sz="1400" dirty="0">
                <a:latin typeface="Calibri" panose="020F0502020204030204" pitchFamily="34" charset="0"/>
                <a:ea typeface="Calibri" panose="020F0502020204030204" pitchFamily="34" charset="0"/>
                <a:cs typeface="Calibri" panose="020F0502020204030204" pitchFamily="34" charset="0"/>
              </a:rPr>
              <a:t>total GMV is being 'inflated' by low-</a:t>
            </a:r>
            <a:r>
              <a:rPr lang="vi-VN" sz="1400" dirty="0">
                <a:latin typeface="Calibri" panose="020F0502020204030204" pitchFamily="34" charset="0"/>
                <a:ea typeface="Calibri" panose="020F0502020204030204" pitchFamily="34" charset="0"/>
                <a:cs typeface="Calibri" panose="020F0502020204030204" pitchFamily="34" charset="0"/>
              </a:rPr>
              <a:t>value brands</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9DF028D-7451-06FC-1B0E-6AD82908FA82}"/>
              </a:ext>
            </a:extLst>
          </p:cNvPr>
          <p:cNvSpPr txBox="1"/>
          <p:nvPr/>
        </p:nvSpPr>
        <p:spPr>
          <a:xfrm>
            <a:off x="503979" y="1649391"/>
            <a:ext cx="2737051"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Total </a:t>
            </a:r>
            <a:r>
              <a:rPr lang="vi-VN" sz="1600" b="1" dirty="0">
                <a:latin typeface="Calibri" panose="020F0502020204030204" pitchFamily="34" charset="0"/>
                <a:ea typeface="Calibri" panose="020F0502020204030204" pitchFamily="34" charset="0"/>
                <a:cs typeface="Calibri" panose="020F0502020204030204" pitchFamily="34" charset="0"/>
              </a:rPr>
              <a:t>AOV</a:t>
            </a:r>
            <a:r>
              <a:rPr lang="en-US" sz="1600" b="1" dirty="0">
                <a:latin typeface="Calibri" panose="020F0502020204030204" pitchFamily="34" charset="0"/>
                <a:ea typeface="Calibri" panose="020F0502020204030204" pitchFamily="34" charset="0"/>
                <a:cs typeface="Calibri" panose="020F0502020204030204" pitchFamily="34" charset="0"/>
              </a:rPr>
              <a:t> and by brand</a:t>
            </a:r>
            <a:r>
              <a:rPr lang="vi-VN" sz="1600" b="1" dirty="0">
                <a:latin typeface="Calibri" panose="020F0502020204030204" pitchFamily="34" charset="0"/>
                <a:ea typeface="Calibri" panose="020F0502020204030204" pitchFamily="34" charset="0"/>
                <a:cs typeface="Calibri" panose="020F0502020204030204" pitchFamily="34" charset="0"/>
              </a:rPr>
              <a:t>, </a:t>
            </a:r>
            <a:r>
              <a:rPr lang="vi-VN" sz="1600" dirty="0">
                <a:latin typeface="Calibri" panose="020F0502020204030204" pitchFamily="34" charset="0"/>
                <a:ea typeface="Calibri" panose="020F0502020204030204" pitchFamily="34" charset="0"/>
                <a:cs typeface="Calibri" panose="020F0502020204030204" pitchFamily="34" charset="0"/>
              </a:rPr>
              <a:t>USD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A5D374E1-6F99-2686-5945-3F4582A7963E}"/>
              </a:ext>
            </a:extLst>
          </p:cNvPr>
          <p:cNvGrpSpPr/>
          <p:nvPr/>
        </p:nvGrpSpPr>
        <p:grpSpPr>
          <a:xfrm>
            <a:off x="7076965" y="1964539"/>
            <a:ext cx="4781244" cy="3210559"/>
            <a:chOff x="430836" y="2003451"/>
            <a:chExt cx="4781244" cy="3210559"/>
          </a:xfrm>
        </p:grpSpPr>
        <p:graphicFrame>
          <p:nvGraphicFramePr>
            <p:cNvPr id="19" name="Chart 18">
              <a:extLst>
                <a:ext uri="{FF2B5EF4-FFF2-40B4-BE49-F238E27FC236}">
                  <a16:creationId xmlns:a16="http://schemas.microsoft.com/office/drawing/2014/main" id="{0B344B38-51A8-BC6B-C0F6-AFC9963AD912}"/>
                </a:ext>
              </a:extLst>
            </p:cNvPr>
            <p:cNvGraphicFramePr/>
            <p:nvPr>
              <p:extLst>
                <p:ext uri="{D42A27DB-BD31-4B8C-83A1-F6EECF244321}">
                  <p14:modId xmlns:p14="http://schemas.microsoft.com/office/powerpoint/2010/main" val="32389289"/>
                </p:ext>
              </p:extLst>
            </p:nvPr>
          </p:nvGraphicFramePr>
          <p:xfrm>
            <a:off x="430836" y="2003451"/>
            <a:ext cx="4781244" cy="3210559"/>
          </p:xfrm>
          <a:graphic>
            <a:graphicData uri="http://schemas.openxmlformats.org/drawingml/2006/chart">
              <c:chart xmlns:c="http://schemas.openxmlformats.org/drawingml/2006/chart" xmlns:r="http://schemas.openxmlformats.org/officeDocument/2006/relationships" r:id="rId2"/>
            </a:graphicData>
          </a:graphic>
        </p:graphicFrame>
        <p:sp>
          <p:nvSpPr>
            <p:cNvPr id="48" name="TextBox 47">
              <a:extLst>
                <a:ext uri="{FF2B5EF4-FFF2-40B4-BE49-F238E27FC236}">
                  <a16:creationId xmlns:a16="http://schemas.microsoft.com/office/drawing/2014/main" id="{850D1781-ECD6-C038-38C3-6BF815C63BD1}"/>
                </a:ext>
              </a:extLst>
            </p:cNvPr>
            <p:cNvSpPr txBox="1"/>
            <p:nvPr/>
          </p:nvSpPr>
          <p:spPr>
            <a:xfrm>
              <a:off x="1108020" y="2847933"/>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84</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81399FA9-82D5-571A-D269-EDB9E753F69C}"/>
                </a:ext>
              </a:extLst>
            </p:cNvPr>
            <p:cNvSpPr txBox="1"/>
            <p:nvPr/>
          </p:nvSpPr>
          <p:spPr>
            <a:xfrm>
              <a:off x="683872" y="2616867"/>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18</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03A4909B-C91E-497D-8987-2DA3CC36A799}"/>
                </a:ext>
              </a:extLst>
            </p:cNvPr>
            <p:cNvSpPr txBox="1"/>
            <p:nvPr/>
          </p:nvSpPr>
          <p:spPr>
            <a:xfrm>
              <a:off x="2070512" y="2938480"/>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35</a:t>
              </a: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EE0DBB3-240C-1809-B5C5-3F1674027A11}"/>
                </a:ext>
              </a:extLst>
            </p:cNvPr>
            <p:cNvSpPr txBox="1"/>
            <p:nvPr/>
          </p:nvSpPr>
          <p:spPr>
            <a:xfrm>
              <a:off x="3096296" y="3954740"/>
              <a:ext cx="829382" cy="276999"/>
            </a:xfrm>
            <a:prstGeom prst="rect">
              <a:avLst/>
            </a:prstGeom>
            <a:noFill/>
            <a:ln>
              <a:noFill/>
            </a:ln>
          </p:spPr>
          <p:txBody>
            <a:bodyPr wrap="square" lIns="0">
              <a:spAutoFit/>
            </a:bodyPr>
            <a:lstStyle/>
            <a:p>
              <a:pPr algn="ctr"/>
              <a:r>
                <a:rPr lang="en-US" sz="1200" b="1" dirty="0">
                  <a:solidFill>
                    <a:srgbClr val="00B050"/>
                  </a:solidFill>
                  <a:latin typeface="Calibri" panose="020F0502020204030204" pitchFamily="34" charset="0"/>
                  <a:ea typeface="Calibri" panose="020F0502020204030204" pitchFamily="34" charset="0"/>
                  <a:cs typeface="Calibri" panose="020F0502020204030204" pitchFamily="34" charset="0"/>
                </a:rPr>
                <a:t>+112%</a:t>
              </a:r>
              <a:endParaRPr lang="en-US" sz="1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26" name="TextBox 25">
            <a:extLst>
              <a:ext uri="{FF2B5EF4-FFF2-40B4-BE49-F238E27FC236}">
                <a16:creationId xmlns:a16="http://schemas.microsoft.com/office/drawing/2014/main" id="{FFA9BF8A-8E97-1E3C-FAB2-3242ECAECB24}"/>
              </a:ext>
            </a:extLst>
          </p:cNvPr>
          <p:cNvSpPr txBox="1"/>
          <p:nvPr/>
        </p:nvSpPr>
        <p:spPr>
          <a:xfrm>
            <a:off x="7106152" y="5298296"/>
            <a:ext cx="4595992" cy="738664"/>
          </a:xfrm>
          <a:prstGeom prst="rect">
            <a:avLst/>
          </a:prstGeom>
          <a:noFill/>
        </p:spPr>
        <p:txBody>
          <a:bodyPr wrap="square" lIns="0" rIns="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Growth is primarily driven by low-AOV brands such as E, X, and D. This downward shift in the brand mix has hindered the overall AOV expansion throughout 2024.</a:t>
            </a:r>
          </a:p>
        </p:txBody>
      </p:sp>
      <p:grpSp>
        <p:nvGrpSpPr>
          <p:cNvPr id="30" name="Group 29">
            <a:extLst>
              <a:ext uri="{FF2B5EF4-FFF2-40B4-BE49-F238E27FC236}">
                <a16:creationId xmlns:a16="http://schemas.microsoft.com/office/drawing/2014/main" id="{6DFD0F2B-7932-108E-C792-7D9EF6E38477}"/>
              </a:ext>
            </a:extLst>
          </p:cNvPr>
          <p:cNvGrpSpPr/>
          <p:nvPr/>
        </p:nvGrpSpPr>
        <p:grpSpPr>
          <a:xfrm>
            <a:off x="402366" y="2058525"/>
            <a:ext cx="5979298" cy="3155485"/>
            <a:chOff x="402366" y="2058525"/>
            <a:chExt cx="5979298" cy="3155485"/>
          </a:xfrm>
        </p:grpSpPr>
        <p:graphicFrame>
          <p:nvGraphicFramePr>
            <p:cNvPr id="13" name="Chart 12">
              <a:extLst>
                <a:ext uri="{FF2B5EF4-FFF2-40B4-BE49-F238E27FC236}">
                  <a16:creationId xmlns:a16="http://schemas.microsoft.com/office/drawing/2014/main" id="{2C4A15CC-4AF3-9E23-12EE-7B024B5E5638}"/>
                </a:ext>
              </a:extLst>
            </p:cNvPr>
            <p:cNvGraphicFramePr/>
            <p:nvPr>
              <p:extLst>
                <p:ext uri="{D42A27DB-BD31-4B8C-83A1-F6EECF244321}">
                  <p14:modId xmlns:p14="http://schemas.microsoft.com/office/powerpoint/2010/main" val="1409965641"/>
                </p:ext>
              </p:extLst>
            </p:nvPr>
          </p:nvGraphicFramePr>
          <p:xfrm>
            <a:off x="2037845" y="2066823"/>
            <a:ext cx="4343819" cy="314718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0A24CBB4-A6D4-E0D6-168E-97DDB1E20337}"/>
                </a:ext>
              </a:extLst>
            </p:cNvPr>
            <p:cNvGraphicFramePr/>
            <p:nvPr>
              <p:extLst>
                <p:ext uri="{D42A27DB-BD31-4B8C-83A1-F6EECF244321}">
                  <p14:modId xmlns:p14="http://schemas.microsoft.com/office/powerpoint/2010/main" val="547155606"/>
                </p:ext>
              </p:extLst>
            </p:nvPr>
          </p:nvGraphicFramePr>
          <p:xfrm>
            <a:off x="402366" y="2247088"/>
            <a:ext cx="1984438" cy="295717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9" name="Chart 28">
              <a:extLst>
                <a:ext uri="{FF2B5EF4-FFF2-40B4-BE49-F238E27FC236}">
                  <a16:creationId xmlns:a16="http://schemas.microsoft.com/office/drawing/2014/main" id="{4622A1BA-E42C-3E28-4056-2BDE9E17344F}"/>
                </a:ext>
              </a:extLst>
            </p:cNvPr>
            <p:cNvGraphicFramePr/>
            <p:nvPr>
              <p:extLst>
                <p:ext uri="{D42A27DB-BD31-4B8C-83A1-F6EECF244321}">
                  <p14:modId xmlns:p14="http://schemas.microsoft.com/office/powerpoint/2010/main" val="3512758659"/>
                </p:ext>
              </p:extLst>
            </p:nvPr>
          </p:nvGraphicFramePr>
          <p:xfrm>
            <a:off x="431869" y="2058525"/>
            <a:ext cx="1821350" cy="377126"/>
          </p:xfrm>
          <a:graphic>
            <a:graphicData uri="http://schemas.openxmlformats.org/drawingml/2006/chart">
              <c:chart xmlns:c="http://schemas.openxmlformats.org/drawingml/2006/chart" xmlns:r="http://schemas.openxmlformats.org/officeDocument/2006/relationships" r:id="rId5"/>
            </a:graphicData>
          </a:graphic>
        </p:graphicFrame>
      </p:grpSp>
    </p:spTree>
    <p:extLst>
      <p:ext uri="{BB962C8B-B14F-4D97-AF65-F5344CB8AC3E}">
        <p14:creationId xmlns:p14="http://schemas.microsoft.com/office/powerpoint/2010/main" val="133106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A913C0-B8A8-A69D-B757-F96FA4EC9967}"/>
              </a:ext>
            </a:extLst>
          </p:cNvPr>
          <p:cNvSpPr>
            <a:spLocks noGrp="1"/>
          </p:cNvSpPr>
          <p:nvPr>
            <p:ph type="sldNum" sz="quarter" idx="12"/>
          </p:nvPr>
        </p:nvSpPr>
        <p:spPr/>
        <p:txBody>
          <a:bodyPr/>
          <a:lstStyle/>
          <a:p>
            <a:fld id="{558ED922-7EDD-473A-8362-50B58FFACA46}" type="slidenum">
              <a:rPr lang="en-US" smtClean="0"/>
              <a:pPr/>
              <a:t>15</a:t>
            </a:fld>
            <a:endParaRPr lang="en-US"/>
          </a:p>
        </p:txBody>
      </p:sp>
      <p:sp>
        <p:nvSpPr>
          <p:cNvPr id="3" name="Title 2">
            <a:extLst>
              <a:ext uri="{FF2B5EF4-FFF2-40B4-BE49-F238E27FC236}">
                <a16:creationId xmlns:a16="http://schemas.microsoft.com/office/drawing/2014/main" id="{8F65AF1F-AFCC-2F35-780C-6760C3118E21}"/>
              </a:ext>
            </a:extLst>
          </p:cNvPr>
          <p:cNvSpPr>
            <a:spLocks noGrp="1"/>
          </p:cNvSpPr>
          <p:nvPr>
            <p:ph type="title"/>
          </p:nvPr>
        </p:nvSpPr>
        <p:spPr/>
        <p:txBody>
          <a:bodyPr/>
          <a:lstStyle/>
          <a:p>
            <a:r>
              <a:rPr lang="vi-VN" dirty="0"/>
              <a:t>Proposed </a:t>
            </a:r>
            <a:r>
              <a:rPr lang="en-US" dirty="0"/>
              <a:t>plan for </a:t>
            </a:r>
            <a:r>
              <a:rPr lang="vi-VN" dirty="0"/>
              <a:t>cutting</a:t>
            </a:r>
            <a:r>
              <a:rPr lang="en-US" dirty="0"/>
              <a:t> promotions spending in 2025:</a:t>
            </a:r>
          </a:p>
        </p:txBody>
      </p:sp>
      <p:graphicFrame>
        <p:nvGraphicFramePr>
          <p:cNvPr id="4" name="Table 3">
            <a:extLst>
              <a:ext uri="{FF2B5EF4-FFF2-40B4-BE49-F238E27FC236}">
                <a16:creationId xmlns:a16="http://schemas.microsoft.com/office/drawing/2014/main" id="{4DAB0B44-2A84-9145-1C8C-9BA6954EED07}"/>
              </a:ext>
            </a:extLst>
          </p:cNvPr>
          <p:cNvGraphicFramePr>
            <a:graphicFrameLocks noGrp="1"/>
          </p:cNvGraphicFramePr>
          <p:nvPr>
            <p:extLst>
              <p:ext uri="{D42A27DB-BD31-4B8C-83A1-F6EECF244321}">
                <p14:modId xmlns:p14="http://schemas.microsoft.com/office/powerpoint/2010/main" val="2069292589"/>
              </p:ext>
            </p:extLst>
          </p:nvPr>
        </p:nvGraphicFramePr>
        <p:xfrm>
          <a:off x="489858" y="1423766"/>
          <a:ext cx="4237786" cy="4574994"/>
        </p:xfrm>
        <a:graphic>
          <a:graphicData uri="http://schemas.openxmlformats.org/drawingml/2006/table">
            <a:tbl>
              <a:tblPr firstRow="1" bandRow="1">
                <a:tableStyleId>{5C22544A-7EE6-4342-B048-85BDC9FD1C3A}</a:tableStyleId>
              </a:tblPr>
              <a:tblGrid>
                <a:gridCol w="987838">
                  <a:extLst>
                    <a:ext uri="{9D8B030D-6E8A-4147-A177-3AD203B41FA5}">
                      <a16:colId xmlns:a16="http://schemas.microsoft.com/office/drawing/2014/main" val="2557682111"/>
                    </a:ext>
                  </a:extLst>
                </a:gridCol>
                <a:gridCol w="1624974">
                  <a:extLst>
                    <a:ext uri="{9D8B030D-6E8A-4147-A177-3AD203B41FA5}">
                      <a16:colId xmlns:a16="http://schemas.microsoft.com/office/drawing/2014/main" val="1944450096"/>
                    </a:ext>
                  </a:extLst>
                </a:gridCol>
                <a:gridCol w="1624974">
                  <a:extLst>
                    <a:ext uri="{9D8B030D-6E8A-4147-A177-3AD203B41FA5}">
                      <a16:colId xmlns:a16="http://schemas.microsoft.com/office/drawing/2014/main" val="793359989"/>
                    </a:ext>
                  </a:extLst>
                </a:gridCol>
              </a:tblGrid>
              <a:tr h="393186">
                <a:tc>
                  <a:txBody>
                    <a:bodyPr/>
                    <a:lstStyle/>
                    <a:p>
                      <a:pPr algn="ctr" fontAlgn="b">
                        <a:buNone/>
                      </a:pPr>
                      <a:r>
                        <a:rPr lang="en-US" sz="16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Brand</a:t>
                      </a:r>
                      <a:endParaRPr lang="en-US" sz="14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600" b="1" dirty="0">
                          <a:solidFill>
                            <a:schemeClr val="tx1"/>
                          </a:solidFill>
                          <a:latin typeface="Calibri" panose="020F0502020204030204" pitchFamily="34" charset="0"/>
                          <a:ea typeface="Calibri" panose="020F0502020204030204" pitchFamily="34" charset="0"/>
                          <a:cs typeface="Calibri" panose="020F0502020204030204" pitchFamily="34" charset="0"/>
                        </a:rPr>
                        <a:t>% to cut</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Budget </a:t>
                      </a:r>
                      <a:r>
                        <a:rPr lang="vi-VN" sz="1600" b="1" dirty="0">
                          <a:solidFill>
                            <a:schemeClr val="tx1"/>
                          </a:solidFill>
                          <a:latin typeface="Calibri" panose="020F0502020204030204" pitchFamily="34" charset="0"/>
                          <a:ea typeface="Calibri" panose="020F0502020204030204" pitchFamily="34" charset="0"/>
                          <a:cs typeface="Calibri" panose="020F0502020204030204" pitchFamily="34" charset="0"/>
                        </a:rPr>
                        <a:t>saved </a:t>
                      </a:r>
                      <a:r>
                        <a:rPr lang="vi-VN" sz="1200" b="0" dirty="0">
                          <a:solidFill>
                            <a:schemeClr val="tx1"/>
                          </a:solidFill>
                          <a:latin typeface="Calibri" panose="020F0502020204030204" pitchFamily="34" charset="0"/>
                          <a:ea typeface="Calibri" panose="020F0502020204030204" pitchFamily="34" charset="0"/>
                          <a:cs typeface="Calibri" panose="020F0502020204030204" pitchFamily="34" charset="0"/>
                        </a:rPr>
                        <a:t>(1000 USD)</a:t>
                      </a:r>
                      <a:endParaRPr lang="en-US" sz="1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751868"/>
                  </a:ext>
                </a:extLst>
              </a:tr>
              <a:tr h="393186">
                <a:tc>
                  <a:txBody>
                    <a:bodyPr/>
                    <a:lstStyle/>
                    <a:p>
                      <a:pPr algn="ctr" fontAlgn="b">
                        <a:buNone/>
                      </a:pPr>
                      <a:r>
                        <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a:t>
                      </a: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-100%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75</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8571792"/>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133</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1281304"/>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-10%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97</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29136"/>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Z</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-16%</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60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48137"/>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- 58%</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30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0285"/>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X</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-4%</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27</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849182"/>
                  </a:ext>
                </a:extLst>
              </a:tr>
              <a:tr h="393186">
                <a:tc>
                  <a:txBody>
                    <a:bodyPr/>
                    <a:lstStyle/>
                    <a:p>
                      <a:pPr algn="ctr" fontAlgn="b">
                        <a:buNone/>
                      </a:pPr>
                      <a:r>
                        <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Y</a:t>
                      </a: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-3%</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9</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270080"/>
                  </a:ext>
                </a:extLst>
              </a:tr>
              <a:tr h="393186">
                <a:tc>
                  <a:txBody>
                    <a:bodyPr/>
                    <a:lstStyle/>
                    <a:p>
                      <a:pPr algn="ctr" fontAlgn="b">
                        <a:buNone/>
                      </a:pPr>
                      <a:r>
                        <a:rPr lang="vi-VN"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a:t>
                      </a:r>
                      <a:endPar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4267932"/>
                  </a:ext>
                </a:extLst>
              </a:tr>
              <a:tr h="393186">
                <a:tc>
                  <a:txBody>
                    <a:bodyPr/>
                    <a:lstStyle/>
                    <a:p>
                      <a:pPr algn="ctr" fontAlgn="b">
                        <a:buNone/>
                      </a:pPr>
                      <a:r>
                        <a:rPr lang="en-US"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t>
                      </a: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40568"/>
                  </a:ext>
                </a:extLst>
              </a:tr>
              <a:tr h="393186">
                <a:tc>
                  <a:txBody>
                    <a:bodyPr/>
                    <a:lstStyle/>
                    <a:p>
                      <a:pPr algn="ctr" fontAlgn="b">
                        <a:buNone/>
                      </a:pPr>
                      <a:r>
                        <a:rPr lang="vi-VN" sz="14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Total</a:t>
                      </a:r>
                      <a:endParaRPr lang="en-US" sz="14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bg2">
                          <a:lumMod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vi-VN" sz="1400" b="1" dirty="0">
                          <a:solidFill>
                            <a:schemeClr val="tx1"/>
                          </a:solidFill>
                          <a:latin typeface="Calibri" panose="020F0502020204030204" pitchFamily="34" charset="0"/>
                          <a:ea typeface="Calibri" panose="020F0502020204030204" pitchFamily="34" charset="0"/>
                          <a:cs typeface="Calibri" panose="020F0502020204030204" pitchFamily="34" charset="0"/>
                        </a:rPr>
                        <a:t>10% of total AAA promo</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vi-VN" sz="1600" b="1" dirty="0">
                          <a:solidFill>
                            <a:schemeClr val="tx1"/>
                          </a:solidFill>
                          <a:latin typeface="Calibri" panose="020F0502020204030204" pitchFamily="34" charset="0"/>
                          <a:ea typeface="Calibri" panose="020F0502020204030204" pitchFamily="34" charset="0"/>
                          <a:cs typeface="Calibri" panose="020F0502020204030204" pitchFamily="34" charset="0"/>
                        </a:rPr>
                        <a:t>431</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9502335"/>
                  </a:ext>
                </a:extLst>
              </a:tr>
            </a:tbl>
          </a:graphicData>
        </a:graphic>
      </p:graphicFrame>
      <p:sp>
        <p:nvSpPr>
          <p:cNvPr id="9" name="TextBox 8">
            <a:extLst>
              <a:ext uri="{FF2B5EF4-FFF2-40B4-BE49-F238E27FC236}">
                <a16:creationId xmlns:a16="http://schemas.microsoft.com/office/drawing/2014/main" id="{EFD6BD46-FF7D-4C70-D7C1-B7706E6E7AA6}"/>
              </a:ext>
            </a:extLst>
          </p:cNvPr>
          <p:cNvSpPr txBox="1"/>
          <p:nvPr/>
        </p:nvSpPr>
        <p:spPr>
          <a:xfrm>
            <a:off x="5136203" y="1423766"/>
            <a:ext cx="6565939" cy="4093428"/>
          </a:xfrm>
          <a:prstGeom prst="rect">
            <a:avLst/>
          </a:prstGeom>
          <a:noFill/>
        </p:spPr>
        <p:txBody>
          <a:bodyPr wrap="square" lIns="0" rIns="0">
            <a:spAutoFit/>
          </a:bodyPr>
          <a:lstStyle/>
          <a:p>
            <a:pPr>
              <a:buNone/>
            </a:pPr>
            <a:r>
              <a:rPr lang="vi-VN" sz="1600" b="1" dirty="0">
                <a:latin typeface="Calibri" panose="020F0502020204030204" pitchFamily="34" charset="0"/>
                <a:ea typeface="Calibri" panose="020F0502020204030204" pitchFamily="34" charset="0"/>
                <a:cs typeface="Calibri" panose="020F0502020204030204" pitchFamily="34" charset="0"/>
              </a:rPr>
              <a:t>This plan will help:</a:t>
            </a:r>
          </a:p>
          <a:p>
            <a:pPr>
              <a:buNone/>
            </a:pPr>
            <a:endParaRPr lang="vi-VN" sz="1600" b="1" dirty="0">
              <a:latin typeface="Calibri" panose="020F0502020204030204" pitchFamily="34" charset="0"/>
              <a:ea typeface="Calibri" panose="020F0502020204030204" pitchFamily="34" charset="0"/>
              <a:cs typeface="Calibri" panose="020F0502020204030204" pitchFamily="34" charset="0"/>
            </a:endParaRPr>
          </a:p>
          <a:p>
            <a:pPr marL="285750" indent="-285750">
              <a:spcAft>
                <a:spcPts val="600"/>
              </a:spcAft>
              <a:buFont typeface="Wingdings" panose="05000000000000000000" pitchFamily="2" charset="2"/>
              <a:buChar char="ü"/>
            </a:pPr>
            <a:r>
              <a:rPr lang="en-US" sz="1600" b="1" dirty="0">
                <a:latin typeface="Calibri" panose="020F0502020204030204" pitchFamily="34" charset="0"/>
                <a:ea typeface="Calibri" panose="020F0502020204030204" pitchFamily="34" charset="0"/>
                <a:cs typeface="Calibri" panose="020F0502020204030204" pitchFamily="34" charset="0"/>
              </a:rPr>
              <a:t>Enable a more holistic and data-driven promotion strategy</a:t>
            </a:r>
            <a:br>
              <a:rPr lang="en-US" sz="1600" dirty="0">
                <a:latin typeface="Calibri" panose="020F0502020204030204" pitchFamily="34" charset="0"/>
                <a:ea typeface="Calibri" panose="020F0502020204030204" pitchFamily="34" charset="0"/>
                <a:cs typeface="Calibri" panose="020F0502020204030204" pitchFamily="34" charset="0"/>
              </a:rPr>
            </a:br>
            <a:r>
              <a:rPr lang="vi-VN" sz="1400" dirty="0">
                <a:latin typeface="Calibri" panose="020F0502020204030204" pitchFamily="34" charset="0"/>
                <a:ea typeface="Calibri" panose="020F0502020204030204" pitchFamily="34" charset="0"/>
                <a:cs typeface="Calibri" panose="020F0502020204030204" pitchFamily="34" charset="0"/>
              </a:rPr>
              <a:t>C</a:t>
            </a:r>
            <a:r>
              <a:rPr lang="en-US" sz="1400" dirty="0" err="1">
                <a:latin typeface="Calibri" panose="020F0502020204030204" pitchFamily="34" charset="0"/>
                <a:ea typeface="Calibri" panose="020F0502020204030204" pitchFamily="34" charset="0"/>
                <a:cs typeface="Calibri" panose="020F0502020204030204" pitchFamily="34" charset="0"/>
              </a:rPr>
              <a:t>ombining</a:t>
            </a:r>
            <a:r>
              <a:rPr lang="en-US" sz="1400" dirty="0">
                <a:latin typeface="Calibri" panose="020F0502020204030204" pitchFamily="34" charset="0"/>
                <a:ea typeface="Calibri" panose="020F0502020204030204" pitchFamily="34" charset="0"/>
                <a:cs typeface="Calibri" panose="020F0502020204030204" pitchFamily="34" charset="0"/>
              </a:rPr>
              <a:t> promo efficiency, dependency, and elasticity provides a more complete view of how promotions actually drive demand. This helps the marketing and demand planning teams move from intuition-based decisions to a structured, data-driven approach.</a:t>
            </a:r>
          </a:p>
          <a:p>
            <a:pPr marL="285750" indent="-285750">
              <a:spcAft>
                <a:spcPts val="600"/>
              </a:spcAft>
              <a:buFont typeface="Wingdings" panose="05000000000000000000" pitchFamily="2" charset="2"/>
              <a:buChar char="ü"/>
            </a:pPr>
            <a:r>
              <a:rPr lang="en-US" sz="1600" b="1" dirty="0">
                <a:latin typeface="Calibri" panose="020F0502020204030204" pitchFamily="34" charset="0"/>
                <a:ea typeface="Calibri" panose="020F0502020204030204" pitchFamily="34" charset="0"/>
                <a:cs typeface="Calibri" panose="020F0502020204030204" pitchFamily="34" charset="0"/>
              </a:rPr>
              <a:t>Balance growth objectives with cost efficiency and demand stability</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Each metric captures a different aspect of promotion </a:t>
            </a:r>
            <a:r>
              <a:rPr lang="vi-VN" sz="1400" dirty="0">
                <a:latin typeface="Calibri" panose="020F0502020204030204" pitchFamily="34" charset="0"/>
                <a:ea typeface="Calibri" panose="020F0502020204030204" pitchFamily="34" charset="0"/>
                <a:cs typeface="Calibri" panose="020F0502020204030204" pitchFamily="34" charset="0"/>
              </a:rPr>
              <a:t>impact. </a:t>
            </a:r>
            <a:r>
              <a:rPr lang="en-US" sz="1400" dirty="0">
                <a:latin typeface="Calibri" panose="020F0502020204030204" pitchFamily="34" charset="0"/>
                <a:ea typeface="Calibri" panose="020F0502020204030204" pitchFamily="34" charset="0"/>
                <a:cs typeface="Calibri" panose="020F0502020204030204" pitchFamily="34" charset="0"/>
              </a:rPr>
              <a:t>Together, they ensure that promotion cuts are optimized not only for cost savings, but also for maintaining stable demand and avoiding unintended volume drops.</a:t>
            </a:r>
          </a:p>
          <a:p>
            <a:pPr marL="285750" indent="-285750">
              <a:buFont typeface="Wingdings" panose="05000000000000000000" pitchFamily="2" charset="2"/>
              <a:buChar char="ü"/>
            </a:pPr>
            <a:r>
              <a:rPr lang="en-US" sz="1600" b="1" dirty="0">
                <a:latin typeface="Calibri" panose="020F0502020204030204" pitchFamily="34" charset="0"/>
                <a:ea typeface="Calibri" panose="020F0502020204030204" pitchFamily="34" charset="0"/>
                <a:cs typeface="Calibri" panose="020F0502020204030204" pitchFamily="34" charset="0"/>
              </a:rPr>
              <a:t>Ensure promotion investment is aligned with both performance and strategic priorities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By incorporating strategic importance alongside quantitative metrics, the approach allows the business to differentiate between purely performance-driven decisions and those that support long-term strategies, resulting in a more balanced and sustainable allocation of promotion budget.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4077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E44B44-BF9E-B3F1-1526-9B6F6F319011}"/>
              </a:ext>
            </a:extLst>
          </p:cNvPr>
          <p:cNvSpPr>
            <a:spLocks noGrp="1"/>
          </p:cNvSpPr>
          <p:nvPr>
            <p:ph type="sldNum" sz="quarter" idx="12"/>
          </p:nvPr>
        </p:nvSpPr>
        <p:spPr/>
        <p:txBody>
          <a:bodyPr/>
          <a:lstStyle/>
          <a:p>
            <a:fld id="{558ED922-7EDD-473A-8362-50B58FFACA46}" type="slidenum">
              <a:rPr lang="en-US" smtClean="0"/>
              <a:pPr/>
              <a:t>16</a:t>
            </a:fld>
            <a:endParaRPr lang="en-US"/>
          </a:p>
        </p:txBody>
      </p:sp>
      <p:sp>
        <p:nvSpPr>
          <p:cNvPr id="3" name="Title 2">
            <a:extLst>
              <a:ext uri="{FF2B5EF4-FFF2-40B4-BE49-F238E27FC236}">
                <a16:creationId xmlns:a16="http://schemas.microsoft.com/office/drawing/2014/main" id="{751B70ED-B081-4FB5-1A55-6F9F00A11874}"/>
              </a:ext>
            </a:extLst>
          </p:cNvPr>
          <p:cNvSpPr>
            <a:spLocks noGrp="1"/>
          </p:cNvSpPr>
          <p:nvPr>
            <p:ph type="title"/>
          </p:nvPr>
        </p:nvSpPr>
        <p:spPr/>
        <p:txBody>
          <a:bodyPr rIns="0">
            <a:normAutofit fontScale="90000"/>
          </a:bodyPr>
          <a:lstStyle/>
          <a:p>
            <a:r>
              <a:rPr lang="en-US" dirty="0"/>
              <a:t>A robust promotion optimization strategy should be grounded in the following criteria, which constitute a three-layer evaluation framework</a:t>
            </a:r>
          </a:p>
        </p:txBody>
      </p:sp>
      <p:graphicFrame>
        <p:nvGraphicFramePr>
          <p:cNvPr id="4" name="Table 3">
            <a:extLst>
              <a:ext uri="{FF2B5EF4-FFF2-40B4-BE49-F238E27FC236}">
                <a16:creationId xmlns:a16="http://schemas.microsoft.com/office/drawing/2014/main" id="{72B5B21D-1D93-1E38-0A67-F194A55958A1}"/>
              </a:ext>
            </a:extLst>
          </p:cNvPr>
          <p:cNvGraphicFramePr>
            <a:graphicFrameLocks noGrp="1"/>
          </p:cNvGraphicFramePr>
          <p:nvPr>
            <p:extLst>
              <p:ext uri="{D42A27DB-BD31-4B8C-83A1-F6EECF244321}">
                <p14:modId xmlns:p14="http://schemas.microsoft.com/office/powerpoint/2010/main" val="3789818891"/>
              </p:ext>
            </p:extLst>
          </p:nvPr>
        </p:nvGraphicFramePr>
        <p:xfrm>
          <a:off x="489857" y="1744466"/>
          <a:ext cx="4894434" cy="3878094"/>
        </p:xfrm>
        <a:graphic>
          <a:graphicData uri="http://schemas.openxmlformats.org/drawingml/2006/table">
            <a:tbl>
              <a:tblPr firstRow="1" bandRow="1">
                <a:tableStyleId>{5C22544A-7EE6-4342-B048-85BDC9FD1C3A}</a:tableStyleId>
              </a:tblPr>
              <a:tblGrid>
                <a:gridCol w="1708594">
                  <a:extLst>
                    <a:ext uri="{9D8B030D-6E8A-4147-A177-3AD203B41FA5}">
                      <a16:colId xmlns:a16="http://schemas.microsoft.com/office/drawing/2014/main" val="927520737"/>
                    </a:ext>
                  </a:extLst>
                </a:gridCol>
                <a:gridCol w="3185840">
                  <a:extLst>
                    <a:ext uri="{9D8B030D-6E8A-4147-A177-3AD203B41FA5}">
                      <a16:colId xmlns:a16="http://schemas.microsoft.com/office/drawing/2014/main" val="2557682111"/>
                    </a:ext>
                  </a:extLst>
                </a:gridCol>
              </a:tblGrid>
              <a:tr h="819006">
                <a:tc>
                  <a:txBody>
                    <a:bodyPr/>
                    <a:lstStyle/>
                    <a:p>
                      <a:pPr marL="0" indent="0">
                        <a:buFont typeface="Wingdings" panose="05000000000000000000" pitchFamily="2" charset="2"/>
                        <a:buNone/>
                      </a:pPr>
                      <a:r>
                        <a:rPr lang="vi-VN" sz="1600" b="1" dirty="0">
                          <a:solidFill>
                            <a:schemeClr val="tx1"/>
                          </a:solidFill>
                          <a:latin typeface="Calibri" panose="020F0502020204030204" pitchFamily="34" charset="0"/>
                          <a:ea typeface="Calibri" panose="020F0502020204030204" pitchFamily="34" charset="0"/>
                          <a:cs typeface="Calibri" panose="020F0502020204030204" pitchFamily="34" charset="0"/>
                        </a:rPr>
                        <a:t>Efficiency</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 typeface="Wingdings" panose="05000000000000000000" pitchFamily="2" charset="2"/>
                        <a:buNone/>
                      </a:pPr>
                      <a:r>
                        <a:rPr lang="vi-VN" sz="1400" b="0" dirty="0">
                          <a:solidFill>
                            <a:schemeClr val="tx1"/>
                          </a:solidFill>
                          <a:latin typeface="Calibri" panose="020F0502020204030204" pitchFamily="34" charset="0"/>
                          <a:ea typeface="Calibri" panose="020F0502020204030204" pitchFamily="34" charset="0"/>
                          <a:cs typeface="Calibri" panose="020F0502020204030204" pitchFamily="34" charset="0"/>
                        </a:rPr>
                        <a:t>The efficiency in GMV generate on promotions</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58571792"/>
                  </a:ext>
                </a:extLst>
              </a:tr>
              <a:tr h="1019696">
                <a:tc>
                  <a:txBody>
                    <a:bodyPr/>
                    <a:lstStyle/>
                    <a:p>
                      <a:pPr marL="0" indent="0">
                        <a:buFont typeface="Wingdings" panose="05000000000000000000" pitchFamily="2" charset="2"/>
                        <a:buNone/>
                      </a:pPr>
                      <a:r>
                        <a:rPr lang="vi-VN" sz="1600" b="1" dirty="0">
                          <a:latin typeface="Calibri" panose="020F0502020204030204" pitchFamily="34" charset="0"/>
                          <a:ea typeface="Calibri" panose="020F0502020204030204" pitchFamily="34" charset="0"/>
                          <a:cs typeface="Calibri" panose="020F0502020204030204" pitchFamily="34" charset="0"/>
                        </a:rPr>
                        <a:t>Dependency</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 typeface="Wingdings" panose="05000000000000000000" pitchFamily="2" charset="2"/>
                        <a:buNone/>
                      </a:pPr>
                      <a:r>
                        <a:rPr lang="vi-VN" sz="1400" dirty="0">
                          <a:latin typeface="Calibri" panose="020F0502020204030204" pitchFamily="34" charset="0"/>
                          <a:ea typeface="Calibri" panose="020F0502020204030204" pitchFamily="34" charset="0"/>
                          <a:cs typeface="Calibri" panose="020F0502020204030204" pitchFamily="34" charset="0"/>
                        </a:rPr>
                        <a:t>The dependency of brand to promo for generating GMV</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93270080"/>
                  </a:ext>
                </a:extLst>
              </a:tr>
              <a:tr h="1019696">
                <a:tc>
                  <a:txBody>
                    <a:bodyPr/>
                    <a:lstStyle/>
                    <a:p>
                      <a:pPr marL="0" indent="0">
                        <a:buFont typeface="Wingdings" panose="05000000000000000000" pitchFamily="2" charset="2"/>
                        <a:buNone/>
                      </a:pPr>
                      <a:r>
                        <a:rPr lang="vi-VN" sz="1600" b="1" dirty="0">
                          <a:latin typeface="Calibri" panose="020F0502020204030204" pitchFamily="34" charset="0"/>
                          <a:ea typeface="Calibri" panose="020F0502020204030204" pitchFamily="34" charset="0"/>
                          <a:cs typeface="Calibri" panose="020F0502020204030204" pitchFamily="34" charset="0"/>
                        </a:rPr>
                        <a:t>Elasticity</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 typeface="Wingdings" panose="05000000000000000000" pitchFamily="2" charset="2"/>
                        <a:buNone/>
                      </a:pPr>
                      <a:r>
                        <a:rPr lang="vi-VN" sz="1400" dirty="0">
                          <a:latin typeface="Calibri" panose="020F0502020204030204" pitchFamily="34" charset="0"/>
                          <a:ea typeface="Calibri" panose="020F0502020204030204" pitchFamily="34" charset="0"/>
                          <a:cs typeface="Calibri" panose="020F0502020204030204" pitchFamily="34" charset="0"/>
                        </a:rPr>
                        <a:t>The intensity in GMV decrease when cutting an amount of promo</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64267932"/>
                  </a:ext>
                </a:extLst>
              </a:tr>
              <a:tr h="1019696">
                <a:tc>
                  <a:txBody>
                    <a:bodyPr/>
                    <a:lstStyle/>
                    <a:p>
                      <a:pPr marL="0" indent="0">
                        <a:buFont typeface="Wingdings" panose="05000000000000000000" pitchFamily="2" charset="2"/>
                        <a:buNone/>
                      </a:pPr>
                      <a:r>
                        <a:rPr lang="en-US" sz="1600" b="1" dirty="0">
                          <a:latin typeface="Calibri" panose="020F0502020204030204" pitchFamily="34" charset="0"/>
                          <a:ea typeface="Calibri" panose="020F0502020204030204" pitchFamily="34" charset="0"/>
                          <a:cs typeface="Calibri" panose="020F0502020204030204" pitchFamily="34" charset="0"/>
                        </a:rPr>
                        <a:t>Strategic </a:t>
                      </a:r>
                      <a:r>
                        <a:rPr lang="vi-VN" sz="1600" b="1" dirty="0">
                          <a:latin typeface="Calibri" panose="020F0502020204030204" pitchFamily="34" charset="0"/>
                          <a:ea typeface="Calibri" panose="020F0502020204030204" pitchFamily="34" charset="0"/>
                          <a:cs typeface="Calibri" panose="020F0502020204030204" pitchFamily="34" charset="0"/>
                        </a:rPr>
                        <a:t>importance</a:t>
                      </a:r>
                      <a:endPar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 typeface="Wingdings" panose="05000000000000000000" pitchFamily="2" charset="2"/>
                        <a:buNone/>
                      </a:pPr>
                      <a:r>
                        <a:rPr lang="vi-VN" sz="1400" dirty="0">
                          <a:latin typeface="Calibri" panose="020F0502020204030204" pitchFamily="34" charset="0"/>
                          <a:ea typeface="Calibri" panose="020F0502020204030204" pitchFamily="34" charset="0"/>
                          <a:cs typeface="Calibri" panose="020F0502020204030204" pitchFamily="34" charset="0"/>
                        </a:rPr>
                        <a:t>The importance of a brand to the business strategies</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340568"/>
                  </a:ext>
                </a:extLst>
              </a:tr>
            </a:tbl>
          </a:graphicData>
        </a:graphic>
      </p:graphicFrame>
      <p:grpSp>
        <p:nvGrpSpPr>
          <p:cNvPr id="17" name="Group 16">
            <a:extLst>
              <a:ext uri="{FF2B5EF4-FFF2-40B4-BE49-F238E27FC236}">
                <a16:creationId xmlns:a16="http://schemas.microsoft.com/office/drawing/2014/main" id="{B8077109-21EC-5465-E00D-ED59E5A30542}"/>
              </a:ext>
            </a:extLst>
          </p:cNvPr>
          <p:cNvGrpSpPr/>
          <p:nvPr/>
        </p:nvGrpSpPr>
        <p:grpSpPr>
          <a:xfrm>
            <a:off x="6194358" y="1733800"/>
            <a:ext cx="5383180" cy="3879350"/>
            <a:chOff x="7007158" y="1674415"/>
            <a:chExt cx="5383180" cy="3879350"/>
          </a:xfrm>
        </p:grpSpPr>
        <p:sp>
          <p:nvSpPr>
            <p:cNvPr id="7" name="Oval 6">
              <a:extLst>
                <a:ext uri="{FF2B5EF4-FFF2-40B4-BE49-F238E27FC236}">
                  <a16:creationId xmlns:a16="http://schemas.microsoft.com/office/drawing/2014/main" id="{39DC6B54-DEEC-8744-363F-E795BA803C82}"/>
                </a:ext>
              </a:extLst>
            </p:cNvPr>
            <p:cNvSpPr/>
            <p:nvPr/>
          </p:nvSpPr>
          <p:spPr>
            <a:xfrm>
              <a:off x="7007158" y="1674415"/>
              <a:ext cx="3878093" cy="3878093"/>
            </a:xfrm>
            <a:prstGeom prst="ellipse">
              <a:avLst/>
            </a:prstGeom>
            <a:solidFill>
              <a:srgbClr val="00A9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Oval 7">
              <a:extLst>
                <a:ext uri="{FF2B5EF4-FFF2-40B4-BE49-F238E27FC236}">
                  <a16:creationId xmlns:a16="http://schemas.microsoft.com/office/drawing/2014/main" id="{F571F2A1-263D-412C-12CF-32147340A970}"/>
                </a:ext>
              </a:extLst>
            </p:cNvPr>
            <p:cNvSpPr/>
            <p:nvPr/>
          </p:nvSpPr>
          <p:spPr>
            <a:xfrm>
              <a:off x="7517858" y="2695818"/>
              <a:ext cx="2856690" cy="2856690"/>
            </a:xfrm>
            <a:prstGeom prst="ellipse">
              <a:avLst/>
            </a:prstGeom>
            <a:solidFill>
              <a:srgbClr val="14B8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C2248D79-8980-4FFC-C128-C2CD3D9A433B}"/>
                </a:ext>
              </a:extLst>
            </p:cNvPr>
            <p:cNvSpPr/>
            <p:nvPr/>
          </p:nvSpPr>
          <p:spPr>
            <a:xfrm>
              <a:off x="7976051" y="3613461"/>
              <a:ext cx="1940304" cy="1940304"/>
            </a:xfrm>
            <a:prstGeom prst="ellipse">
              <a:avLst/>
            </a:prstGeom>
            <a:solidFill>
              <a:srgbClr val="75F0E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E9B46B5B-DFA0-F2E8-E202-F63AF579A624}"/>
                </a:ext>
              </a:extLst>
            </p:cNvPr>
            <p:cNvSpPr txBox="1"/>
            <p:nvPr/>
          </p:nvSpPr>
          <p:spPr>
            <a:xfrm>
              <a:off x="8285820" y="3075262"/>
              <a:ext cx="1320767" cy="338554"/>
            </a:xfrm>
            <a:prstGeom prst="rect">
              <a:avLst/>
            </a:prstGeom>
            <a:noFill/>
          </p:spPr>
          <p:txBody>
            <a:bodyPr wrap="square" lIns="0">
              <a:spAutoFit/>
            </a:bodyPr>
            <a:lstStyle/>
            <a:p>
              <a:pPr algn="ctr"/>
              <a:r>
                <a:rPr lang="vi-VN" sz="1600" dirty="0">
                  <a:latin typeface="Calibri" panose="020F0502020204030204" pitchFamily="34" charset="0"/>
                  <a:ea typeface="Calibri" panose="020F0502020204030204" pitchFamily="34" charset="0"/>
                  <a:cs typeface="Calibri" panose="020F0502020204030204" pitchFamily="34" charset="0"/>
                </a:rPr>
                <a:t>+ Elasticity</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F6A9C96-7841-5D4D-0BCA-E81AF7471ECB}"/>
                </a:ext>
              </a:extLst>
            </p:cNvPr>
            <p:cNvSpPr txBox="1"/>
            <p:nvPr/>
          </p:nvSpPr>
          <p:spPr>
            <a:xfrm>
              <a:off x="8285820" y="1898443"/>
              <a:ext cx="1320767" cy="584775"/>
            </a:xfrm>
            <a:prstGeom prst="rect">
              <a:avLst/>
            </a:prstGeom>
            <a:noFill/>
          </p:spPr>
          <p:txBody>
            <a:bodyPr wrap="square" lIns="0">
              <a:spAutoFit/>
            </a:bodyPr>
            <a:lstStyle/>
            <a:p>
              <a:pPr algn="ctr"/>
              <a:r>
                <a:rPr lang="vi-VN" sz="1600"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Strategic </a:t>
              </a:r>
              <a:r>
                <a:rPr lang="vi-VN" sz="1600" dirty="0">
                  <a:latin typeface="Calibri" panose="020F0502020204030204" pitchFamily="34" charset="0"/>
                  <a:ea typeface="Calibri" panose="020F0502020204030204" pitchFamily="34" charset="0"/>
                  <a:cs typeface="Calibri" panose="020F0502020204030204" pitchFamily="34" charset="0"/>
                </a:rPr>
                <a:t>importance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DA37A975-1DA7-0C88-8866-4D24EEAD3E11}"/>
                </a:ext>
              </a:extLst>
            </p:cNvPr>
            <p:cNvSpPr txBox="1"/>
            <p:nvPr/>
          </p:nvSpPr>
          <p:spPr>
            <a:xfrm>
              <a:off x="11059048" y="4433094"/>
              <a:ext cx="1320767" cy="338554"/>
            </a:xfrm>
            <a:prstGeom prst="rect">
              <a:avLst/>
            </a:prstGeom>
            <a:noFill/>
          </p:spPr>
          <p:txBody>
            <a:bodyPr wrap="square" lIns="0">
              <a:spAutoFit/>
            </a:bodyPr>
            <a:lstStyle/>
            <a:p>
              <a:pPr algn="ctr"/>
              <a:r>
                <a:rPr lang="vi-VN" sz="1600" b="1" dirty="0">
                  <a:latin typeface="Calibri" panose="020F0502020204030204" pitchFamily="34" charset="0"/>
                  <a:ea typeface="Calibri" panose="020F0502020204030204" pitchFamily="34" charset="0"/>
                  <a:cs typeface="Calibri" panose="020F0502020204030204" pitchFamily="34" charset="0"/>
                </a:rPr>
                <a:t>1st layer</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B6F41B1F-47D8-9C53-0EE5-15969F99EC61}"/>
                </a:ext>
              </a:extLst>
            </p:cNvPr>
            <p:cNvSpPr txBox="1"/>
            <p:nvPr/>
          </p:nvSpPr>
          <p:spPr>
            <a:xfrm>
              <a:off x="11069571" y="3064074"/>
              <a:ext cx="1320767" cy="338554"/>
            </a:xfrm>
            <a:prstGeom prst="rect">
              <a:avLst/>
            </a:prstGeom>
            <a:noFill/>
          </p:spPr>
          <p:txBody>
            <a:bodyPr wrap="square" lIns="0">
              <a:spAutoFit/>
            </a:bodyPr>
            <a:lstStyle/>
            <a:p>
              <a:pPr algn="ctr"/>
              <a:r>
                <a:rPr lang="vi-VN" sz="1600" b="1" dirty="0">
                  <a:latin typeface="Calibri" panose="020F0502020204030204" pitchFamily="34" charset="0"/>
                  <a:ea typeface="Calibri" panose="020F0502020204030204" pitchFamily="34" charset="0"/>
                  <a:cs typeface="Calibri" panose="020F0502020204030204" pitchFamily="34" charset="0"/>
                </a:rPr>
                <a:t>2nd layer</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BF00A59-63E2-8C1D-00BE-2224163CF68C}"/>
                </a:ext>
              </a:extLst>
            </p:cNvPr>
            <p:cNvSpPr txBox="1"/>
            <p:nvPr/>
          </p:nvSpPr>
          <p:spPr>
            <a:xfrm>
              <a:off x="11048522" y="2016732"/>
              <a:ext cx="1320767" cy="338554"/>
            </a:xfrm>
            <a:prstGeom prst="rect">
              <a:avLst/>
            </a:prstGeom>
            <a:noFill/>
          </p:spPr>
          <p:txBody>
            <a:bodyPr wrap="square" lIns="0">
              <a:spAutoFit/>
            </a:bodyPr>
            <a:lstStyle/>
            <a:p>
              <a:pPr algn="ctr"/>
              <a:r>
                <a:rPr lang="vi-VN" sz="1600" b="1" dirty="0">
                  <a:latin typeface="Calibri" panose="020F0502020204030204" pitchFamily="34" charset="0"/>
                  <a:ea typeface="Calibri" panose="020F0502020204030204" pitchFamily="34" charset="0"/>
                  <a:cs typeface="Calibri" panose="020F0502020204030204" pitchFamily="34" charset="0"/>
                </a:rPr>
                <a:t>3rd layer</a:t>
              </a:r>
              <a:endParaRPr lang="en-US" sz="1600" b="1" dirty="0">
                <a:latin typeface="Calibri" panose="020F0502020204030204" pitchFamily="34" charset="0"/>
                <a:ea typeface="Calibri" panose="020F0502020204030204" pitchFamily="34" charset="0"/>
                <a:cs typeface="Calibri" panose="020F0502020204030204" pitchFamily="34" charset="0"/>
              </a:endParaRPr>
            </a:p>
          </p:txBody>
        </p:sp>
      </p:grpSp>
      <p:cxnSp>
        <p:nvCxnSpPr>
          <p:cNvPr id="19" name="Straight Connector 18">
            <a:extLst>
              <a:ext uri="{FF2B5EF4-FFF2-40B4-BE49-F238E27FC236}">
                <a16:creationId xmlns:a16="http://schemas.microsoft.com/office/drawing/2014/main" id="{DC7EB4EB-3734-143F-FD94-F68F86E387A6}"/>
              </a:ext>
            </a:extLst>
          </p:cNvPr>
          <p:cNvCxnSpPr>
            <a:stCxn id="11" idx="3"/>
            <a:endCxn id="16" idx="1"/>
          </p:cNvCxnSpPr>
          <p:nvPr/>
        </p:nvCxnSpPr>
        <p:spPr>
          <a:xfrm flipV="1">
            <a:off x="8793787" y="2245394"/>
            <a:ext cx="1441935" cy="482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D199822-E542-F5DC-22C2-70E9A9B3E1E3}"/>
              </a:ext>
            </a:extLst>
          </p:cNvPr>
          <p:cNvCxnSpPr>
            <a:cxnSpLocks/>
            <a:stCxn id="10" idx="3"/>
            <a:endCxn id="15" idx="1"/>
          </p:cNvCxnSpPr>
          <p:nvPr/>
        </p:nvCxnSpPr>
        <p:spPr>
          <a:xfrm flipV="1">
            <a:off x="8793787" y="3292736"/>
            <a:ext cx="1462984" cy="11188"/>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F884E29-572B-3550-05F3-D958A62FA3CE}"/>
              </a:ext>
            </a:extLst>
          </p:cNvPr>
          <p:cNvCxnSpPr>
            <a:cxnSpLocks/>
            <a:stCxn id="26" idx="3"/>
            <a:endCxn id="14" idx="1"/>
          </p:cNvCxnSpPr>
          <p:nvPr/>
        </p:nvCxnSpPr>
        <p:spPr>
          <a:xfrm>
            <a:off x="8793787" y="4627186"/>
            <a:ext cx="1452461" cy="3457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5C83645-9AC6-71A6-2997-F0014E0AE19D}"/>
              </a:ext>
            </a:extLst>
          </p:cNvPr>
          <p:cNvSpPr txBox="1"/>
          <p:nvPr/>
        </p:nvSpPr>
        <p:spPr>
          <a:xfrm>
            <a:off x="7473020" y="4334798"/>
            <a:ext cx="1320767" cy="584775"/>
          </a:xfrm>
          <a:prstGeom prst="rect">
            <a:avLst/>
          </a:prstGeom>
          <a:noFill/>
        </p:spPr>
        <p:txBody>
          <a:bodyPr wrap="square" lIns="0">
            <a:spAutoFit/>
          </a:bodyPr>
          <a:lstStyle/>
          <a:p>
            <a:pPr algn="ctr"/>
            <a:r>
              <a:rPr lang="vi-VN" sz="1600" dirty="0">
                <a:latin typeface="Calibri" panose="020F0502020204030204" pitchFamily="34" charset="0"/>
                <a:ea typeface="Calibri" panose="020F0502020204030204" pitchFamily="34" charset="0"/>
                <a:cs typeface="Calibri" panose="020F0502020204030204" pitchFamily="34" charset="0"/>
              </a:rPr>
              <a:t>Efficiency &amp; Dependency</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0216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AF0528-6527-F24A-B5C6-BEAC21A880FA}"/>
              </a:ext>
            </a:extLst>
          </p:cNvPr>
          <p:cNvSpPr>
            <a:spLocks noGrp="1"/>
          </p:cNvSpPr>
          <p:nvPr>
            <p:ph type="sldNum" sz="quarter" idx="12"/>
          </p:nvPr>
        </p:nvSpPr>
        <p:spPr/>
        <p:txBody>
          <a:bodyPr/>
          <a:lstStyle/>
          <a:p>
            <a:fld id="{558ED922-7EDD-473A-8362-50B58FFACA46}" type="slidenum">
              <a:rPr lang="en-US" smtClean="0"/>
              <a:pPr/>
              <a:t>17</a:t>
            </a:fld>
            <a:endParaRPr lang="en-US"/>
          </a:p>
        </p:txBody>
      </p:sp>
      <p:sp>
        <p:nvSpPr>
          <p:cNvPr id="3" name="Title 2">
            <a:extLst>
              <a:ext uri="{FF2B5EF4-FFF2-40B4-BE49-F238E27FC236}">
                <a16:creationId xmlns:a16="http://schemas.microsoft.com/office/drawing/2014/main" id="{CBA0AB26-27D2-E4B7-7947-BC1AD86650AC}"/>
              </a:ext>
            </a:extLst>
          </p:cNvPr>
          <p:cNvSpPr>
            <a:spLocks noGrp="1"/>
          </p:cNvSpPr>
          <p:nvPr>
            <p:ph type="title"/>
          </p:nvPr>
        </p:nvSpPr>
        <p:spPr/>
        <p:txBody>
          <a:bodyPr rIns="0">
            <a:normAutofit fontScale="90000"/>
          </a:bodyPr>
          <a:lstStyle/>
          <a:p>
            <a:r>
              <a:rPr lang="en-US" dirty="0"/>
              <a:t>Based on the initial evaluation layer, Brands C, Z, D, and F emerge as the primary candidates for promotional reductions</a:t>
            </a:r>
          </a:p>
        </p:txBody>
      </p:sp>
      <p:grpSp>
        <p:nvGrpSpPr>
          <p:cNvPr id="13" name="Group 12">
            <a:extLst>
              <a:ext uri="{FF2B5EF4-FFF2-40B4-BE49-F238E27FC236}">
                <a16:creationId xmlns:a16="http://schemas.microsoft.com/office/drawing/2014/main" id="{E889C975-749C-E154-7625-A6F604AB033C}"/>
              </a:ext>
            </a:extLst>
          </p:cNvPr>
          <p:cNvGrpSpPr/>
          <p:nvPr/>
        </p:nvGrpSpPr>
        <p:grpSpPr>
          <a:xfrm>
            <a:off x="1283001" y="1856346"/>
            <a:ext cx="5075549" cy="4116436"/>
            <a:chOff x="1283001" y="1934169"/>
            <a:chExt cx="5075549" cy="4116436"/>
          </a:xfrm>
        </p:grpSpPr>
        <p:pic>
          <p:nvPicPr>
            <p:cNvPr id="10" name="Picture 9">
              <a:extLst>
                <a:ext uri="{FF2B5EF4-FFF2-40B4-BE49-F238E27FC236}">
                  <a16:creationId xmlns:a16="http://schemas.microsoft.com/office/drawing/2014/main" id="{E811197E-FF0F-11EA-C9A7-0F7A0FE9FC4E}"/>
                </a:ext>
              </a:extLst>
            </p:cNvPr>
            <p:cNvPicPr>
              <a:picLocks noChangeAspect="1"/>
            </p:cNvPicPr>
            <p:nvPr/>
          </p:nvPicPr>
          <p:blipFill>
            <a:blip r:embed="rId2"/>
            <a:stretch>
              <a:fillRect/>
            </a:stretch>
          </p:blipFill>
          <p:spPr>
            <a:xfrm>
              <a:off x="1283001" y="1934169"/>
              <a:ext cx="5075549" cy="4116436"/>
            </a:xfrm>
            <a:prstGeom prst="rect">
              <a:avLst/>
            </a:prstGeom>
            <a:ln>
              <a:solidFill>
                <a:schemeClr val="bg1">
                  <a:lumMod val="75000"/>
                </a:schemeClr>
              </a:solidFill>
            </a:ln>
          </p:spPr>
        </p:pic>
        <p:cxnSp>
          <p:nvCxnSpPr>
            <p:cNvPr id="36" name="Straight Connector 35">
              <a:extLst>
                <a:ext uri="{FF2B5EF4-FFF2-40B4-BE49-F238E27FC236}">
                  <a16:creationId xmlns:a16="http://schemas.microsoft.com/office/drawing/2014/main" id="{2DA931B8-B764-0342-E3F1-1101677E7808}"/>
                </a:ext>
              </a:extLst>
            </p:cNvPr>
            <p:cNvCxnSpPr>
              <a:cxnSpLocks/>
            </p:cNvCxnSpPr>
            <p:nvPr/>
          </p:nvCxnSpPr>
          <p:spPr>
            <a:xfrm>
              <a:off x="3879866" y="2036163"/>
              <a:ext cx="0" cy="3574491"/>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1A13D3D-4243-FDD5-D585-9653414E989C}"/>
                </a:ext>
              </a:extLst>
            </p:cNvPr>
            <p:cNvCxnSpPr>
              <a:cxnSpLocks/>
            </p:cNvCxnSpPr>
            <p:nvPr/>
          </p:nvCxnSpPr>
          <p:spPr>
            <a:xfrm>
              <a:off x="1928058" y="3811159"/>
              <a:ext cx="4372124" cy="0"/>
            </a:xfrm>
            <a:prstGeom prst="line">
              <a:avLst/>
            </a:prstGeom>
            <a:ln w="1270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85FD3D19-CF19-25B2-8F85-3144067585B3}"/>
                </a:ext>
              </a:extLst>
            </p:cNvPr>
            <p:cNvSpPr txBox="1"/>
            <p:nvPr/>
          </p:nvSpPr>
          <p:spPr>
            <a:xfrm>
              <a:off x="5049007" y="5200925"/>
              <a:ext cx="603446"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Stars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F89DAF52-C55F-0E3C-0003-655538251F87}"/>
                </a:ext>
              </a:extLst>
            </p:cNvPr>
            <p:cNvSpPr txBox="1"/>
            <p:nvPr/>
          </p:nvSpPr>
          <p:spPr>
            <a:xfrm>
              <a:off x="4820679" y="2110445"/>
              <a:ext cx="1233561"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Growth lever</a:t>
              </a:r>
            </a:p>
          </p:txBody>
        </p:sp>
        <p:sp>
          <p:nvSpPr>
            <p:cNvPr id="43" name="TextBox 42">
              <a:extLst>
                <a:ext uri="{FF2B5EF4-FFF2-40B4-BE49-F238E27FC236}">
                  <a16:creationId xmlns:a16="http://schemas.microsoft.com/office/drawing/2014/main" id="{D16C8D92-B215-8D1A-6DCE-958EBD5445C8}"/>
                </a:ext>
              </a:extLst>
            </p:cNvPr>
            <p:cNvSpPr txBox="1"/>
            <p:nvPr/>
          </p:nvSpPr>
          <p:spPr>
            <a:xfrm>
              <a:off x="2031054" y="5200925"/>
              <a:ext cx="966166"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Neutral</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86B21AE4-B495-BC05-2DFA-D030479D70A6}"/>
                </a:ext>
              </a:extLst>
            </p:cNvPr>
            <p:cNvSpPr txBox="1"/>
            <p:nvPr/>
          </p:nvSpPr>
          <p:spPr>
            <a:xfrm>
              <a:off x="2031054" y="2468332"/>
              <a:ext cx="987049"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Inefficient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grpSp>
      <p:sp>
        <p:nvSpPr>
          <p:cNvPr id="46" name="TextBox 45">
            <a:extLst>
              <a:ext uri="{FF2B5EF4-FFF2-40B4-BE49-F238E27FC236}">
                <a16:creationId xmlns:a16="http://schemas.microsoft.com/office/drawing/2014/main" id="{2B403318-51E1-E824-4071-08206202C3F7}"/>
              </a:ext>
            </a:extLst>
          </p:cNvPr>
          <p:cNvSpPr txBox="1"/>
          <p:nvPr/>
        </p:nvSpPr>
        <p:spPr>
          <a:xfrm>
            <a:off x="476787" y="1347902"/>
            <a:ext cx="5567135"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Dependency vs. Efficiency </a:t>
            </a:r>
            <a:r>
              <a:rPr lang="en-US" sz="1600" b="1" dirty="0">
                <a:latin typeface="Calibri" panose="020F0502020204030204" pitchFamily="34" charset="0"/>
                <a:ea typeface="Calibri" panose="020F0502020204030204" pitchFamily="34" charset="0"/>
                <a:cs typeface="Calibri" panose="020F0502020204030204" pitchFamily="34" charset="0"/>
              </a:rPr>
              <a:t>sizing by </a:t>
            </a:r>
            <a:r>
              <a:rPr lang="vi-VN" sz="1600" b="1" dirty="0">
                <a:latin typeface="Calibri" panose="020F0502020204030204" pitchFamily="34" charset="0"/>
                <a:ea typeface="Calibri" panose="020F0502020204030204" pitchFamily="34" charset="0"/>
                <a:cs typeface="Calibri" panose="020F0502020204030204" pitchFamily="34" charset="0"/>
              </a:rPr>
              <a:t>promo spending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35B3DA76-B9B3-22A7-52C1-1F1CDD19D5FE}"/>
              </a:ext>
            </a:extLst>
          </p:cNvPr>
          <p:cNvSpPr txBox="1"/>
          <p:nvPr/>
        </p:nvSpPr>
        <p:spPr>
          <a:xfrm>
            <a:off x="6965004" y="1787306"/>
            <a:ext cx="4737138" cy="338554"/>
          </a:xfrm>
          <a:prstGeom prst="rect">
            <a:avLst/>
          </a:prstGeom>
          <a:noFill/>
        </p:spPr>
        <p:txBody>
          <a:bodyPr wrap="square" l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Four-group brand segmentation and action plans:</a:t>
            </a:r>
          </a:p>
        </p:txBody>
      </p:sp>
      <p:graphicFrame>
        <p:nvGraphicFramePr>
          <p:cNvPr id="4" name="Table 3">
            <a:extLst>
              <a:ext uri="{FF2B5EF4-FFF2-40B4-BE49-F238E27FC236}">
                <a16:creationId xmlns:a16="http://schemas.microsoft.com/office/drawing/2014/main" id="{B35EC82C-EBC4-A009-2596-7DE451CFC198}"/>
              </a:ext>
            </a:extLst>
          </p:cNvPr>
          <p:cNvGraphicFramePr>
            <a:graphicFrameLocks noGrp="1"/>
          </p:cNvGraphicFramePr>
          <p:nvPr>
            <p:extLst>
              <p:ext uri="{D42A27DB-BD31-4B8C-83A1-F6EECF244321}">
                <p14:modId xmlns:p14="http://schemas.microsoft.com/office/powerpoint/2010/main" val="247248723"/>
              </p:ext>
            </p:extLst>
          </p:nvPr>
        </p:nvGraphicFramePr>
        <p:xfrm>
          <a:off x="6965005" y="2286621"/>
          <a:ext cx="4737139" cy="2782110"/>
        </p:xfrm>
        <a:graphic>
          <a:graphicData uri="http://schemas.openxmlformats.org/drawingml/2006/table">
            <a:tbl>
              <a:tblPr firstRow="1" bandRow="1">
                <a:tableStyleId>{5C22544A-7EE6-4342-B048-85BDC9FD1C3A}</a:tableStyleId>
              </a:tblPr>
              <a:tblGrid>
                <a:gridCol w="1370975">
                  <a:extLst>
                    <a:ext uri="{9D8B030D-6E8A-4147-A177-3AD203B41FA5}">
                      <a16:colId xmlns:a16="http://schemas.microsoft.com/office/drawing/2014/main" val="2557682111"/>
                    </a:ext>
                  </a:extLst>
                </a:gridCol>
                <a:gridCol w="1683082">
                  <a:extLst>
                    <a:ext uri="{9D8B030D-6E8A-4147-A177-3AD203B41FA5}">
                      <a16:colId xmlns:a16="http://schemas.microsoft.com/office/drawing/2014/main" val="2791585308"/>
                    </a:ext>
                  </a:extLst>
                </a:gridCol>
                <a:gridCol w="1683082">
                  <a:extLst>
                    <a:ext uri="{9D8B030D-6E8A-4147-A177-3AD203B41FA5}">
                      <a16:colId xmlns:a16="http://schemas.microsoft.com/office/drawing/2014/main" val="351659915"/>
                    </a:ext>
                  </a:extLst>
                </a:gridCol>
              </a:tblGrid>
              <a:tr h="556422">
                <a:tc>
                  <a:txBody>
                    <a:bodyPr/>
                    <a:lstStyle/>
                    <a:p>
                      <a:pPr marL="285750" indent="-285750">
                        <a:buFont typeface="Wingdings" panose="05000000000000000000" pitchFamily="2" charset="2"/>
                        <a:buChar char="ü"/>
                      </a:pP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Actions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Brand</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024193"/>
                  </a:ext>
                </a:extLst>
              </a:tr>
              <a:tr h="556422">
                <a:tc>
                  <a:txBody>
                    <a:bodyPr/>
                    <a:lstStyle/>
                    <a:p>
                      <a:pPr marL="0" indent="0">
                        <a:buFont typeface="Wingdings" panose="05000000000000000000" pitchFamily="2" charset="2"/>
                        <a:buNone/>
                      </a:pPr>
                      <a:r>
                        <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rPr>
                        <a:t>Inefficient</a:t>
                      </a: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rPr>
                        <a:t>Potential to cut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600" b="0" dirty="0">
                          <a:solidFill>
                            <a:schemeClr val="tx1"/>
                          </a:solidFill>
                          <a:latin typeface="Calibri" panose="020F0502020204030204" pitchFamily="34" charset="0"/>
                          <a:ea typeface="Calibri" panose="020F0502020204030204" pitchFamily="34" charset="0"/>
                          <a:cs typeface="Calibri" panose="020F0502020204030204" pitchFamily="34" charset="0"/>
                        </a:rPr>
                        <a:t>C, Z, D, F</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39290306"/>
                  </a:ext>
                </a:extLst>
              </a:tr>
              <a:tr h="556422">
                <a:tc>
                  <a:txBody>
                    <a:bodyPr/>
                    <a:lstStyle/>
                    <a:p>
                      <a:pPr marL="0" indent="0">
                        <a:buFont typeface="Wingdings" panose="05000000000000000000" pitchFamily="2" charset="2"/>
                        <a:buNone/>
                      </a:pPr>
                      <a:r>
                        <a:rPr lang="en-US" sz="1400" dirty="0">
                          <a:latin typeface="Calibri" panose="020F0502020204030204" pitchFamily="34" charset="0"/>
                          <a:ea typeface="Calibri" panose="020F0502020204030204" pitchFamily="34" charset="0"/>
                          <a:cs typeface="Calibri" panose="020F0502020204030204" pitchFamily="34" charset="0"/>
                        </a:rPr>
                        <a:t>Growth lever</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rPr>
                        <a:t>Optimize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6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10719274"/>
                  </a:ext>
                </a:extLst>
              </a:tr>
              <a:tr h="556422">
                <a:tc>
                  <a:txBody>
                    <a:bodyPr/>
                    <a:lstStyle/>
                    <a:p>
                      <a:pPr marL="0" indent="0">
                        <a:buFont typeface="Wingdings" panose="05000000000000000000" pitchFamily="2" charset="2"/>
                        <a:buNone/>
                      </a:pPr>
                      <a:r>
                        <a:rPr lang="en-US" sz="1400" dirty="0">
                          <a:latin typeface="Calibri" panose="020F0502020204030204" pitchFamily="34" charset="0"/>
                          <a:ea typeface="Calibri" panose="020F0502020204030204" pitchFamily="34" charset="0"/>
                          <a:cs typeface="Calibri" panose="020F0502020204030204" pitchFamily="34" charset="0"/>
                        </a:rPr>
                        <a:t>Neutral</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rPr>
                        <a:t>Selective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600" b="0" dirty="0">
                          <a:solidFill>
                            <a:schemeClr val="tx1"/>
                          </a:solidFill>
                          <a:latin typeface="Calibri" panose="020F0502020204030204" pitchFamily="34" charset="0"/>
                          <a:ea typeface="Calibri" panose="020F0502020204030204" pitchFamily="34" charset="0"/>
                          <a:cs typeface="Calibri" panose="020F0502020204030204" pitchFamily="34" charset="0"/>
                        </a:rPr>
                        <a:t>E, G</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64267932"/>
                  </a:ext>
                </a:extLst>
              </a:tr>
              <a:tr h="556422">
                <a:tc>
                  <a:txBody>
                    <a:bodyPr/>
                    <a:lstStyle/>
                    <a:p>
                      <a:pPr marL="0" indent="0">
                        <a:buFont typeface="Wingdings" panose="05000000000000000000" pitchFamily="2" charset="2"/>
                        <a:buNone/>
                      </a:pPr>
                      <a:r>
                        <a:rPr lang="en-US" sz="1400" dirty="0">
                          <a:latin typeface="Calibri" panose="020F0502020204030204" pitchFamily="34" charset="0"/>
                          <a:ea typeface="Calibri" panose="020F0502020204030204" pitchFamily="34" charset="0"/>
                          <a:cs typeface="Calibri" panose="020F0502020204030204" pitchFamily="34" charset="0"/>
                        </a:rPr>
                        <a:t>Stars</a:t>
                      </a:r>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rPr>
                        <a:t>Protect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r>
                        <a:rPr lang="en-US" sz="1600" b="0" dirty="0">
                          <a:solidFill>
                            <a:schemeClr val="tx1"/>
                          </a:solidFill>
                          <a:latin typeface="Calibri" panose="020F0502020204030204" pitchFamily="34" charset="0"/>
                          <a:ea typeface="Calibri" panose="020F0502020204030204" pitchFamily="34" charset="0"/>
                          <a:cs typeface="Calibri" panose="020F0502020204030204" pitchFamily="34" charset="0"/>
                        </a:rPr>
                        <a:t>Y, X, B</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340568"/>
                  </a:ext>
                </a:extLst>
              </a:tr>
            </a:tbl>
          </a:graphicData>
        </a:graphic>
      </p:graphicFrame>
    </p:spTree>
    <p:extLst>
      <p:ext uri="{BB962C8B-B14F-4D97-AF65-F5344CB8AC3E}">
        <p14:creationId xmlns:p14="http://schemas.microsoft.com/office/powerpoint/2010/main" val="4039994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57F99C-CC16-D380-6FBE-BDC53557AAF5}"/>
              </a:ext>
            </a:extLst>
          </p:cNvPr>
          <p:cNvSpPr>
            <a:spLocks noGrp="1"/>
          </p:cNvSpPr>
          <p:nvPr>
            <p:ph type="sldNum" sz="quarter" idx="12"/>
          </p:nvPr>
        </p:nvSpPr>
        <p:spPr/>
        <p:txBody>
          <a:bodyPr/>
          <a:lstStyle/>
          <a:p>
            <a:fld id="{558ED922-7EDD-473A-8362-50B58FFACA46}" type="slidenum">
              <a:rPr lang="en-US" smtClean="0"/>
              <a:pPr/>
              <a:t>18</a:t>
            </a:fld>
            <a:endParaRPr lang="en-US"/>
          </a:p>
        </p:txBody>
      </p:sp>
      <p:sp>
        <p:nvSpPr>
          <p:cNvPr id="3" name="Title 2">
            <a:extLst>
              <a:ext uri="{FF2B5EF4-FFF2-40B4-BE49-F238E27FC236}">
                <a16:creationId xmlns:a16="http://schemas.microsoft.com/office/drawing/2014/main" id="{4A69F94B-5A3A-F4C1-F033-A4405F3DC35A}"/>
              </a:ext>
            </a:extLst>
          </p:cNvPr>
          <p:cNvSpPr>
            <a:spLocks noGrp="1"/>
          </p:cNvSpPr>
          <p:nvPr>
            <p:ph type="title"/>
          </p:nvPr>
        </p:nvSpPr>
        <p:spPr/>
        <p:txBody>
          <a:bodyPr>
            <a:normAutofit fontScale="90000"/>
          </a:bodyPr>
          <a:lstStyle/>
          <a:p>
            <a:r>
              <a:rPr lang="en-US" dirty="0"/>
              <a:t>The second layer integrates Elasticity metrics into the performance score to prioritize brands for substantial promo scaling back</a:t>
            </a:r>
          </a:p>
        </p:txBody>
      </p:sp>
      <p:sp>
        <p:nvSpPr>
          <p:cNvPr id="4" name="TextBox 3">
            <a:extLst>
              <a:ext uri="{FF2B5EF4-FFF2-40B4-BE49-F238E27FC236}">
                <a16:creationId xmlns:a16="http://schemas.microsoft.com/office/drawing/2014/main" id="{65A71623-414B-CE7E-E284-DC2ADE04EDF3}"/>
              </a:ext>
            </a:extLst>
          </p:cNvPr>
          <p:cNvSpPr txBox="1"/>
          <p:nvPr/>
        </p:nvSpPr>
        <p:spPr>
          <a:xfrm>
            <a:off x="7742542" y="6252555"/>
            <a:ext cx="3514720" cy="253916"/>
          </a:xfrm>
          <a:prstGeom prst="rect">
            <a:avLst/>
          </a:prstGeom>
          <a:noFill/>
          <a:ln>
            <a:noFill/>
          </a:ln>
        </p:spPr>
        <p:txBody>
          <a:bodyPr wrap="square" lIns="0">
            <a:spAutoFit/>
          </a:bodyPr>
          <a:lstStyle/>
          <a:p>
            <a:r>
              <a:rPr lang="en-US" sz="1050" i="1" dirty="0">
                <a:solidFill>
                  <a:schemeClr val="bg2">
                    <a:lumMod val="50000"/>
                  </a:schemeClr>
                </a:solidFill>
              </a:rPr>
              <a:t>(*) Please refer to Appendix</a:t>
            </a:r>
          </a:p>
        </p:txBody>
      </p:sp>
      <p:sp>
        <p:nvSpPr>
          <p:cNvPr id="10" name="TextBox 9">
            <a:extLst>
              <a:ext uri="{FF2B5EF4-FFF2-40B4-BE49-F238E27FC236}">
                <a16:creationId xmlns:a16="http://schemas.microsoft.com/office/drawing/2014/main" id="{BFCCEFE7-AF9E-B233-0C50-090F2A30C0D7}"/>
              </a:ext>
            </a:extLst>
          </p:cNvPr>
          <p:cNvSpPr txBox="1"/>
          <p:nvPr/>
        </p:nvSpPr>
        <p:spPr>
          <a:xfrm>
            <a:off x="489857" y="1630077"/>
            <a:ext cx="2606439" cy="338554"/>
          </a:xfrm>
          <a:prstGeom prst="rect">
            <a:avLst/>
          </a:prstGeom>
          <a:noFill/>
        </p:spPr>
        <p:txBody>
          <a:bodyPr wrap="square" lIns="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Ranking score*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7750697-85A3-E035-5188-BBCC833C0FC3}"/>
              </a:ext>
            </a:extLst>
          </p:cNvPr>
          <p:cNvSpPr txBox="1"/>
          <p:nvPr/>
        </p:nvSpPr>
        <p:spPr>
          <a:xfrm>
            <a:off x="489857" y="5292888"/>
            <a:ext cx="11212285" cy="830997"/>
          </a:xfrm>
          <a:prstGeom prst="rect">
            <a:avLst/>
          </a:prstGeom>
          <a:noFill/>
        </p:spPr>
        <p:txBody>
          <a:bodyPr wrap="square" lIns="0" r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A consolidated assessment of Efficiency, Dependency, and Elasticity reveals the performance ranking of our brands. The ranking score evaluates the performance of each brand based on 3 factors: Efficiency, Dependency and Elasticity. The lower the score is, the more that brand is potential for promo reduction</a:t>
            </a:r>
          </a:p>
        </p:txBody>
      </p:sp>
      <p:grpSp>
        <p:nvGrpSpPr>
          <p:cNvPr id="15" name="Group 14">
            <a:extLst>
              <a:ext uri="{FF2B5EF4-FFF2-40B4-BE49-F238E27FC236}">
                <a16:creationId xmlns:a16="http://schemas.microsoft.com/office/drawing/2014/main" id="{0E558AC0-94DE-7798-5CED-87703C70856D}"/>
              </a:ext>
            </a:extLst>
          </p:cNvPr>
          <p:cNvGrpSpPr/>
          <p:nvPr/>
        </p:nvGrpSpPr>
        <p:grpSpPr>
          <a:xfrm>
            <a:off x="2382736" y="1925025"/>
            <a:ext cx="7426528" cy="3168273"/>
            <a:chOff x="2382736" y="1900922"/>
            <a:chExt cx="7426528" cy="3168273"/>
          </a:xfrm>
        </p:grpSpPr>
        <p:graphicFrame>
          <p:nvGraphicFramePr>
            <p:cNvPr id="9" name="Chart 8">
              <a:extLst>
                <a:ext uri="{FF2B5EF4-FFF2-40B4-BE49-F238E27FC236}">
                  <a16:creationId xmlns:a16="http://schemas.microsoft.com/office/drawing/2014/main" id="{88C0AFDF-7578-C67E-0A9F-E0566B33519B}"/>
                </a:ext>
              </a:extLst>
            </p:cNvPr>
            <p:cNvGraphicFramePr/>
            <p:nvPr>
              <p:extLst>
                <p:ext uri="{D42A27DB-BD31-4B8C-83A1-F6EECF244321}">
                  <p14:modId xmlns:p14="http://schemas.microsoft.com/office/powerpoint/2010/main" val="3269287811"/>
                </p:ext>
              </p:extLst>
            </p:nvPr>
          </p:nvGraphicFramePr>
          <p:xfrm>
            <a:off x="2382736" y="1900922"/>
            <a:ext cx="7426528" cy="2828499"/>
          </p:xfrm>
          <a:graphic>
            <a:graphicData uri="http://schemas.openxmlformats.org/drawingml/2006/chart">
              <c:chart xmlns:c="http://schemas.openxmlformats.org/drawingml/2006/chart" xmlns:r="http://schemas.openxmlformats.org/officeDocument/2006/relationships" r:id="rId2"/>
            </a:graphicData>
          </a:graphic>
        </p:graphicFrame>
        <p:grpSp>
          <p:nvGrpSpPr>
            <p:cNvPr id="14" name="Group 13">
              <a:extLst>
                <a:ext uri="{FF2B5EF4-FFF2-40B4-BE49-F238E27FC236}">
                  <a16:creationId xmlns:a16="http://schemas.microsoft.com/office/drawing/2014/main" id="{34B2997C-0ADD-E19A-EF77-831A9350BF25}"/>
                </a:ext>
              </a:extLst>
            </p:cNvPr>
            <p:cNvGrpSpPr/>
            <p:nvPr/>
          </p:nvGrpSpPr>
          <p:grpSpPr>
            <a:xfrm>
              <a:off x="2932042" y="4652582"/>
              <a:ext cx="6390861" cy="416613"/>
              <a:chOff x="2932042" y="4781789"/>
              <a:chExt cx="6390861" cy="416613"/>
            </a:xfrm>
          </p:grpSpPr>
          <p:sp>
            <p:nvSpPr>
              <p:cNvPr id="12" name="Arrow: Right 11">
                <a:extLst>
                  <a:ext uri="{FF2B5EF4-FFF2-40B4-BE49-F238E27FC236}">
                    <a16:creationId xmlns:a16="http://schemas.microsoft.com/office/drawing/2014/main" id="{5178F43D-68AF-60CA-E77E-07D12A963580}"/>
                  </a:ext>
                </a:extLst>
              </p:cNvPr>
              <p:cNvSpPr/>
              <p:nvPr/>
            </p:nvSpPr>
            <p:spPr>
              <a:xfrm>
                <a:off x="2932042" y="4781789"/>
                <a:ext cx="6390861" cy="416613"/>
              </a:xfrm>
              <a:prstGeom prst="rightArrow">
                <a:avLst/>
              </a:prstGeom>
              <a:gradFill flip="none" rotWithShape="1">
                <a:gsLst>
                  <a:gs pos="0">
                    <a:schemeClr val="tx1">
                      <a:lumMod val="85000"/>
                      <a:lumOff val="15000"/>
                    </a:schemeClr>
                  </a:gs>
                  <a:gs pos="100000">
                    <a:schemeClr val="tx1">
                      <a:lumMod val="75000"/>
                      <a:lumOff val="25000"/>
                      <a:alpha val="6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4D03335-5C4D-AF51-2863-E9C30EE27253}"/>
                  </a:ext>
                </a:extLst>
              </p:cNvPr>
              <p:cNvSpPr txBox="1"/>
              <p:nvPr/>
            </p:nvSpPr>
            <p:spPr>
              <a:xfrm>
                <a:off x="5279097" y="4831273"/>
                <a:ext cx="1633803" cy="307777"/>
              </a:xfrm>
              <a:prstGeom prst="rect">
                <a:avLst/>
              </a:prstGeom>
              <a:noFill/>
            </p:spPr>
            <p:txBody>
              <a:bodyPr wrap="square" lIns="0">
                <a:spAutoFit/>
              </a:bodyPr>
              <a:lstStyle/>
              <a:p>
                <a:pPr algn="ctr"/>
                <a:r>
                  <a:rPr lang="vi-VN" sz="1400" b="1" dirty="0">
                    <a:solidFill>
                      <a:schemeClr val="bg1"/>
                    </a:solidFill>
                    <a:latin typeface="Calibri" panose="020F0502020204030204" pitchFamily="34" charset="0"/>
                    <a:ea typeface="Calibri" panose="020F0502020204030204" pitchFamily="34" charset="0"/>
                    <a:cs typeface="Calibri" panose="020F0502020204030204" pitchFamily="34" charset="0"/>
                  </a:rPr>
                  <a:t>Cutting intensity</a:t>
                </a:r>
                <a:endPar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24384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DC32AF-AB1A-F7A0-321B-B5C5EB5203DA}"/>
              </a:ext>
            </a:extLst>
          </p:cNvPr>
          <p:cNvSpPr>
            <a:spLocks noGrp="1"/>
          </p:cNvSpPr>
          <p:nvPr>
            <p:ph type="sldNum" sz="quarter" idx="12"/>
          </p:nvPr>
        </p:nvSpPr>
        <p:spPr/>
        <p:txBody>
          <a:bodyPr/>
          <a:lstStyle/>
          <a:p>
            <a:fld id="{558ED922-7EDD-473A-8362-50B58FFACA46}" type="slidenum">
              <a:rPr lang="en-US" smtClean="0"/>
              <a:pPr/>
              <a:t>19</a:t>
            </a:fld>
            <a:endParaRPr lang="en-US"/>
          </a:p>
        </p:txBody>
      </p:sp>
      <p:sp>
        <p:nvSpPr>
          <p:cNvPr id="3" name="Title 2">
            <a:extLst>
              <a:ext uri="{FF2B5EF4-FFF2-40B4-BE49-F238E27FC236}">
                <a16:creationId xmlns:a16="http://schemas.microsoft.com/office/drawing/2014/main" id="{0199A5FF-B6E1-41D0-9D78-3C515A3D7F5A}"/>
              </a:ext>
            </a:extLst>
          </p:cNvPr>
          <p:cNvSpPr>
            <a:spLocks noGrp="1"/>
          </p:cNvSpPr>
          <p:nvPr>
            <p:ph type="title"/>
          </p:nvPr>
        </p:nvSpPr>
        <p:spPr/>
        <p:txBody>
          <a:bodyPr rIns="0">
            <a:normAutofit fontScale="90000"/>
          </a:bodyPr>
          <a:lstStyle/>
          <a:p>
            <a:r>
              <a:rPr lang="en-US" dirty="0"/>
              <a:t>The final layer filters cuts through a strategic lens. Budget reductions for Brands E, D, </a:t>
            </a:r>
            <a:r>
              <a:rPr lang="vi-VN" dirty="0"/>
              <a:t>X, Y</a:t>
            </a:r>
            <a:r>
              <a:rPr lang="en-US" dirty="0"/>
              <a:t> have been adjusted downward to protect their contribution to overall GMV growth.</a:t>
            </a:r>
          </a:p>
        </p:txBody>
      </p:sp>
      <p:sp>
        <p:nvSpPr>
          <p:cNvPr id="7" name="TextBox 6">
            <a:extLst>
              <a:ext uri="{FF2B5EF4-FFF2-40B4-BE49-F238E27FC236}">
                <a16:creationId xmlns:a16="http://schemas.microsoft.com/office/drawing/2014/main" id="{C9D01C5A-BB24-7CE5-599B-8F46436D5FA0}"/>
              </a:ext>
            </a:extLst>
          </p:cNvPr>
          <p:cNvSpPr txBox="1"/>
          <p:nvPr/>
        </p:nvSpPr>
        <p:spPr>
          <a:xfrm>
            <a:off x="489857" y="1630077"/>
            <a:ext cx="2606439" cy="338554"/>
          </a:xfrm>
          <a:prstGeom prst="rect">
            <a:avLst/>
          </a:prstGeom>
          <a:noFill/>
        </p:spPr>
        <p:txBody>
          <a:bodyPr wrap="square" lIns="0">
            <a:spAutoFit/>
          </a:bodyPr>
          <a:lstStyle/>
          <a:p>
            <a:r>
              <a:rPr lang="vi-VN" sz="1600" b="1" dirty="0">
                <a:latin typeface="Calibri" panose="020F0502020204030204" pitchFamily="34" charset="0"/>
                <a:ea typeface="Calibri" panose="020F0502020204030204" pitchFamily="34" charset="0"/>
                <a:cs typeface="Calibri" panose="020F0502020204030204" pitchFamily="34" charset="0"/>
              </a:rPr>
              <a:t>GMV by brand</a:t>
            </a:r>
            <a:r>
              <a:rPr lang="en-US" sz="1600" b="1" dirty="0">
                <a:latin typeface="Calibri" panose="020F0502020204030204" pitchFamily="34" charset="0"/>
                <a:ea typeface="Calibri" panose="020F0502020204030204" pitchFamily="34" charset="0"/>
                <a:cs typeface="Calibri" panose="020F0502020204030204" pitchFamily="34" charset="0"/>
              </a:rPr>
              <a:t>, </a:t>
            </a:r>
            <a:r>
              <a:rPr lang="vi-VN" sz="1600" dirty="0">
                <a:latin typeface="Calibri" panose="020F0502020204030204" pitchFamily="34" charset="0"/>
                <a:ea typeface="Calibri" panose="020F0502020204030204" pitchFamily="34" charset="0"/>
                <a:cs typeface="Calibri" panose="020F0502020204030204" pitchFamily="34" charset="0"/>
              </a:rPr>
              <a:t>mil USD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9" name="Chart 8">
            <a:extLst>
              <a:ext uri="{FF2B5EF4-FFF2-40B4-BE49-F238E27FC236}">
                <a16:creationId xmlns:a16="http://schemas.microsoft.com/office/drawing/2014/main" id="{2DE6101C-A406-4282-2FBC-FF57233F00A6}"/>
              </a:ext>
            </a:extLst>
          </p:cNvPr>
          <p:cNvGraphicFramePr/>
          <p:nvPr>
            <p:extLst>
              <p:ext uri="{D42A27DB-BD31-4B8C-83A1-F6EECF244321}">
                <p14:modId xmlns:p14="http://schemas.microsoft.com/office/powerpoint/2010/main" val="1146944404"/>
              </p:ext>
            </p:extLst>
          </p:nvPr>
        </p:nvGraphicFramePr>
        <p:xfrm>
          <a:off x="1793076" y="1974450"/>
          <a:ext cx="8683982" cy="3395218"/>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FCE1C95D-298F-F929-CA3F-2849B8576CCA}"/>
              </a:ext>
            </a:extLst>
          </p:cNvPr>
          <p:cNvSpPr txBox="1"/>
          <p:nvPr/>
        </p:nvSpPr>
        <p:spPr>
          <a:xfrm>
            <a:off x="3145065" y="2874240"/>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400" b="1" dirty="0">
                <a:solidFill>
                  <a:srgbClr val="00B050"/>
                </a:solidFill>
                <a:latin typeface="Calibri" panose="020F0502020204030204" pitchFamily="34" charset="0"/>
                <a:ea typeface="Calibri" panose="020F0502020204030204" pitchFamily="34" charset="0"/>
                <a:cs typeface="Calibri" panose="020F0502020204030204" pitchFamily="34" charset="0"/>
              </a:rPr>
              <a:t>84</a:t>
            </a: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06EC080-D539-175A-FF5E-2704EB9B3E5C}"/>
              </a:ext>
            </a:extLst>
          </p:cNvPr>
          <p:cNvSpPr txBox="1"/>
          <p:nvPr/>
        </p:nvSpPr>
        <p:spPr>
          <a:xfrm>
            <a:off x="2315683" y="2636708"/>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400" b="1" dirty="0">
                <a:solidFill>
                  <a:srgbClr val="00B050"/>
                </a:solidFill>
                <a:latin typeface="Calibri" panose="020F0502020204030204" pitchFamily="34" charset="0"/>
                <a:ea typeface="Calibri" panose="020F0502020204030204" pitchFamily="34" charset="0"/>
                <a:cs typeface="Calibri" panose="020F0502020204030204" pitchFamily="34" charset="0"/>
              </a:rPr>
              <a:t>18</a:t>
            </a: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4A1BAC2-7C86-3C33-331B-8945E5A86C66}"/>
              </a:ext>
            </a:extLst>
          </p:cNvPr>
          <p:cNvSpPr txBox="1"/>
          <p:nvPr/>
        </p:nvSpPr>
        <p:spPr>
          <a:xfrm>
            <a:off x="4988336" y="2991298"/>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400" b="1" dirty="0">
                <a:solidFill>
                  <a:srgbClr val="00B050"/>
                </a:solidFill>
                <a:latin typeface="Calibri" panose="020F0502020204030204" pitchFamily="34" charset="0"/>
                <a:ea typeface="Calibri" panose="020F0502020204030204" pitchFamily="34" charset="0"/>
                <a:cs typeface="Calibri" panose="020F0502020204030204" pitchFamily="34" charset="0"/>
              </a:rPr>
              <a:t>35</a:t>
            </a: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B5EE3F99-D5F6-4575-CDED-7BD569F62BE4}"/>
              </a:ext>
            </a:extLst>
          </p:cNvPr>
          <p:cNvSpPr txBox="1"/>
          <p:nvPr/>
        </p:nvSpPr>
        <p:spPr>
          <a:xfrm>
            <a:off x="489857" y="5446255"/>
            <a:ext cx="11212286" cy="338554"/>
          </a:xfrm>
          <a:prstGeom prst="rect">
            <a:avLst/>
          </a:prstGeom>
          <a:noFill/>
        </p:spPr>
        <p:txBody>
          <a:bodyPr wrap="square" lIns="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Brands E, D,</a:t>
            </a:r>
            <a:r>
              <a:rPr lang="vi-VN" sz="1600" dirty="0">
                <a:latin typeface="Calibri" panose="020F0502020204030204" pitchFamily="34" charset="0"/>
                <a:ea typeface="Calibri" panose="020F0502020204030204" pitchFamily="34" charset="0"/>
                <a:cs typeface="Calibri" panose="020F0502020204030204" pitchFamily="34" charset="0"/>
              </a:rPr>
              <a:t> X</a:t>
            </a:r>
            <a:r>
              <a:rPr lang="en-US" sz="1600" dirty="0">
                <a:latin typeface="Calibri" panose="020F0502020204030204" pitchFamily="34" charset="0"/>
                <a:ea typeface="Calibri" panose="020F0502020204030204" pitchFamily="34" charset="0"/>
                <a:cs typeface="Calibri" panose="020F0502020204030204" pitchFamily="34" charset="0"/>
              </a:rPr>
              <a:t> and </a:t>
            </a:r>
            <a:r>
              <a:rPr lang="vi-VN" sz="1600" dirty="0">
                <a:latin typeface="Calibri" panose="020F0502020204030204" pitchFamily="34" charset="0"/>
                <a:ea typeface="Calibri" panose="020F0502020204030204" pitchFamily="34" charset="0"/>
                <a:cs typeface="Calibri" panose="020F0502020204030204" pitchFamily="34" charset="0"/>
              </a:rPr>
              <a:t>Y</a:t>
            </a:r>
            <a:r>
              <a:rPr lang="en-US" sz="1600" dirty="0">
                <a:latin typeface="Calibri" panose="020F0502020204030204" pitchFamily="34" charset="0"/>
                <a:ea typeface="Calibri" panose="020F0502020204030204" pitchFamily="34" charset="0"/>
                <a:cs typeface="Calibri" panose="020F0502020204030204" pitchFamily="34" charset="0"/>
              </a:rPr>
              <a:t> play a the critical role in GMV expansion</a:t>
            </a:r>
          </a:p>
        </p:txBody>
      </p:sp>
      <p:sp>
        <p:nvSpPr>
          <p:cNvPr id="6" name="TextBox 5">
            <a:extLst>
              <a:ext uri="{FF2B5EF4-FFF2-40B4-BE49-F238E27FC236}">
                <a16:creationId xmlns:a16="http://schemas.microsoft.com/office/drawing/2014/main" id="{5AE75E7E-1C6B-80E6-9E31-8ADFEC9AB618}"/>
              </a:ext>
            </a:extLst>
          </p:cNvPr>
          <p:cNvSpPr txBox="1"/>
          <p:nvPr/>
        </p:nvSpPr>
        <p:spPr>
          <a:xfrm>
            <a:off x="6813894" y="3951094"/>
            <a:ext cx="829382" cy="307777"/>
          </a:xfrm>
          <a:prstGeom prst="rect">
            <a:avLst/>
          </a:prstGeom>
          <a:noFill/>
          <a:ln>
            <a:noFill/>
          </a:ln>
        </p:spPr>
        <p:txBody>
          <a:bodyPr wrap="square" lIns="0">
            <a:spAutoFit/>
          </a:bodyPr>
          <a:lstStyle/>
          <a:p>
            <a:pPr algn="ct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vi-VN" sz="1400" b="1" dirty="0">
                <a:solidFill>
                  <a:srgbClr val="00B050"/>
                </a:solidFill>
                <a:latin typeface="Calibri" panose="020F0502020204030204" pitchFamily="34" charset="0"/>
                <a:ea typeface="Calibri" panose="020F0502020204030204" pitchFamily="34" charset="0"/>
                <a:cs typeface="Calibri" panose="020F0502020204030204" pitchFamily="34" charset="0"/>
              </a:rPr>
              <a:t>112</a:t>
            </a:r>
            <a:r>
              <a:rPr lang="en-US" sz="1400" b="1" dirty="0">
                <a:solidFill>
                  <a:srgbClr val="00B050"/>
                </a:solidFill>
                <a:latin typeface="Calibri" panose="020F0502020204030204" pitchFamily="34" charset="0"/>
                <a:ea typeface="Calibri" panose="020F0502020204030204" pitchFamily="34" charset="0"/>
                <a:cs typeface="Calibri" panose="020F0502020204030204" pitchFamily="34" charset="0"/>
              </a:rPr>
              <a:t>%</a:t>
            </a:r>
            <a:endParaRPr lang="en-US" sz="14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2209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4763D5E-4262-8E62-9313-0BBD2DFC0786}"/>
              </a:ext>
            </a:extLst>
          </p:cNvPr>
          <p:cNvSpPr/>
          <p:nvPr/>
        </p:nvSpPr>
        <p:spPr>
          <a:xfrm>
            <a:off x="762192" y="613456"/>
            <a:ext cx="10591608" cy="5553267"/>
          </a:xfrm>
          <a:prstGeom prst="roundRect">
            <a:avLst>
              <a:gd name="adj" fmla="val 2069"/>
            </a:avLst>
          </a:prstGeom>
          <a:gradFill flip="none" rotWithShape="1">
            <a:gsLst>
              <a:gs pos="0">
                <a:schemeClr val="bg1">
                  <a:alpha val="12000"/>
                </a:schemeClr>
              </a:gs>
              <a:gs pos="56000">
                <a:schemeClr val="bg1">
                  <a:alpha val="0"/>
                </a:schemeClr>
              </a:gs>
              <a:gs pos="100000">
                <a:schemeClr val="bg1">
                  <a:alpha val="15000"/>
                </a:schemeClr>
              </a:gs>
            </a:gsLst>
            <a:path path="circle">
              <a:fillToRect l="50000" t="130000" r="50000" b="-30000"/>
            </a:path>
            <a:tileRect/>
          </a:gradFill>
          <a:ln w="1905">
            <a:solidFill>
              <a:schemeClr val="bg1">
                <a:lumMod val="8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FEB52176-D2DB-A87E-BBFC-D9C29586C722}"/>
              </a:ext>
            </a:extLst>
          </p:cNvPr>
          <p:cNvSpPr>
            <a:spLocks noGrp="1"/>
          </p:cNvSpPr>
          <p:nvPr>
            <p:ph type="sldNum" sz="quarter" idx="12"/>
          </p:nvPr>
        </p:nvSpPr>
        <p:spPr/>
        <p:txBody>
          <a:bodyPr/>
          <a:lstStyle/>
          <a:p>
            <a:fld id="{8DF2760E-766A-4A03-8C6B-76AE5EE90104}" type="slidenum">
              <a:rPr lang="en-US" smtClean="0"/>
              <a:pPr/>
              <a:t>20</a:t>
            </a:fld>
            <a:endParaRPr lang="en-US"/>
          </a:p>
        </p:txBody>
      </p:sp>
      <p:sp>
        <p:nvSpPr>
          <p:cNvPr id="3" name="Rectangle 2">
            <a:extLst>
              <a:ext uri="{FF2B5EF4-FFF2-40B4-BE49-F238E27FC236}">
                <a16:creationId xmlns:a16="http://schemas.microsoft.com/office/drawing/2014/main" id="{2B0848AB-53B7-B1C8-671D-783F8472EE5E}"/>
              </a:ext>
            </a:extLst>
          </p:cNvPr>
          <p:cNvSpPr/>
          <p:nvPr/>
        </p:nvSpPr>
        <p:spPr>
          <a:xfrm>
            <a:off x="1020064" y="792480"/>
            <a:ext cx="5898896" cy="6148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3600" b="1" dirty="0">
                <a:solidFill>
                  <a:schemeClr val="bg1"/>
                </a:solidFill>
                <a:latin typeface="Calibri" panose="020F0502020204030204" pitchFamily="34" charset="0"/>
                <a:ea typeface="Calibri" panose="020F0502020204030204" pitchFamily="34" charset="0"/>
                <a:cs typeface="Calibri" panose="020F0502020204030204" pitchFamily="34" charset="0"/>
              </a:rPr>
              <a:t>In </a:t>
            </a:r>
            <a:r>
              <a:rPr lang="en-US" sz="3600" b="1" dirty="0">
                <a:solidFill>
                  <a:schemeClr val="bg1"/>
                </a:solidFill>
                <a:latin typeface="Calibri" panose="020F0502020204030204" pitchFamily="34" charset="0"/>
                <a:ea typeface="Calibri" panose="020F0502020204030204" pitchFamily="34" charset="0"/>
                <a:cs typeface="Calibri" panose="020F0502020204030204" pitchFamily="34" charset="0"/>
              </a:rPr>
              <a:t>2025 - What to do next?</a:t>
            </a:r>
            <a:endPar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C7E17F67-23F3-37BF-04D0-F3E36DB7D98D}"/>
              </a:ext>
            </a:extLst>
          </p:cNvPr>
          <p:cNvGraphicFramePr>
            <a:graphicFrameLocks noGrp="1"/>
          </p:cNvGraphicFramePr>
          <p:nvPr>
            <p:extLst>
              <p:ext uri="{D42A27DB-BD31-4B8C-83A1-F6EECF244321}">
                <p14:modId xmlns:p14="http://schemas.microsoft.com/office/powerpoint/2010/main" val="3886076206"/>
              </p:ext>
            </p:extLst>
          </p:nvPr>
        </p:nvGraphicFramePr>
        <p:xfrm>
          <a:off x="1020064" y="1486042"/>
          <a:ext cx="9854184" cy="4343400"/>
        </p:xfrm>
        <a:graphic>
          <a:graphicData uri="http://schemas.openxmlformats.org/drawingml/2006/table">
            <a:tbl>
              <a:tblPr firstRow="1" bandRow="1">
                <a:tableStyleId>{5C22544A-7EE6-4342-B048-85BDC9FD1C3A}</a:tableStyleId>
              </a:tblPr>
              <a:tblGrid>
                <a:gridCol w="9854184">
                  <a:extLst>
                    <a:ext uri="{9D8B030D-6E8A-4147-A177-3AD203B41FA5}">
                      <a16:colId xmlns:a16="http://schemas.microsoft.com/office/drawing/2014/main" val="2345285251"/>
                    </a:ext>
                  </a:extLst>
                </a:gridCol>
              </a:tblGrid>
              <a:tr h="1920368">
                <a:tc>
                  <a:txBody>
                    <a:bodyPr/>
                    <a:lstStyle/>
                    <a:p>
                      <a:pPr>
                        <a:lnSpc>
                          <a:spcPct val="150000"/>
                        </a:lnSpc>
                      </a:pP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For Business Stakeholders:</a:t>
                      </a:r>
                      <a:endParaRPr lang="vi-VN"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Rebalance growth from volume-driven to value-driven by reducing over-reliance on promotions and improving overall promotion efficiency.</a:t>
                      </a: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Reallocate promotion budget toward high-performing and scalable brands, while selectively reducing investment in low-efficiency, high-dependency brands.</a:t>
                      </a: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Incorporate strategic importance in decision-making, protecting key partners and traffic-driving brands to sustain long-term growth and competitive positioning.</a:t>
                      </a:r>
                      <a:endPar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279595"/>
                  </a:ext>
                </a:extLst>
              </a:tr>
              <a:tr h="0">
                <a:tc>
                  <a:txBody>
                    <a:bodyPr/>
                    <a:lstStyle/>
                    <a:p>
                      <a:pPr>
                        <a:lnSpc>
                          <a:spcPct val="150000"/>
                        </a:lnSpc>
                      </a:pP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For Marketing Team:</a:t>
                      </a:r>
                      <a:endParaRPr lang="vi-VN" sz="1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Shift from mass promotions to targeted, performance-based campaigns, focusing on improving promotion quality rather than increasing volume.</a:t>
                      </a: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Reduce blanket discounting that drives orders but dilutes AOV, and explore tactics such as bundling, upselling, or personalized offers.</a:t>
                      </a:r>
                    </a:p>
                    <a:p>
                      <a:pPr marL="285750" indent="-285750">
                        <a:buFont typeface="Arial" panose="020B0604020202020204" pitchFamily="34" charset="0"/>
                        <a:buChar cha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Continuously monitor promotion efficiency and dependency at brand level, and adjust campaign intensity dynamically based on performance.</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5270765"/>
                  </a:ext>
                </a:extLst>
              </a:tr>
            </a:tbl>
          </a:graphicData>
        </a:graphic>
      </p:graphicFrame>
    </p:spTree>
    <p:extLst>
      <p:ext uri="{BB962C8B-B14F-4D97-AF65-F5344CB8AC3E}">
        <p14:creationId xmlns:p14="http://schemas.microsoft.com/office/powerpoint/2010/main" val="4134108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658835-23D3-F80E-5768-888615489037}"/>
              </a:ext>
            </a:extLst>
          </p:cNvPr>
          <p:cNvSpPr>
            <a:spLocks noGrp="1"/>
          </p:cNvSpPr>
          <p:nvPr>
            <p:ph type="sldNum" sz="quarter" idx="12"/>
          </p:nvPr>
        </p:nvSpPr>
        <p:spPr/>
        <p:txBody>
          <a:bodyPr/>
          <a:lstStyle/>
          <a:p>
            <a:fld id="{8DF2760E-766A-4A03-8C6B-76AE5EE90104}" type="slidenum">
              <a:rPr lang="en-US" smtClean="0"/>
              <a:pPr/>
              <a:t>21</a:t>
            </a:fld>
            <a:endParaRPr lang="en-US"/>
          </a:p>
        </p:txBody>
      </p:sp>
      <p:sp>
        <p:nvSpPr>
          <p:cNvPr id="4" name="Rectangle 3">
            <a:extLst>
              <a:ext uri="{FF2B5EF4-FFF2-40B4-BE49-F238E27FC236}">
                <a16:creationId xmlns:a16="http://schemas.microsoft.com/office/drawing/2014/main" id="{48086D5A-0B0C-7EDC-B483-7FBA1A52C6B4}"/>
              </a:ext>
            </a:extLst>
          </p:cNvPr>
          <p:cNvSpPr/>
          <p:nvPr/>
        </p:nvSpPr>
        <p:spPr>
          <a:xfrm>
            <a:off x="1020064" y="792480"/>
            <a:ext cx="5898896" cy="6148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3600" b="1" dirty="0">
                <a:solidFill>
                  <a:schemeClr val="bg1"/>
                </a:solidFill>
                <a:latin typeface="Calibri" panose="020F0502020204030204" pitchFamily="34" charset="0"/>
                <a:ea typeface="Calibri" panose="020F0502020204030204" pitchFamily="34" charset="0"/>
                <a:cs typeface="Calibri" panose="020F0502020204030204" pitchFamily="34" charset="0"/>
              </a:rPr>
              <a:t>In </a:t>
            </a:r>
            <a:r>
              <a:rPr lang="en-US" sz="3600" b="1" dirty="0">
                <a:solidFill>
                  <a:schemeClr val="bg1"/>
                </a:solidFill>
                <a:latin typeface="Calibri" panose="020F0502020204030204" pitchFamily="34" charset="0"/>
                <a:ea typeface="Calibri" panose="020F0502020204030204" pitchFamily="34" charset="0"/>
                <a:cs typeface="Calibri" panose="020F0502020204030204" pitchFamily="34" charset="0"/>
              </a:rPr>
              <a:t>2025 - What to do next?</a:t>
            </a:r>
            <a:endParaRPr lang="en-US" sz="3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C5A2FF68-33B8-7B24-1E64-D5B226C473C1}"/>
              </a:ext>
            </a:extLst>
          </p:cNvPr>
          <p:cNvSpPr/>
          <p:nvPr/>
        </p:nvSpPr>
        <p:spPr>
          <a:xfrm>
            <a:off x="762192" y="613456"/>
            <a:ext cx="10591608" cy="5553267"/>
          </a:xfrm>
          <a:prstGeom prst="roundRect">
            <a:avLst>
              <a:gd name="adj" fmla="val 2069"/>
            </a:avLst>
          </a:prstGeom>
          <a:gradFill flip="none" rotWithShape="1">
            <a:gsLst>
              <a:gs pos="0">
                <a:schemeClr val="bg1">
                  <a:alpha val="12000"/>
                </a:schemeClr>
              </a:gs>
              <a:gs pos="56000">
                <a:schemeClr val="bg1">
                  <a:alpha val="0"/>
                </a:schemeClr>
              </a:gs>
              <a:gs pos="100000">
                <a:schemeClr val="bg1">
                  <a:alpha val="15000"/>
                </a:schemeClr>
              </a:gs>
            </a:gsLst>
            <a:path path="circle">
              <a:fillToRect l="50000" t="130000" r="50000" b="-30000"/>
            </a:path>
            <a:tileRect/>
          </a:gradFill>
          <a:ln w="1905">
            <a:solidFill>
              <a:schemeClr val="bg1">
                <a:lumMod val="8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8A4B65FA-852A-0A1F-B378-DE0F99150404}"/>
              </a:ext>
            </a:extLst>
          </p:cNvPr>
          <p:cNvGraphicFramePr>
            <a:graphicFrameLocks noGrp="1"/>
          </p:cNvGraphicFramePr>
          <p:nvPr>
            <p:extLst>
              <p:ext uri="{D42A27DB-BD31-4B8C-83A1-F6EECF244321}">
                <p14:modId xmlns:p14="http://schemas.microsoft.com/office/powerpoint/2010/main" val="2222272019"/>
              </p:ext>
            </p:extLst>
          </p:nvPr>
        </p:nvGraphicFramePr>
        <p:xfrm>
          <a:off x="1020064" y="1486042"/>
          <a:ext cx="9854184" cy="2194560"/>
        </p:xfrm>
        <a:graphic>
          <a:graphicData uri="http://schemas.openxmlformats.org/drawingml/2006/table">
            <a:tbl>
              <a:tblPr firstRow="1" bandRow="1">
                <a:tableStyleId>{5C22544A-7EE6-4342-B048-85BDC9FD1C3A}</a:tableStyleId>
              </a:tblPr>
              <a:tblGrid>
                <a:gridCol w="9854184">
                  <a:extLst>
                    <a:ext uri="{9D8B030D-6E8A-4147-A177-3AD203B41FA5}">
                      <a16:colId xmlns:a16="http://schemas.microsoft.com/office/drawing/2014/main" val="2345285251"/>
                    </a:ext>
                  </a:extLst>
                </a:gridCol>
              </a:tblGrid>
              <a:tr h="192036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For Demand Planning Team:</a:t>
                      </a:r>
                      <a:endParaRPr lang="vi-VN"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Incorporate promotion elasticity into demand forecasting to better anticipate the impact of promotion changes on order volume.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Plan promotion cuts in a controlled and phased manner, especially for high-dependency brands, to avoid sudden demand shocks.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solidFill>
                            <a:schemeClr val="bg1"/>
                          </a:solidFill>
                          <a:latin typeface="Calibri" panose="020F0502020204030204" pitchFamily="34" charset="0"/>
                          <a:ea typeface="Calibri" panose="020F0502020204030204" pitchFamily="34" charset="0"/>
                          <a:cs typeface="Calibri" panose="020F0502020204030204" pitchFamily="34" charset="0"/>
                        </a:rPr>
                        <a:t>Collaborate with marketing to test and validate promotion strategies (e.g., A/B testing), ensuring that demand remains stable while improving efficiency.</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279595"/>
                  </a:ext>
                </a:extLst>
              </a:tr>
            </a:tbl>
          </a:graphicData>
        </a:graphic>
      </p:graphicFrame>
    </p:spTree>
    <p:extLst>
      <p:ext uri="{BB962C8B-B14F-4D97-AF65-F5344CB8AC3E}">
        <p14:creationId xmlns:p14="http://schemas.microsoft.com/office/powerpoint/2010/main" val="3166082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D074F4-8187-0554-6C23-6BE68A8A89AB}"/>
              </a:ext>
            </a:extLst>
          </p:cNvPr>
          <p:cNvSpPr>
            <a:spLocks noGrp="1"/>
          </p:cNvSpPr>
          <p:nvPr>
            <p:ph type="sldNum" sz="quarter" idx="12"/>
          </p:nvPr>
        </p:nvSpPr>
        <p:spPr/>
        <p:txBody>
          <a:bodyPr/>
          <a:lstStyle/>
          <a:p>
            <a:fld id="{558ED922-7EDD-473A-8362-50B58FFACA46}" type="slidenum">
              <a:rPr lang="en-US" smtClean="0"/>
              <a:pPr/>
              <a:t>22</a:t>
            </a:fld>
            <a:endParaRPr lang="en-US"/>
          </a:p>
        </p:txBody>
      </p:sp>
      <p:sp>
        <p:nvSpPr>
          <p:cNvPr id="3" name="Title 2">
            <a:extLst>
              <a:ext uri="{FF2B5EF4-FFF2-40B4-BE49-F238E27FC236}">
                <a16:creationId xmlns:a16="http://schemas.microsoft.com/office/drawing/2014/main" id="{A8AA6D75-E323-5592-A4B6-7AE3D1DCADC1}"/>
              </a:ext>
            </a:extLst>
          </p:cNvPr>
          <p:cNvSpPr>
            <a:spLocks noGrp="1"/>
          </p:cNvSpPr>
          <p:nvPr>
            <p:ph type="title"/>
          </p:nvPr>
        </p:nvSpPr>
        <p:spPr/>
        <p:txBody>
          <a:bodyPr>
            <a:normAutofit/>
          </a:bodyPr>
          <a:lstStyle/>
          <a:p>
            <a:r>
              <a:rPr lang="en-US" sz="3200" b="1" dirty="0"/>
              <a:t>Appendix</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E91A59-AD90-CF1C-813D-5AF74AB644C2}"/>
                  </a:ext>
                </a:extLst>
              </p:cNvPr>
              <p:cNvSpPr txBox="1"/>
              <p:nvPr/>
            </p:nvSpPr>
            <p:spPr>
              <a:xfrm>
                <a:off x="489857" y="1560964"/>
                <a:ext cx="7661922" cy="1463862"/>
              </a:xfrm>
              <a:prstGeom prst="rect">
                <a:avLst/>
              </a:prstGeom>
              <a:noFill/>
              <a:ln>
                <a:noFill/>
              </a:ln>
            </p:spPr>
            <p:txBody>
              <a:bodyPr wrap="square" lIns="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GMV decomposition equation:</a:t>
                </a:r>
              </a:p>
              <a:p>
                <a:pPr algn="ct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GMV</m:t>
                    </m:r>
                  </m:oMath>
                </a14:m>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Basket</m:t>
                    </m:r>
                    <m:r>
                      <a:rPr lang="en-US" sz="2000" b="0" i="0" smtClean="0">
                        <a:latin typeface="Cambria Math" panose="02040503050406030204" pitchFamily="18" charset="0"/>
                        <a:ea typeface="Calibri" panose="020F0502020204030204" pitchFamily="34" charset="0"/>
                        <a:cs typeface="Calibri" panose="020F0502020204030204" pitchFamily="34" charset="0"/>
                      </a:rPr>
                      <m:t> </m:t>
                    </m:r>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size</m:t>
                    </m:r>
                  </m:oMath>
                </a14:m>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m:rPr>
                        <m:sty m:val="p"/>
                      </m:rPr>
                      <a:rPr lang="en-US" sz="2000" dirty="0">
                        <a:latin typeface="Cambria Math" panose="02040503050406030204" pitchFamily="18" charset="0"/>
                        <a:ea typeface="Calibri" panose="020F0502020204030204" pitchFamily="34" charset="0"/>
                        <a:cs typeface="Calibri" panose="020F0502020204030204" pitchFamily="34" charset="0"/>
                      </a:rPr>
                      <m:t>Fee</m:t>
                    </m:r>
                    <m:r>
                      <m:rPr>
                        <m:sty m:val="p"/>
                      </m:rPr>
                      <a:rPr lang="en-US" sz="2000">
                        <a:latin typeface="Cambria Math" panose="02040503050406030204" pitchFamily="18" charset="0"/>
                        <a:ea typeface="Calibri" panose="020F0502020204030204" pitchFamily="34" charset="0"/>
                        <a:cs typeface="Calibri" panose="020F0502020204030204" pitchFamily="34" charset="0"/>
                      </a:rPr>
                      <m:t>s</m:t>
                    </m:r>
                    <m:r>
                      <a:rPr lang="en-US" sz="2000" i="1">
                        <a:latin typeface="Cambria Math" panose="02040503050406030204" pitchFamily="18" charset="0"/>
                        <a:ea typeface="Calibri" panose="020F0502020204030204" pitchFamily="34" charset="0"/>
                        <a:cs typeface="Calibri" panose="020F0502020204030204" pitchFamily="34" charset="0"/>
                      </a:rPr>
                      <m:t> =</m:t>
                    </m:r>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Orders</m:t>
                    </m:r>
                  </m:oMath>
                </a14:m>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000" b="0" i="0" smtClean="0">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Basket</m:t>
                        </m:r>
                        <m:r>
                          <a:rPr lang="en-US" sz="2000" b="0" i="0" smtClean="0">
                            <a:latin typeface="Cambria Math" panose="02040503050406030204" pitchFamily="18" charset="0"/>
                            <a:ea typeface="Calibri" panose="020F0502020204030204" pitchFamily="34" charset="0"/>
                            <a:cs typeface="Calibri" panose="020F0502020204030204" pitchFamily="34" charset="0"/>
                          </a:rPr>
                          <m:t> </m:t>
                        </m:r>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Size</m:t>
                        </m:r>
                      </m:num>
                      <m:den>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Orders</m:t>
                        </m:r>
                      </m:den>
                    </m:f>
                  </m:oMath>
                </a14:m>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dirty="0">
                    <a:ea typeface="Calibri" panose="020F0502020204030204" pitchFamily="34" charset="0"/>
                    <a:cs typeface="Calibri" panose="020F0502020204030204" pitchFamily="34" charset="0"/>
                  </a:rPr>
                  <a:t> </a:t>
                </a:r>
                <a14:m>
                  <m:oMath xmlns:m="http://schemas.openxmlformats.org/officeDocument/2006/math">
                    <m:r>
                      <m:rPr>
                        <m:sty m:val="p"/>
                      </m:rPr>
                      <a:rPr lang="en-US" sz="2000" dirty="0" smtClean="0">
                        <a:latin typeface="Cambria Math" panose="02040503050406030204" pitchFamily="18" charset="0"/>
                        <a:ea typeface="Calibri" panose="020F0502020204030204" pitchFamily="34" charset="0"/>
                        <a:cs typeface="Calibri" panose="020F0502020204030204" pitchFamily="34" charset="0"/>
                      </a:rPr>
                      <m:t>F</m:t>
                    </m:r>
                    <m:r>
                      <m:rPr>
                        <m:sty m:val="p"/>
                      </m:rPr>
                      <a:rPr lang="en-US" sz="2000" b="0" i="0" dirty="0" smtClean="0">
                        <a:latin typeface="Cambria Math" panose="02040503050406030204" pitchFamily="18" charset="0"/>
                        <a:ea typeface="Calibri" panose="020F0502020204030204" pitchFamily="34" charset="0"/>
                        <a:cs typeface="Calibri" panose="020F0502020204030204" pitchFamily="34" charset="0"/>
                      </a:rPr>
                      <m:t>ee</m:t>
                    </m:r>
                    <m:r>
                      <m:rPr>
                        <m:sty m:val="p"/>
                      </m:rPr>
                      <a:rPr lang="en-US" sz="2000">
                        <a:latin typeface="Cambria Math" panose="02040503050406030204" pitchFamily="18" charset="0"/>
                        <a:ea typeface="Calibri" panose="020F0502020204030204" pitchFamily="34" charset="0"/>
                        <a:cs typeface="Calibri" panose="020F0502020204030204" pitchFamily="34" charset="0"/>
                      </a:rPr>
                      <m:t>s</m:t>
                    </m:r>
                  </m:oMath>
                </a14:m>
                <a:endParaRPr lang="en-US" sz="2000" dirty="0">
                  <a:ea typeface="Calibri" panose="020F0502020204030204" pitchFamily="34" charset="0"/>
                  <a:cs typeface="Calibri" panose="020F0502020204030204" pitchFamily="34" charset="0"/>
                </a:endParaRPr>
              </a:p>
              <a:p>
                <a:pPr algn="ctr"/>
                <a:endParaRPr lang="en-US" sz="2000" dirty="0">
                  <a:ea typeface="Calibri" panose="020F0502020204030204" pitchFamily="34" charset="0"/>
                  <a:cs typeface="Calibri" panose="020F0502020204030204" pitchFamily="34" charset="0"/>
                </a:endParaRPr>
              </a:p>
              <a:p>
                <a:pPr algn="ctr"/>
                <a:r>
                  <a:rPr lang="en-US" sz="20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2000" i="1">
                        <a:latin typeface="Cambria Math" panose="02040503050406030204" pitchFamily="18" charset="0"/>
                        <a:ea typeface="Calibri" panose="020F0502020204030204" pitchFamily="34" charset="0"/>
                        <a:cs typeface="Calibri" panose="020F0502020204030204" pitchFamily="34" charset="0"/>
                      </a:rPr>
                      <m:t>= </m:t>
                    </m:r>
                    <m:r>
                      <m:rPr>
                        <m:sty m:val="p"/>
                      </m:rPr>
                      <a:rPr lang="en-US" sz="2000">
                        <a:latin typeface="Cambria Math" panose="02040503050406030204" pitchFamily="18" charset="0"/>
                        <a:ea typeface="Calibri" panose="020F0502020204030204" pitchFamily="34" charset="0"/>
                        <a:cs typeface="Calibri" panose="020F0502020204030204" pitchFamily="34" charset="0"/>
                      </a:rPr>
                      <m:t>Orders</m:t>
                    </m:r>
                  </m:oMath>
                </a14:m>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AOV</m:t>
                    </m:r>
                    <m:r>
                      <a:rPr lang="en-US" sz="2000" b="0" i="0" smtClean="0">
                        <a:latin typeface="Cambria Math" panose="02040503050406030204" pitchFamily="18" charset="0"/>
                        <a:ea typeface="Calibri" panose="020F0502020204030204" pitchFamily="34" charset="0"/>
                        <a:cs typeface="Calibri" panose="020F0502020204030204" pitchFamily="34" charset="0"/>
                      </a:rPr>
                      <m:t> </m:t>
                    </m:r>
                  </m:oMath>
                </a14:m>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ea typeface="Calibri" panose="020F0502020204030204" pitchFamily="34" charset="0"/>
                    <a:cs typeface="Calibri" panose="020F0502020204030204" pitchFamily="34" charset="0"/>
                  </a:rPr>
                  <a:t> </a:t>
                </a:r>
                <a14:m>
                  <m:oMath xmlns:m="http://schemas.openxmlformats.org/officeDocument/2006/math">
                    <m:r>
                      <m:rPr>
                        <m:sty m:val="p"/>
                      </m:rPr>
                      <a:rPr lang="en-US" sz="2000" dirty="0">
                        <a:latin typeface="Cambria Math" panose="02040503050406030204" pitchFamily="18" charset="0"/>
                        <a:ea typeface="Calibri" panose="020F0502020204030204" pitchFamily="34" charset="0"/>
                        <a:cs typeface="Calibri" panose="020F0502020204030204" pitchFamily="34" charset="0"/>
                      </a:rPr>
                      <m:t>Fee</m:t>
                    </m:r>
                    <m:r>
                      <m:rPr>
                        <m:sty m:val="p"/>
                      </m:rPr>
                      <a:rPr lang="en-US" sz="2000">
                        <a:latin typeface="Cambria Math" panose="02040503050406030204" pitchFamily="18" charset="0"/>
                        <a:ea typeface="Calibri" panose="020F0502020204030204" pitchFamily="34" charset="0"/>
                        <a:cs typeface="Calibri" panose="020F0502020204030204" pitchFamily="34" charset="0"/>
                      </a:rPr>
                      <m:t>s</m:t>
                    </m:r>
                  </m:oMath>
                </a14:m>
                <a:endParaRPr lang="en-US" sz="2000" dirty="0">
                  <a:ea typeface="Calibri" panose="020F0502020204030204" pitchFamily="34" charset="0"/>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0BE91A59-AD90-CF1C-813D-5AF74AB644C2}"/>
                  </a:ext>
                </a:extLst>
              </p:cNvPr>
              <p:cNvSpPr txBox="1">
                <a:spLocks noRot="1" noChangeAspect="1" noMove="1" noResize="1" noEditPoints="1" noAdjustHandles="1" noChangeArrowheads="1" noChangeShapeType="1" noTextEdit="1"/>
              </p:cNvSpPr>
              <p:nvPr/>
            </p:nvSpPr>
            <p:spPr>
              <a:xfrm>
                <a:off x="489857" y="1560964"/>
                <a:ext cx="7661922" cy="1463862"/>
              </a:xfrm>
              <a:prstGeom prst="rect">
                <a:avLst/>
              </a:prstGeom>
              <a:blipFill>
                <a:blip r:embed="rId3"/>
                <a:stretch>
                  <a:fillRect l="-1989" t="-2083" b="-6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F3D77FF-112D-6783-8157-39EC9EDE448A}"/>
                  </a:ext>
                </a:extLst>
              </p:cNvPr>
              <p:cNvSpPr txBox="1"/>
              <p:nvPr/>
            </p:nvSpPr>
            <p:spPr>
              <a:xfrm>
                <a:off x="489857" y="3269788"/>
                <a:ext cx="8333130" cy="887487"/>
              </a:xfrm>
              <a:prstGeom prst="rect">
                <a:avLst/>
              </a:prstGeom>
              <a:noFill/>
              <a:ln>
                <a:noFill/>
              </a:ln>
            </p:spPr>
            <p:txBody>
              <a:bodyPr wrap="square" lIns="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Brand ranking score equation:</a:t>
                </a:r>
              </a:p>
              <a:p>
                <a:pPr algn="ct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Score</m:t>
                    </m:r>
                  </m:oMath>
                </a14:m>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w</m:t>
                    </m:r>
                    <m:r>
                      <a:rPr lang="en-US" sz="2000" b="0" i="0" smtClean="0">
                        <a:latin typeface="Cambria Math" panose="02040503050406030204" pitchFamily="18" charset="0"/>
                        <a:ea typeface="Calibri" panose="020F0502020204030204" pitchFamily="34" charset="0"/>
                        <a:cs typeface="Calibri" panose="020F0502020204030204" pitchFamily="34" charset="0"/>
                      </a:rPr>
                      <m:t>1∗</m:t>
                    </m:r>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Efficiency</m:t>
                    </m:r>
                  </m:oMath>
                </a14:m>
                <a:r>
                  <a:rPr lang="en-US" sz="20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w</m:t>
                    </m:r>
                    <m:r>
                      <a:rPr lang="en-US" sz="2000" b="0" i="0" smtClean="0">
                        <a:latin typeface="Cambria Math" panose="02040503050406030204" pitchFamily="18" charset="0"/>
                        <a:ea typeface="Calibri" panose="020F0502020204030204" pitchFamily="34" charset="0"/>
                        <a:cs typeface="Calibri" panose="020F0502020204030204" pitchFamily="34" charset="0"/>
                      </a:rPr>
                      <m:t>2∗</m:t>
                    </m:r>
                    <m:d>
                      <m:d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US" sz="2000" b="0" i="0"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0" smtClean="0">
                                <a:latin typeface="Cambria Math" panose="02040503050406030204" pitchFamily="18" charset="0"/>
                                <a:ea typeface="Calibri" panose="020F0502020204030204" pitchFamily="34" charset="0"/>
                                <a:cs typeface="Calibri" panose="020F0502020204030204" pitchFamily="34" charset="0"/>
                              </a:rPr>
                              <m:t>1</m:t>
                            </m:r>
                          </m:num>
                          <m:den>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Dependency</m:t>
                            </m:r>
                          </m:den>
                        </m:f>
                      </m:e>
                    </m:d>
                    <m:r>
                      <a:rPr lang="en-US" sz="2000" b="0" i="0"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w</m:t>
                    </m:r>
                    <m:r>
                      <a:rPr lang="en-US" sz="2000" b="0" i="0" smtClean="0">
                        <a:latin typeface="Cambria Math" panose="02040503050406030204" pitchFamily="18" charset="0"/>
                        <a:ea typeface="Calibri" panose="020F0502020204030204" pitchFamily="34" charset="0"/>
                        <a:cs typeface="Calibri" panose="020F0502020204030204" pitchFamily="34" charset="0"/>
                      </a:rPr>
                      <m:t>3∗(</m:t>
                    </m:r>
                    <m:f>
                      <m:fPr>
                        <m:ctrlPr>
                          <a:rPr lang="en-US" sz="2000" i="0">
                            <a:latin typeface="Cambria Math" panose="02040503050406030204" pitchFamily="18" charset="0"/>
                            <a:ea typeface="Calibri" panose="020F0502020204030204" pitchFamily="34" charset="0"/>
                            <a:cs typeface="Calibri" panose="020F0502020204030204" pitchFamily="34" charset="0"/>
                          </a:rPr>
                        </m:ctrlPr>
                      </m:fPr>
                      <m:num>
                        <m:r>
                          <a:rPr lang="en-US" sz="2000" i="0">
                            <a:latin typeface="Cambria Math" panose="02040503050406030204" pitchFamily="18" charset="0"/>
                            <a:ea typeface="Calibri" panose="020F0502020204030204" pitchFamily="34" charset="0"/>
                            <a:cs typeface="Calibri" panose="020F0502020204030204" pitchFamily="34" charset="0"/>
                          </a:rPr>
                          <m:t>1</m:t>
                        </m:r>
                      </m:num>
                      <m:den>
                        <m:r>
                          <m:rPr>
                            <m:sty m:val="p"/>
                          </m:rPr>
                          <a:rPr lang="en-US" sz="2000" b="0" i="0" smtClean="0">
                            <a:latin typeface="Cambria Math" panose="02040503050406030204" pitchFamily="18" charset="0"/>
                            <a:ea typeface="Calibri" panose="020F0502020204030204" pitchFamily="34" charset="0"/>
                            <a:cs typeface="Calibri" panose="020F0502020204030204" pitchFamily="34" charset="0"/>
                          </a:rPr>
                          <m:t>Elasticity</m:t>
                        </m:r>
                      </m:den>
                    </m:f>
                    <m:r>
                      <a:rPr lang="en-US" sz="20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US" sz="2000" dirty="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4F3D77FF-112D-6783-8157-39EC9EDE448A}"/>
                  </a:ext>
                </a:extLst>
              </p:cNvPr>
              <p:cNvSpPr txBox="1">
                <a:spLocks noRot="1" noChangeAspect="1" noMove="1" noResize="1" noEditPoints="1" noAdjustHandles="1" noChangeArrowheads="1" noChangeShapeType="1" noTextEdit="1"/>
              </p:cNvSpPr>
              <p:nvPr/>
            </p:nvSpPr>
            <p:spPr>
              <a:xfrm>
                <a:off x="489857" y="3269788"/>
                <a:ext cx="8333130" cy="887487"/>
              </a:xfrm>
              <a:prstGeom prst="rect">
                <a:avLst/>
              </a:prstGeom>
              <a:blipFill>
                <a:blip r:embed="rId4"/>
                <a:stretch>
                  <a:fillRect l="-1829" t="-3425"/>
                </a:stretch>
              </a:blipFill>
              <a:ln>
                <a:noFill/>
              </a:ln>
            </p:spPr>
            <p:txBody>
              <a:bodyPr/>
              <a:lstStyle/>
              <a:p>
                <a:r>
                  <a:rPr lang="en-US">
                    <a:noFill/>
                  </a:rPr>
                  <a:t> </a:t>
                </a:r>
              </a:p>
            </p:txBody>
          </p:sp>
        </mc:Fallback>
      </mc:AlternateContent>
      <p:graphicFrame>
        <p:nvGraphicFramePr>
          <p:cNvPr id="10" name="Object 9">
            <a:extLst>
              <a:ext uri="{FF2B5EF4-FFF2-40B4-BE49-F238E27FC236}">
                <a16:creationId xmlns:a16="http://schemas.microsoft.com/office/drawing/2014/main" id="{6EB4A405-A3BE-FE8A-0C06-745914B40F1E}"/>
              </a:ext>
            </a:extLst>
          </p:cNvPr>
          <p:cNvGraphicFramePr>
            <a:graphicFrameLocks noChangeAspect="1"/>
          </p:cNvGraphicFramePr>
          <p:nvPr>
            <p:extLst>
              <p:ext uri="{D42A27DB-BD31-4B8C-83A1-F6EECF244321}">
                <p14:modId xmlns:p14="http://schemas.microsoft.com/office/powerpoint/2010/main" val="2601700887"/>
              </p:ext>
            </p:extLst>
          </p:nvPr>
        </p:nvGraphicFramePr>
        <p:xfrm>
          <a:off x="4082375" y="5090804"/>
          <a:ext cx="914400" cy="792163"/>
        </p:xfrm>
        <a:graphic>
          <a:graphicData uri="http://schemas.openxmlformats.org/presentationml/2006/ole">
            <mc:AlternateContent xmlns:mc="http://schemas.openxmlformats.org/markup-compatibility/2006">
              <mc:Choice xmlns:v="urn:schemas-microsoft-com:vml" Requires="v">
                <p:oleObj name="Worksheet" showAsIcon="1" r:id="rId5" imgW="914400" imgH="792417" progId="Excel.Sheet.12">
                  <p:embed/>
                </p:oleObj>
              </mc:Choice>
              <mc:Fallback>
                <p:oleObj name="Worksheet" showAsIcon="1" r:id="rId5" imgW="914400" imgH="792417" progId="Excel.Sheet.12">
                  <p:embed/>
                  <p:pic>
                    <p:nvPicPr>
                      <p:cNvPr id="16" name="Object 15">
                        <a:extLst>
                          <a:ext uri="{FF2B5EF4-FFF2-40B4-BE49-F238E27FC236}">
                            <a16:creationId xmlns:a16="http://schemas.microsoft.com/office/drawing/2014/main" id="{6EB4A405-A3BE-FE8A-0C06-745914B40F1E}"/>
                          </a:ext>
                        </a:extLst>
                      </p:cNvPr>
                      <p:cNvPicPr/>
                      <p:nvPr/>
                    </p:nvPicPr>
                    <p:blipFill>
                      <a:blip r:embed="rId6"/>
                      <a:stretch>
                        <a:fillRect/>
                      </a:stretch>
                    </p:blipFill>
                    <p:spPr>
                      <a:xfrm>
                        <a:off x="4082375" y="5090804"/>
                        <a:ext cx="914400" cy="792163"/>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6DF5F8D3-444B-FE66-CD0D-3716B1725F86}"/>
              </a:ext>
            </a:extLst>
          </p:cNvPr>
          <p:cNvSpPr txBox="1"/>
          <p:nvPr/>
        </p:nvSpPr>
        <p:spPr>
          <a:xfrm>
            <a:off x="489857" y="4735106"/>
            <a:ext cx="8333130" cy="400110"/>
          </a:xfrm>
          <a:prstGeom prst="rect">
            <a:avLst/>
          </a:prstGeom>
          <a:noFill/>
          <a:ln>
            <a:noFill/>
          </a:ln>
        </p:spPr>
        <p:txBody>
          <a:bodyPr wrap="square" lIns="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Brand ranking score calculations: </a:t>
            </a:r>
            <a:endParaRPr lang="en-US" sz="2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500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D6699A-464C-25D8-CB82-CEFD3EFBE0B2}"/>
              </a:ext>
            </a:extLst>
          </p:cNvPr>
          <p:cNvSpPr>
            <a:spLocks noGrp="1"/>
          </p:cNvSpPr>
          <p:nvPr>
            <p:ph type="sldNum" sz="quarter" idx="12"/>
          </p:nvPr>
        </p:nvSpPr>
        <p:spPr/>
        <p:txBody>
          <a:bodyPr/>
          <a:lstStyle/>
          <a:p>
            <a:fld id="{8DF2760E-766A-4A03-8C6B-76AE5EE90104}" type="slidenum">
              <a:rPr lang="en-US" smtClean="0"/>
              <a:pPr/>
              <a:t>23</a:t>
            </a:fld>
            <a:endParaRPr lang="en-US"/>
          </a:p>
        </p:txBody>
      </p:sp>
      <p:pic>
        <p:nvPicPr>
          <p:cNvPr id="5" name="Picture 4">
            <a:extLst>
              <a:ext uri="{FF2B5EF4-FFF2-40B4-BE49-F238E27FC236}">
                <a16:creationId xmlns:a16="http://schemas.microsoft.com/office/drawing/2014/main" id="{A067E2BD-2421-F2E5-6503-9D967A83210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1113182" y="1206230"/>
            <a:ext cx="7980018" cy="4359683"/>
          </a:xfrm>
          <a:prstGeom prst="rect">
            <a:avLst/>
          </a:prstGeom>
          <a:effectLst>
            <a:outerShdw dist="50800" dir="5400000" algn="ctr" rotWithShape="0">
              <a:srgbClr val="000000">
                <a:alpha val="43137"/>
              </a:srgbClr>
            </a:outerShdw>
          </a:effectLst>
        </p:spPr>
      </p:pic>
      <p:sp>
        <p:nvSpPr>
          <p:cNvPr id="7" name="Rectangle 6">
            <a:extLst>
              <a:ext uri="{FF2B5EF4-FFF2-40B4-BE49-F238E27FC236}">
                <a16:creationId xmlns:a16="http://schemas.microsoft.com/office/drawing/2014/main" id="{96B3E888-5434-DF28-C4C5-120800EAF135}"/>
              </a:ext>
            </a:extLst>
          </p:cNvPr>
          <p:cNvSpPr/>
          <p:nvPr/>
        </p:nvSpPr>
        <p:spPr>
          <a:xfrm>
            <a:off x="1113182" y="1206228"/>
            <a:ext cx="7980018" cy="4359683"/>
          </a:xfrm>
          <a:prstGeom prst="rect">
            <a:avLst/>
          </a:prstGeom>
          <a:gradFill flip="none" rotWithShape="1">
            <a:gsLst>
              <a:gs pos="58000">
                <a:srgbClr val="000000">
                  <a:alpha val="42000"/>
                </a:srgbClr>
              </a:gs>
              <a:gs pos="0">
                <a:schemeClr val="tx1">
                  <a:alpha val="64000"/>
                </a:schemeClr>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427ADCDA-F3CB-9B18-C671-D673EA96C4BD}"/>
              </a:ext>
            </a:extLst>
          </p:cNvPr>
          <p:cNvSpPr/>
          <p:nvPr/>
        </p:nvSpPr>
        <p:spPr>
          <a:xfrm>
            <a:off x="1113181" y="1206229"/>
            <a:ext cx="7980017" cy="4359683"/>
          </a:xfrm>
          <a:prstGeom prst="roundRect">
            <a:avLst>
              <a:gd name="adj" fmla="val 2403"/>
            </a:avLst>
          </a:prstGeom>
          <a:gradFill flip="none" rotWithShape="1">
            <a:gsLst>
              <a:gs pos="0">
                <a:schemeClr val="bg1">
                  <a:alpha val="14000"/>
                </a:schemeClr>
              </a:gs>
              <a:gs pos="56000">
                <a:schemeClr val="bg1">
                  <a:alpha val="0"/>
                </a:schemeClr>
              </a:gs>
              <a:gs pos="100000">
                <a:schemeClr val="bg1">
                  <a:alpha val="9000"/>
                </a:schemeClr>
              </a:gs>
            </a:gsLst>
            <a:path path="circle">
              <a:fillToRect l="50000" t="130000" r="50000" b="-30000"/>
            </a:path>
            <a:tileRect/>
          </a:gradFill>
          <a:ln w="1905">
            <a:gradFill>
              <a:gsLst>
                <a:gs pos="0">
                  <a:schemeClr val="bg1">
                    <a:alpha val="50000"/>
                  </a:schemeClr>
                </a:gs>
                <a:gs pos="44000">
                  <a:schemeClr val="bg1">
                    <a:alpha val="0"/>
                  </a:schemeClr>
                </a:gs>
                <a:gs pos="100000">
                  <a:schemeClr val="bg1">
                    <a:alpha val="46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460E3BE-B955-A472-6E6A-8AC715E776D0}"/>
              </a:ext>
            </a:extLst>
          </p:cNvPr>
          <p:cNvSpPr>
            <a:spLocks noGrp="1"/>
          </p:cNvSpPr>
          <p:nvPr>
            <p:ph type="subTitle" idx="1"/>
          </p:nvPr>
        </p:nvSpPr>
        <p:spPr>
          <a:xfrm>
            <a:off x="1481559" y="1760705"/>
            <a:ext cx="8314194" cy="3122579"/>
          </a:xfrm>
        </p:spPr>
        <p:txBody>
          <a:bodyPr>
            <a:normAutofit fontScale="92500" lnSpcReduction="20000"/>
          </a:bodyPr>
          <a:lstStyle/>
          <a:p>
            <a:pPr algn="l"/>
            <a:r>
              <a:rPr lang="en-US" sz="7100" b="1" dirty="0"/>
              <a:t>Thank you</a:t>
            </a:r>
          </a:p>
          <a:p>
            <a:pPr algn="l"/>
            <a:endParaRPr lang="en-US" sz="7100" dirty="0"/>
          </a:p>
          <a:p>
            <a:pPr algn="l"/>
            <a:endParaRPr lang="en-US" sz="7100" dirty="0"/>
          </a:p>
          <a:p>
            <a:pPr algn="l"/>
            <a:r>
              <a:rPr lang="en-US" dirty="0"/>
              <a:t>Contact me at myhao14159@gmail.com for more d</a:t>
            </a:r>
            <a:r>
              <a:rPr lang="vi-VN" dirty="0"/>
              <a:t>iscussions!</a:t>
            </a:r>
            <a:endParaRPr lang="en-US" dirty="0"/>
          </a:p>
        </p:txBody>
      </p:sp>
    </p:spTree>
    <p:extLst>
      <p:ext uri="{BB962C8B-B14F-4D97-AF65-F5344CB8AC3E}">
        <p14:creationId xmlns:p14="http://schemas.microsoft.com/office/powerpoint/2010/main" val="32978608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sz="1600" dirty="0" smtClean="0">
            <a:solidFill>
              <a:schemeClr val="tx1"/>
            </a:solidFill>
            <a:latin typeface="Calibri" panose="020F0502020204030204" pitchFamily="34" charset="0"/>
            <a:ea typeface="Calibri" panose="020F0502020204030204" pitchFamily="34" charset="0"/>
            <a:cs typeface="Calibri" panose="020F050202020403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57834</TotalTime>
  <Words>2108</Words>
  <Application>Microsoft Office PowerPoint</Application>
  <PresentationFormat>Widescreen</PresentationFormat>
  <Paragraphs>271</Paragraphs>
  <Slides>23</Slides>
  <Notes>0</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2" baseType="lpstr">
      <vt:lpstr>Aptos</vt:lpstr>
      <vt:lpstr>Aptos Display</vt:lpstr>
      <vt:lpstr>Arial</vt:lpstr>
      <vt:lpstr>Calibri</vt:lpstr>
      <vt:lpstr>Cambria Math</vt:lpstr>
      <vt:lpstr>Grab Community Solid</vt:lpstr>
      <vt:lpstr>Wingdings</vt:lpstr>
      <vt:lpstr>Office Theme</vt:lpstr>
      <vt:lpstr>Worksheet</vt:lpstr>
      <vt:lpstr>PowerPoint Presentation</vt:lpstr>
      <vt:lpstr>PowerPoint Presentation</vt:lpstr>
      <vt:lpstr>PowerPoint Presentation</vt:lpstr>
      <vt:lpstr>PowerPoint Presentation</vt:lpstr>
      <vt:lpstr>Aligning with the positive trend of Vietnam market, our Fast Food segment demonstrated an overall strong performance and a noticable skewness to top performers (E, D, F, X) in 2024 </vt:lpstr>
      <vt:lpstr>GMV growth is almost entirely volume-driven, with declining order value partially offsetting gains</vt:lpstr>
      <vt:lpstr>The overall orders is growing and heavily dictated by the performance of key players. This suggests the dependency of sources of growth to the top-tier brands, but also the lack of diversity across the porfollio. </vt:lpstr>
      <vt:lpstr>The volume surge is not just a result of physical expansion but also reflects a genuine increase in consumer demand and store productivity</vt:lpstr>
      <vt:lpstr>Orders growth among leading brands is primarily driven by outlet expansion</vt:lpstr>
      <vt:lpstr>Our growth in Orders is driven by expanding our reach to more customers rather than relying on deeper, unsustainable discounts</vt:lpstr>
      <vt:lpstr>Promotional investment has effectively driven orders for leading brands while maintaining a stable cost-per-order. This demonstrates a highly efficient scaling model without eroding unit margins. However, Brand Y is high reliance on subsidies with diminishing returns on volume</vt:lpstr>
      <vt:lpstr>Fees’ source of growth is from Orders scaling. This also suggests the current monetization model demonstrates high resilience and steady performance.</vt:lpstr>
      <vt:lpstr>Fees increases are driven by rising order volumes across the portfolio. Also, our monetization model’s effectiveness is consistent for all brands</vt:lpstr>
      <vt:lpstr>The market has historically been driven by low-cost brands in terms of GMV. In 2024, the accelerated growth within this segment further amplified this trend, effectively diluting the overall AOV and reflecting a stronger shift toward mass-market consumption</vt:lpstr>
      <vt:lpstr>Proposed plan for cutting promotions spending in 2025:</vt:lpstr>
      <vt:lpstr>A robust promotion optimization strategy should be grounded in the following criteria, which constitute a three-layer evaluation framework</vt:lpstr>
      <vt:lpstr>Based on the initial evaluation layer, Brands C, Z, D, and F emerge as the primary candidates for promotional reductions</vt:lpstr>
      <vt:lpstr>The second layer integrates Elasticity metrics into the performance score to prioritize brands for substantial promo scaling back</vt:lpstr>
      <vt:lpstr>The final layer filters cuts through a strategic lens. Budget reductions for Brands E, D, X, Y have been adjusted downward to protect their contribution to overall GMV growth.</vt:lpstr>
      <vt:lpstr>PowerPoint Presentation</vt:lpstr>
      <vt:lpstr>PowerPoint Presentation</vt:lpstr>
      <vt:lpstr>Appendix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 Tran</dc:creator>
  <cp:lastModifiedBy>Hao Tran</cp:lastModifiedBy>
  <cp:revision>176</cp:revision>
  <dcterms:created xsi:type="dcterms:W3CDTF">2024-10-02T09:30:38Z</dcterms:created>
  <dcterms:modified xsi:type="dcterms:W3CDTF">2026-10-29T08:28:41Z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2024-10-02T10:28:26Z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98bbc880-065f-496a-88ce-2d85f9fab45e</vt:lpwstr>
  </property>
  <property fmtid="{D5CDD505-2E9C-101B-9397-08002B2CF9AE}" pid="8" name="MSIP_Label_3741da7a-79c1-417c-b408-16c0bfe99fca_ContentBits">
    <vt:lpwstr>0</vt:lpwstr>
  </property>
</Properties>
</file>